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7D7D"/>
                </a:solidFill>
              </a:defRPr>
            </a:pPr>
            <a:r>
              <a:t>EGYPTIAN BACCALAUREATE • YEAR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88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CE4EB"/>
                </a:solidFill>
              </a:defRPr>
            </a:pPr>
            <a:r>
              <a:t>Chapter 2 teaching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D0"/>
                </a:solidFill>
              </a:defRPr>
            </a:pPr>
            <a:r>
              <a:t>Simple explanations • real-life examples • book-style questions • exam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Based on Programming and Artificial Intelligence • Part One • Chapter 2, pp. 33–54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TEACHER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How to use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Teach → discuss → practise →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33832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1 •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Start with the simple idea. Connect security concepts to phones, websites, Wi‑Fi and school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28800"/>
            <a:ext cx="34747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828800"/>
            <a:ext cx="64008" cy="33832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 • Discuss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50592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Use “Pause &amp; Think” and the scenarios. Ask students to explain WHY, not only name a term.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828800"/>
            <a:ext cx="34747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64008" cy="33832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5" y="1938528"/>
            <a:ext cx="3154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3 • Practise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2450592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Show the same styles used in the book: MCQ • True/False • matching • short answer • 6-mark.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CHAPTER 2 •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Chapter 2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Three lessons, one central idea: security comes from layers and good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36576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36576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2-1 • Cryptography &amp;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81528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HTTPS</a:t>
            </a:r>
            <a:br/>
            <a:r>
              <a:t>Common-key cryptography</a:t>
            </a:r>
            <a:br/>
            <a:r>
              <a:t>Public-key cryptography</a:t>
            </a:r>
            <a:br/>
            <a:r>
              <a:t>TLS handshake</a:t>
            </a:r>
            <a:br/>
            <a:r>
              <a:t>MFA</a:t>
            </a:r>
            <a:br/>
            <a:r>
              <a:t>Digital signatures</a:t>
            </a:r>
            <a:br/>
            <a:r>
              <a:t>Digital certificates</a:t>
            </a:r>
            <a:br/>
            <a:r>
              <a:t>Non-repudiation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828800"/>
            <a:ext cx="3429000" cy="36576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828800"/>
            <a:ext cx="64008" cy="36576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2-2 • Network Security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50592"/>
            <a:ext cx="3081528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Firewall</a:t>
            </a:r>
            <a:br/>
            <a:r>
              <a:t>VPN</a:t>
            </a:r>
            <a:br/>
            <a:r>
              <a:t>DMZ</a:t>
            </a:r>
            <a:br/>
            <a:r>
              <a:t>Defense in depth</a:t>
            </a:r>
            <a:br/>
            <a:r>
              <a:t>Endpoint protection</a:t>
            </a:r>
            <a:br/>
            <a:r>
              <a:t>Zero trust</a:t>
            </a:r>
            <a:br/>
            <a:r>
              <a:t>Perimeter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828800"/>
            <a:ext cx="3429000" cy="36576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828800"/>
            <a:ext cx="64008" cy="365760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2-3 • Incident Response &amp;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450592"/>
            <a:ext cx="3081528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Security incident</a:t>
            </a:r>
            <a:br/>
            <a:r>
              <a:t>Six response stages</a:t>
            </a:r>
            <a:br/>
            <a:r>
              <a:t>Containment / eradication</a:t>
            </a:r>
            <a:br/>
            <a:r>
              <a:t>Risk = impact × likelihood</a:t>
            </a:r>
            <a:br/>
            <a:r>
              <a:t>Risk prioritization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7D7D"/>
                </a:solidFill>
              </a:defRPr>
            </a:pPr>
            <a:r>
              <a:t>2-1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Cryptographic Technologies and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54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DCE6"/>
                </a:solidFill>
                <a:latin typeface="Aptos"/>
              </a:defRPr>
            </a:pPr>
            <a:r>
              <a:t>How HTTPS, encryption and authentication work together to keep online services secure.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Why do websites need security?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Think about a bank app, online shopping, or a website with the padlock.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47472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Keep content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3035808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Encryption scrambles communication so third parties cannot simply read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828800"/>
            <a:ext cx="64008" cy="34747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Prove who you are talking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35808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A digital certificate helps verify that the communication partner is genuine.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64008" cy="347472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Stop unauthorized logins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450592"/>
            <a:ext cx="3035808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Multi-factor authentication adds another check beyond a password.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HTTPS: three simple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textbook explains HTTPS as TLS-secured HTTP.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33832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1 •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Server sends a digital certificate + public key.</a:t>
            </a:r>
            <a:br/>
            <a:br/>
            <a:r>
              <a:t>Browser verifies the server through a Certificate Authority (CA).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874519"/>
            <a:ext cx="64008" cy="33832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 • Key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Browser creates a common key and protects it using public-key cryptography.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2" y="1874519"/>
            <a:ext cx="64008" cy="33832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3 • Data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The shared common key is used to encrypt the data quickly.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Public-key vs common-key cryptography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Remember the different jobs they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035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38404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Public-key cryptography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4956048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• Used to share a key safely.</a:t>
            </a:r>
            <a:br/>
            <a:r>
              <a:t>• Uses a public key and a private key.</a:t>
            </a:r>
            <a:br/>
            <a:r>
              <a:t>• Used for the key-exchange 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53035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64008" cy="38404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9842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Common-key cryptography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96312"/>
            <a:ext cx="4956048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• Used for actual data communication.</a:t>
            </a:r>
            <a:br/>
            <a:r>
              <a:t>• Shared key encrypts/decrypts data.</a:t>
            </a:r>
            <a:br/>
            <a:r>
              <a:t>• Faster for large amounts of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TLS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The TLS handshake — a simple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A simplified classroom model of how HTTPS establishes secure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965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64008" cy="150876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58568"/>
            <a:ext cx="1645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Web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1618488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Certificate + public key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907792"/>
            <a:ext cx="365760" cy="0"/>
          </a:xfrm>
          <a:prstGeom prst="line">
            <a:avLst/>
          </a:prstGeom>
          <a:ln w="25400">
            <a:solidFill>
              <a:srgbClr val="1C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2148840"/>
            <a:ext cx="1965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2148840"/>
            <a:ext cx="64008" cy="15087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258568"/>
            <a:ext cx="1645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770632"/>
            <a:ext cx="1618488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Verify server through CA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79" y="2907792"/>
            <a:ext cx="365761" cy="0"/>
          </a:xfrm>
          <a:prstGeom prst="line">
            <a:avLst/>
          </a:prstGeom>
          <a:ln w="25400">
            <a:solidFill>
              <a:srgbClr val="1C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0640" y="2148840"/>
            <a:ext cx="1965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0" y="2148840"/>
            <a:ext cx="64008" cy="150876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258568"/>
            <a:ext cx="1645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770632"/>
            <a:ext cx="1618488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Create common key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2907792"/>
            <a:ext cx="365759" cy="0"/>
          </a:xfrm>
          <a:prstGeom prst="line">
            <a:avLst/>
          </a:prstGeom>
          <a:ln w="25400">
            <a:solidFill>
              <a:srgbClr val="1C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52359" y="2148840"/>
            <a:ext cx="1965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59" y="2148840"/>
            <a:ext cx="64008" cy="150876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35239" y="2258568"/>
            <a:ext cx="1645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2770632"/>
            <a:ext cx="1618488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Use private key to obtain 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19" y="2907792"/>
            <a:ext cx="365761" cy="0"/>
          </a:xfrm>
          <a:prstGeom prst="line">
            <a:avLst/>
          </a:prstGeom>
          <a:ln w="25400">
            <a:solidFill>
              <a:srgbClr val="1C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2148840"/>
            <a:ext cx="1965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2148840"/>
            <a:ext cx="64008" cy="150876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59" y="2258568"/>
            <a:ext cx="1645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Both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9" y="2770632"/>
            <a:ext cx="1618488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Use common key for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297680"/>
            <a:ext cx="1005840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5840" y="4297680"/>
            <a:ext cx="64008" cy="11430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4407408"/>
            <a:ext cx="9738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Why combine both?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919472"/>
            <a:ext cx="9710928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Public-key cryptography provides safe key sharing; common-key cryptography provides fast data exchange.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Authentication: prove that the user is allowed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textbook groups authentication factors into three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33832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Something you know</a:t>
            </a:r>
            <a:br/>
            <a:br/>
            <a:r>
              <a:t>Example: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874519"/>
            <a:ext cx="64008" cy="33832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Possession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Something you have</a:t>
            </a:r>
            <a:br/>
            <a:br/>
            <a:r>
              <a:t>Example: smartphone, one-time password, smart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874519"/>
            <a:ext cx="3429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874519"/>
            <a:ext cx="64008" cy="33832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984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Biometric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496312"/>
            <a:ext cx="308152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Something you are</a:t>
            </a:r>
            <a:br/>
            <a:br/>
            <a:r>
              <a:t>Example: fingerprint or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MFA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Multi-factor authentication (MFA)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MFA combines two or more different authentication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07492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19202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Password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472744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If the password is leaked, an attacker may log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64008" cy="192024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3852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Password + phone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50592"/>
            <a:ext cx="472744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The attacker still needs the possession factor.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251960"/>
            <a:ext cx="1005840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4251960"/>
            <a:ext cx="64008" cy="11887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39" y="4361688"/>
            <a:ext cx="9738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Pause &amp; 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39" y="4873752"/>
            <a:ext cx="9710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If a password is leaked, why can a second factor sent to a phone still keep the account safe?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REAL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MFA examples from the textbook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Look for the two different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4231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92807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Online banking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83080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783080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892807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Password + one-time password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783080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783080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1892807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Knowledge + possession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07208"/>
            <a:ext cx="24231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807208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2916936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SNS login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807208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1840" y="2807208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2916936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Password + SMS 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807208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2807208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2916936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Knowledge + possession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31336"/>
            <a:ext cx="24231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3831336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3941064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Company laptop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831336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0" y="3831336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0" y="3941064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Smart card + fingerprint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831336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543800" y="3831336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3941064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Possession + biometric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55464"/>
            <a:ext cx="24231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855464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59" y="496519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Online shopping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4855464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1840" y="4855464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4965192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Password + one-time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4855464"/>
            <a:ext cx="3977639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43800" y="4855464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26679" y="4965192"/>
            <a:ext cx="365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Knowledge + possession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SECURITY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One technology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Different technologies protect against different threats.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9144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3852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50592"/>
            <a:ext cx="23957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Keeps communication content private.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27432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64008" cy="9144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08152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Digital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593592"/>
            <a:ext cx="23957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t>Detects tampering / impersonation and supports non-repudiation.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27432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64008" cy="91440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Digital certificate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736592"/>
            <a:ext cx="23957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Verifies the communication partner is authentic.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27432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64008" cy="91440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5367528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MFA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879592"/>
            <a:ext cx="2395728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Prevents unauthorized logins.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1828800"/>
            <a:ext cx="7498079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94760" y="1828800"/>
            <a:ext cx="64008" cy="43434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77640" y="1938528"/>
            <a:ext cx="7178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Online shopping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2450592"/>
            <a:ext cx="7150607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1. HTTPS encryption keeps communication private.</a:t>
            </a:r>
            <a:br/>
            <a:r>
              <a:t>2. Certificate confirms the genuine site.</a:t>
            </a:r>
            <a:br/>
            <a:r>
              <a:t>3. MFA protects the account login.</a:t>
            </a:r>
            <a:br/>
            <a:r>
              <a:t>4. A digital signature can detect tampering.</a:t>
            </a:r>
            <a:br/>
            <a:br/>
            <a:r>
              <a:t>Big idea: layering technologies addresses several threats at once.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True or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Mark each statement ○ (true) or × (false).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HTTPS communication uses both public-key cryptography and common-key cryptography.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7889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889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HTTPS communication exchanges all data using public-key cryptography.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65760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6576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MFA combines two or more of the three authentication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52627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5720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52627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Setting two passwords is an example of multi-factor authentication.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WORKED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Answers: True /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Ask students to explain the clue that proves each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9144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749808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5669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737360"/>
            <a:ext cx="9601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3080" y="1737360"/>
            <a:ext cx="64008" cy="749808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1847088"/>
            <a:ext cx="9281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59152"/>
            <a:ext cx="92537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HTTPS uses public-key cryptography for key exchange and common-key cryptography for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9144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64008" cy="749808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9864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10712"/>
            <a:ext cx="5669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2788920"/>
            <a:ext cx="9601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783080" y="2788920"/>
            <a:ext cx="64008" cy="749808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5960" y="2898648"/>
            <a:ext cx="9281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410712"/>
            <a:ext cx="92537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Common-key cryptography is used for data communication because it is faster.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40479"/>
            <a:ext cx="9144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840479"/>
            <a:ext cx="64008" cy="749808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62271"/>
            <a:ext cx="5669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83080" y="3840479"/>
            <a:ext cx="9601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83080" y="3840479"/>
            <a:ext cx="64008" cy="749808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3950207"/>
            <a:ext cx="9281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462271"/>
            <a:ext cx="92537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MFA combines two or more different factors.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92040"/>
            <a:ext cx="9144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892040"/>
            <a:ext cx="64008" cy="749808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00176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13831"/>
            <a:ext cx="5669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83080" y="4892040"/>
            <a:ext cx="9601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783080" y="4892040"/>
            <a:ext cx="64008" cy="749808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65960" y="5001768"/>
            <a:ext cx="9281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513831"/>
            <a:ext cx="9253728" cy="18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Two passwords are both knowledge factors, so they are not different factors.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match the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Choices: A Encryption • B Digital signature • C Digital certificate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87451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20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7451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 want to prevent communication content from being read by third parties.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7889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889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 want to verify that data has not been altered during communication.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118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7033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490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033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 want to verify that the communication partner is authentic.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983480"/>
            <a:ext cx="98755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4983480"/>
            <a:ext cx="64008" cy="8229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093208"/>
            <a:ext cx="9555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05272"/>
            <a:ext cx="9528048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→ A • b → B • c →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6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Exam-style: explain the combination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789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14173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10469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6-MARK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1044244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Explain why HTTPS uses public-key cryptography to share the key but common-key cryptography to exchange the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29184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64008" cy="15544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9392"/>
            <a:ext cx="294436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Public-key cryptography provides safe key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657600"/>
            <a:ext cx="329184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657600"/>
            <a:ext cx="64008" cy="15544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Point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79392"/>
            <a:ext cx="294436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Common-key cryptography exchanges data quickly.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29184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657600"/>
            <a:ext cx="64008" cy="15544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Point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279392"/>
            <a:ext cx="294436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Together they provide security + speed.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2-1 •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Think as an engineer: choose a login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Scenario: a school portal for grades and fee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12344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50592"/>
            <a:ext cx="463600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Password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49834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64008" cy="123444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50592"/>
            <a:ext cx="463600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Password + one-time password sent to the 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Ask 10 classmates which login methods they use and trust.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For each stakeholder, identify one benefit and one drawback: student • school • student with no smartphone.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Recommend one method and give two reasons based on your survey.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7D7D"/>
                </a:solidFill>
              </a:defRPr>
            </a:pPr>
            <a:r>
              <a:t>2-2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Network Security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54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DCE6"/>
                </a:solidFill>
                <a:latin typeface="Aptos"/>
              </a:defRPr>
            </a:pPr>
            <a:r>
              <a:t>How firewalls, VPNs, DMZs, endpoints, defense in depth and zero trust work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A single lock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Modern network security uses several layers so one breach does not expose everything.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1945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47088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Network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737360"/>
            <a:ext cx="2331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1737360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847088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Firewall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737360"/>
            <a:ext cx="566928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1737360"/>
            <a:ext cx="64008" cy="80467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847088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59152"/>
            <a:ext cx="5321808" cy="73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Blocks/allows traffic by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61488"/>
            <a:ext cx="21945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761488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2871216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Communication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761488"/>
            <a:ext cx="2331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17520" y="2761488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2871216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VPN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761488"/>
            <a:ext cx="566928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77840" y="2761488"/>
            <a:ext cx="64008" cy="804672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2871216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383280"/>
            <a:ext cx="5321808" cy="73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Encrypts remote communication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85616"/>
            <a:ext cx="21945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785616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3895344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Server placement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3785616"/>
            <a:ext cx="2331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017520" y="3785616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0" y="3895344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DMZ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3785616"/>
            <a:ext cx="566928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77840" y="3785616"/>
            <a:ext cx="64008" cy="804672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895344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407408"/>
            <a:ext cx="5321808" cy="73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Separates public-facing servers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809744"/>
            <a:ext cx="219456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" y="4809744"/>
            <a:ext cx="64008" cy="804672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59" y="491947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Endpoints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4809744"/>
            <a:ext cx="2331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17520" y="4809744"/>
            <a:ext cx="64008" cy="804672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0" y="4919472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Antivirus + updates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809744"/>
            <a:ext cx="566928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77840" y="4809744"/>
            <a:ext cx="64008" cy="804672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4919472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431536"/>
            <a:ext cx="5321808" cy="73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Protects individual devices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Firewall: the network gatekeeper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It allows or denies communication at a network entry/exit point based on preset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56616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Example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331012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Allow access to the web server.</a:t>
            </a:r>
            <a:br/>
            <a:br/>
            <a:r>
              <a:t>Deny direct external access to the database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20116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1828800"/>
            <a:ext cx="64008" cy="356616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1938528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50592"/>
            <a:ext cx="166420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7"/>
                </a:solidFill>
                <a:latin typeface="Aptos"/>
              </a:defRPr>
            </a:pPr>
            <a:r>
              <a:t>Outside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828800"/>
            <a:ext cx="18288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3760" y="1828800"/>
            <a:ext cx="64008" cy="35661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1938528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50592"/>
            <a:ext cx="148132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14884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64008" cy="155448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59" y="193852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Web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450592"/>
            <a:ext cx="180136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Allowed path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840480"/>
            <a:ext cx="214884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0" y="3840480"/>
            <a:ext cx="64008" cy="155448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59" y="395020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A4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4462272"/>
            <a:ext cx="1801368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Direct outside access denied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VPN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VPN: a secure tunnel over the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Useful for remote work, branch connections and reducing eavesdropping risk on public Wi‑Fi.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004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56616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Remote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85292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Connect safely to the organization's network from home or while away.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004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64008" cy="35661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938528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Connecting branches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50592"/>
            <a:ext cx="285292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Connect offices in different locations safely.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2004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64008" cy="356616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938528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Public Wi‑Fi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50592"/>
            <a:ext cx="2852928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Communication is encrypted, reducing the risk of eavesdropping.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DMZ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DMZ: separate public-facing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goal is to stop an attack on a public server from reaching the internal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214884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64008" cy="320040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80136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7"/>
                </a:solidFill>
                <a:latin typeface="Aptos"/>
              </a:defRPr>
            </a:pPr>
            <a:r>
              <a:t>Public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920240"/>
            <a:ext cx="242316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3240" y="1920240"/>
            <a:ext cx="64008" cy="32004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202996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DMZ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42032"/>
            <a:ext cx="20756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Web server</a:t>
            </a:r>
            <a:br/>
            <a:r>
              <a:t>Mail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920240"/>
            <a:ext cx="210312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920240"/>
            <a:ext cx="64008" cy="32004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2029968"/>
            <a:ext cx="1783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542032"/>
            <a:ext cx="175564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  <a:latin typeface="Aptos"/>
              </a:defRPr>
            </a:pPr>
            <a:r>
              <a:t>Controlled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920240"/>
            <a:ext cx="315468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0" y="1920240"/>
            <a:ext cx="64008" cy="320040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59" y="202996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Internal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42032"/>
            <a:ext cx="280720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t>Customer data</a:t>
            </a:r>
            <a:br/>
            <a:r>
              <a:t>Private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440680"/>
            <a:ext cx="1005840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840" y="5440680"/>
            <a:ext cx="64008" cy="64008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550408"/>
            <a:ext cx="9738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Why safer?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6062472"/>
            <a:ext cx="971092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An attack on a public-facing server is less able to reach internal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Defense in depth: if one layer falls, the next 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51460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3520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Network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216712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Firewall</a:t>
            </a:r>
            <a:br/>
            <a:br/>
            <a:r>
              <a:t>Blocks/allows traffic by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51460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874519"/>
            <a:ext cx="64008" cy="352044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8424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Communication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96312"/>
            <a:ext cx="216712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VPN</a:t>
            </a:r>
            <a:br/>
            <a:br/>
            <a:r>
              <a:t>Encrypts remote communication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251460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874519"/>
            <a:ext cx="64008" cy="352044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98424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Server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96312"/>
            <a:ext cx="216712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DMZ</a:t>
            </a:r>
            <a:br/>
            <a:br/>
            <a:r>
              <a:t>Separates public-facing servers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74519"/>
            <a:ext cx="251460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874519"/>
            <a:ext cx="64008" cy="352044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198424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496312"/>
            <a:ext cx="216712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Antivirus + updates</a:t>
            </a:r>
            <a:br/>
            <a:br/>
            <a:r>
              <a:t>Protects individual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Zero trust: verify every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Do not automatically trust communication just because it comes from “inside.”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0352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379476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Traditional perimeter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4956048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• “Inside” is treated as safe.</a:t>
            </a:r>
            <a:br/>
            <a:r>
              <a:t>• “Outside” is treated as dangerous.</a:t>
            </a:r>
            <a:br/>
            <a:r>
              <a:t>• Cloud services and remote work blur this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530352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64008" cy="37947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98424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Zero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96312"/>
            <a:ext cx="4956048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• No communication is trusted automatically.</a:t>
            </a:r>
            <a:br/>
            <a:r>
              <a:t>• Every access is verified.</a:t>
            </a:r>
            <a:br/>
            <a:r>
              <a:t>• Identity and permission checks are performed even for internal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True or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Mark each statement ○ (true) or × (false).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firewall allows or denies communication based on rules set in advance.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7889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889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Using a VPN can reduce the risk of eavesdropping even on public Wi‑Fi.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65760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6576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DMZ is a system that exposes all servers to the outside.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52627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5720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52627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Defense in depth is the concept of layering multiple security measures.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match the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Choices: A Firewall • B VPN • C DMZ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An encrypted virtual private line over the Internet for safe remote connection.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8346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803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8346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An area where servers exposed to the outside are separated from the internal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74903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947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4903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system that allows or denies communication based on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987552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5029200"/>
            <a:ext cx="64008" cy="77724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8"/>
            <a:ext cx="9555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50992"/>
            <a:ext cx="9528048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→ B • b → C • c →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Which is NOT an appropriate use of a VPN?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Connecting safely from home to an organization's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269748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9748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Connecting offices in different locations safely.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4747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5204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4747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Automatically deleting files infected with viruses.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425195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9768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25195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Encrypting communication content on public Wi‑Fi.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66360"/>
            <a:ext cx="987552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64008" cy="6858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276088"/>
            <a:ext cx="9555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88152"/>
            <a:ext cx="952804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C — deleting infected files is not a VPN 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6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Exam-style: why is layering stronger than one firewall?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789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14173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10469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6-MARK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1044244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Explain why layering several security measures (defense in depth) protects an organization better than relying on a firewall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291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64008" cy="16002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9392"/>
            <a:ext cx="294436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Firewall controls network 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657600"/>
            <a:ext cx="64008" cy="16002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79392"/>
            <a:ext cx="294436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VPN, DMZ and endpoints protect other paths and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29184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657600"/>
            <a:ext cx="64008" cy="160020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279392"/>
            <a:ext cx="294436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If one layer is breached, another can still limit damage.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2-2 •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Think as an engineer: design the company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Scenario: public website + remote staff + confidential customer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List the three assets and the main threat to each.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Rank the four defense-in-depth layers: network entry • communication path • server placement • endpoints.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Recommend a layered design and give two reasons it is safer than a single firewall.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Use zero trust: remember that every access should be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5349240"/>
            <a:ext cx="64008" cy="64008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458968"/>
            <a:ext cx="9738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Hint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71031"/>
            <a:ext cx="971092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Start with the public website and place it in a DMZ so an attack there cannot reach the internal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7D7D"/>
                </a:solidFill>
              </a:defRPr>
            </a:pPr>
            <a:r>
              <a:t>2-3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Incident Response and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54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DCE6"/>
                </a:solidFill>
                <a:latin typeface="Aptos"/>
              </a:defRPr>
            </a:pPr>
            <a:r>
              <a:t>What to do when something goes wrong — and how to decide which risks deserve attention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SECURITY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What is a security incident?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A situation in which actual damage occurs due to an information security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Information leak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29260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Personal or confidential information is leaked to the outside.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64008" cy="338328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9842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Data tampering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96312"/>
            <a:ext cx="2926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Data inside a system is changed without authorization.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74519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74519"/>
            <a:ext cx="64008" cy="33832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Service outage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41448"/>
            <a:ext cx="29260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A service becomes unavailable because of an attack or similar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The six stages — learn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order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1 •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5059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Set procedures in advance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64008" cy="14173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2 •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5059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Discover and confirm the incident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64008" cy="141732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3 • Containment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5059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Limit the spread of damage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64008" cy="14173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72160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4 • Eradication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23367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Remove the cause, e.g. malware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1188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611880"/>
            <a:ext cx="64008" cy="141732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72160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5 • 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3367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Return systems/services to normal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611880"/>
            <a:ext cx="34290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64008" cy="141732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372160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6 • Prevention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233672"/>
            <a:ext cx="308152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Analyze cause and prevent recurrence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WHY ORDER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Contain first. Eradicate next. Recover after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Example: a malware-infected computer.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2461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338328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Containment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28986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Disconnect the infected machine from the network.</a:t>
            </a:r>
            <a:br>
              <a:rPr dirty="0"/>
            </a:br>
            <a:br>
              <a:rPr dirty="0"/>
            </a:br>
            <a:r>
              <a:rPr dirty="0"/>
              <a:t>Goal: stop damage spreading.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64008" cy="338328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938528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Eradication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50592"/>
            <a:ext cx="277063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Remove the malware and the cause.</a:t>
            </a:r>
            <a:br>
              <a:rPr dirty="0"/>
            </a:br>
            <a:br>
              <a:rPr dirty="0"/>
            </a:br>
            <a:r>
              <a:rPr dirty="0"/>
              <a:t>Goal: stop the source of the problem.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2461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828800"/>
            <a:ext cx="64008" cy="338328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938528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50592"/>
            <a:ext cx="2865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t>Restore a clean system from backup and return to normal operation.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532120"/>
            <a:ext cx="9784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88720" y="5532120"/>
            <a:ext cx="64008" cy="5029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5641848"/>
            <a:ext cx="9464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44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88441"/>
            <a:ext cx="9436607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Aptos"/>
              </a:defRPr>
            </a:pPr>
            <a:r>
              <a:rPr dirty="0"/>
              <a:t>If you recover before removing the cause, the same incident may happen again.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Risk = impact × 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Organizations cannot fix every risk at the same time, so they prioritize.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4747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A44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880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How much damage occurs if the risk happens?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2918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64008" cy="347472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A44"/>
                </a:solidFill>
                <a:latin typeface="Aptos"/>
              </a:defRPr>
            </a:pPr>
            <a:r>
              <a:t>Likelihood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50592"/>
            <a:ext cx="284496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How probable is it that the risk will happen?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29184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64008" cy="34747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9385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A44"/>
                </a:solidFill>
                <a:latin typeface="Aptos"/>
              </a:defRPr>
            </a:pPr>
            <a:r>
              <a:t>Risk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50592"/>
            <a:ext cx="294436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Impact × likelihood</a:t>
            </a:r>
            <a:br>
              <a:rPr dirty="0"/>
            </a:br>
            <a:br>
              <a:rPr dirty="0"/>
            </a:br>
            <a:r>
              <a:rPr dirty="0"/>
              <a:t>High impact + high likelihood → address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RISK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How to prioritize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textbook's rule: high impact + high likelihood should be addressed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828800"/>
            <a:ext cx="4297680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40880" y="1828800"/>
            <a:ext cx="64008" cy="30175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1938528"/>
            <a:ext cx="397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Priority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450592"/>
            <a:ext cx="395020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High impact + high likelihood = highest priority.</a:t>
            </a:r>
            <a:br/>
            <a:br/>
            <a:r>
              <a:t>Do not focus only on impact or only on likelihood.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AAB6C4A-578D-A54F-25BF-5BB94E67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" y="1591627"/>
            <a:ext cx="6132969" cy="416909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True or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Mark each statement ○ (true) or × (false).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security incident is a situation in which actual damage occurs due to an information security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7889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889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In incident response, it is important to first prevent the spread of damage before removing the cause.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65760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6576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The size of a risk can be determined by impact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52627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5720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52627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The final stage of incident response is prevention of recurrence.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question: identify the response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Choices: A Preparation • B Containment • C Eradication • D Prevention of recurrence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82880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74519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Establishing response procedures in advance, in preparation for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06039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69747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743199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69747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Disconnecting a malware-infected computer from the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6616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11879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56616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Removing the malware infection.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434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4348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4805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4348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Analyzing the cause and taking measures so that the same incident does not occur again.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257800"/>
            <a:ext cx="1014984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5257800"/>
            <a:ext cx="64008" cy="68580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367528"/>
            <a:ext cx="9829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92779"/>
            <a:ext cx="9802367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rPr lang="pt-BR" dirty="0"/>
              <a:t>a → A • b → B • c → C • d →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Book-style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Answer with the key 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1. What is the term for a situation in which actual damage occurs due to an information security problem?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2. Name the six stages of incident response in order.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3. What are the two factors used to determine the size of a risk?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074920"/>
            <a:ext cx="1014984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5074920"/>
            <a:ext cx="64008" cy="8229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5184648"/>
            <a:ext cx="9829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96712"/>
            <a:ext cx="9802367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1. Security incident  •  2. Preparation → Detection → Containment → Eradication → Recovery → Prevention of recurrence  •  3. Impact + 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Which option is NOT a security incident?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Data was encrypted by a ransomware infection.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269748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9748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Customer information was leaked through unauthorized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4747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5204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4747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software update was performed to add new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425195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9768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25195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 web service became unavailable due to an attack.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66360"/>
            <a:ext cx="987552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64008" cy="6858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276088"/>
            <a:ext cx="9555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88152"/>
            <a:ext cx="952804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Aptos"/>
              </a:defRPr>
            </a:pPr>
            <a:r>
              <a:t>C — a normal software update is not a security incident.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Which statement best describes risk assessment?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It is enough to address only risks with large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269748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9748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It is enough to address only risks with high likelihood.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474720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5204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4747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Risks with both high impact and high likelihood should be addressed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42416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4251959"/>
            <a:ext cx="384048" cy="384048"/>
          </a:xfrm>
          <a:prstGeom prst="ellipse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9768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251959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All risks must be addressed simultaneously.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66360"/>
            <a:ext cx="987552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64008" cy="685800"/>
          </a:xfrm>
          <a:prstGeom prst="rect">
            <a:avLst/>
          </a:prstGeom>
          <a:solidFill>
            <a:srgbClr val="37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276088"/>
            <a:ext cx="9555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A44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88152"/>
            <a:ext cx="952804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rPr dirty="0"/>
              <a:t>C — risk size depends on impact × likelihood, and high-high risks get priority.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6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Exam-style: why must the six stages be in order?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789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14173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10469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6-MARK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1044244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Explain why the six stages of incident response must be carried out in order, using recovery and eradication as an example.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2918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64008" cy="16459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Eradication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9392"/>
            <a:ext cx="294436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Remove the cause, such as malware.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657600"/>
            <a:ext cx="32918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657600"/>
            <a:ext cx="64008" cy="1645920"/>
          </a:xfrm>
          <a:prstGeom prst="rect">
            <a:avLst/>
          </a:prstGeom>
          <a:solidFill>
            <a:srgbClr val="69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Then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79392"/>
            <a:ext cx="2944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rPr dirty="0"/>
              <a:t>Restore the system to a clean, normal 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2918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657600"/>
            <a:ext cx="64008" cy="164592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376732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A44"/>
                </a:solidFill>
                <a:latin typeface="Aptos"/>
              </a:defRPr>
            </a:pPr>
            <a:r>
              <a:t>Why order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297680"/>
            <a:ext cx="28803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rPr dirty="0"/>
              <a:t>If the cause remains, the same incident can return.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2-3 •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Think as an engineer: a school has ransomware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The student-records system is hit: files are encrypted and staff cannot log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2004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123444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4"/>
                </a:solidFill>
                <a:latin typeface="Aptos"/>
              </a:defRPr>
            </a:pPr>
            <a: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8529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The incident has just been detected.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Starting from detection, list the stages still to carry out.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For each stage, explain what it means for this incident.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Compare two risks: another ransomware attack vs. a brief power cut.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Estimate impact and likelihood, then decide which risk to address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CHAPTER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Chapter 2 • The security mindset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356616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2-1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971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HTTPS combines safe key sharing + fast data exchange.</a:t>
            </a:r>
            <a:br>
              <a:rPr dirty="0"/>
            </a:br>
            <a:br>
              <a:rPr dirty="0"/>
            </a:br>
            <a:r>
              <a:rPr dirty="0"/>
              <a:t>MFA combines different factors.</a:t>
            </a:r>
            <a:br>
              <a:rPr dirty="0"/>
            </a:br>
            <a:br>
              <a:rPr dirty="0"/>
            </a:br>
            <a:r>
              <a:rPr dirty="0"/>
              <a:t>Security technologies work best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828800"/>
            <a:ext cx="64008" cy="35661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2-2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72930"/>
            <a:ext cx="27038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Use layers: firewall + VPN + DMZ + endpoints.</a:t>
            </a:r>
            <a:br>
              <a:rPr dirty="0"/>
            </a:br>
            <a:br>
              <a:rPr dirty="0"/>
            </a:br>
            <a:r>
              <a:rPr dirty="0"/>
              <a:t>Defense in depth limits damage.</a:t>
            </a:r>
            <a:br>
              <a:rPr dirty="0"/>
            </a:br>
            <a:br>
              <a:rPr dirty="0"/>
            </a:br>
            <a:r>
              <a:rPr dirty="0"/>
              <a:t>Zero trust = verify every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64008" cy="3566160"/>
          </a:xfrm>
          <a:prstGeom prst="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938528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A44"/>
                </a:solidFill>
                <a:latin typeface="Aptos"/>
              </a:defRPr>
            </a:pPr>
            <a:r>
              <a:t>2-3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450592"/>
            <a:ext cx="28895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Prepare → Detect → Contain → Eradicate → Recover → Prevent.</a:t>
            </a:r>
            <a:br>
              <a:rPr dirty="0"/>
            </a:br>
            <a:br>
              <a:rPr dirty="0"/>
            </a:br>
            <a:r>
              <a:rPr dirty="0"/>
              <a:t>Risk = impact × likelihood.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Chapter 2 • Cybersecurity • Key takeaway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7D7D"/>
                </a:solidFill>
                <a:latin typeface="Aptos"/>
              </a:defRPr>
            </a:pPr>
            <a:r>
              <a:t>FINAL CLASSROOM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28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A44"/>
                </a:solidFill>
                <a:latin typeface="Aptos Display"/>
              </a:defRPr>
            </a:pPr>
            <a:r>
              <a:t>One scenario — use everything you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828C"/>
                </a:solidFill>
                <a:latin typeface="Aptos"/>
              </a:defRPr>
            </a:pPr>
            <a:r>
              <a:t>An online school portal stores student records, has a public website, and allows teachers to work from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1. Which technologies should protect the website and internal network? Explain where they belong.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2. Which authentication method would you recommend for teachers? Explain why.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3. If ransomware is detected, what are the next stages of response?</a:t>
            </a:r>
          </a:p>
          <a:p>
            <a:pPr>
              <a:spcAft>
                <a:spcPts val="9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4. The school must choose between two risks. How would impact × likelihood help it decide?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440680"/>
            <a:ext cx="100584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5440680"/>
            <a:ext cx="64008" cy="594360"/>
          </a:xfrm>
          <a:prstGeom prst="rect">
            <a:avLst/>
          </a:prstGeom>
          <a:solidFill>
            <a:srgbClr val="1C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550408"/>
            <a:ext cx="9738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44"/>
                </a:solidFill>
                <a:latin typeface="Aptos"/>
              </a:defRPr>
            </a:pPr>
            <a:r>
              <a:t>Teacher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6062472"/>
            <a:ext cx="9710928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Aptos"/>
              </a:defRPr>
            </a:pPr>
            <a:r>
              <a:t>Students should explain the reason for a security measure, not only memorize its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28C"/>
                </a:solidFill>
                <a:latin typeface="Aptos"/>
              </a:defRPr>
            </a:pPr>
            <a:r>
              <a:t>Programming and Artificial Intelligence • Part One •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3522</Words>
  <Application>Microsoft Office PowerPoint</Application>
  <PresentationFormat>Widescreen</PresentationFormat>
  <Paragraphs>527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Adelrahman</dc:creator>
  <cp:keywords/>
  <dc:description>generated using python-pptx</dc:description>
  <cp:lastModifiedBy>Abdulrahman Samir</cp:lastModifiedBy>
  <cp:revision>2</cp:revision>
  <dcterms:created xsi:type="dcterms:W3CDTF">2013-01-27T09:14:16Z</dcterms:created>
  <dcterms:modified xsi:type="dcterms:W3CDTF">2026-10-23T12:41:20Z</dcterms:modified>
  <cp:category/>
</cp:coreProperties>
</file>