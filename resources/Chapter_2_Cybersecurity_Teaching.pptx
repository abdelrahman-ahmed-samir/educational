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C7D7D"/>
                </a:solidFill>
              </a:defRPr>
            </a:pPr>
            <a:r>
              <a:t>EGYPTIAN BACCALAUREATE • YEAR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Cybersecurity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7889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DCE4EB"/>
                </a:solidFill>
              </a:defRPr>
            </a:pPr>
            <a:r>
              <a:t>Chapter 2 teaching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4C3D0"/>
                </a:solidFill>
              </a:defRPr>
            </a:pPr>
            <a:r>
              <a:t>Simple explanations • real-life examples • book-style questions • exam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Based on Programming and Artificial Intelligence • Part One • Chapter 2, pp. 33–54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TEACHER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How to use this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Teach → discuss → practise →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47472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64008" cy="338328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3154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1 • 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50592"/>
            <a:ext cx="312724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Start with the simple idea. Connect security concepts to phones, websites, Wi‑Fi and school 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47472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64008" cy="338328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938528"/>
            <a:ext cx="3154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2 • Discuss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450592"/>
            <a:ext cx="312724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Use “Pause &amp; Think” and the scenarios. Ask students to explain WHY, not only name a term.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1828800"/>
            <a:ext cx="347472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5" y="1828800"/>
            <a:ext cx="64008" cy="338328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5" y="1938528"/>
            <a:ext cx="3154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3 •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5" y="2450592"/>
            <a:ext cx="312724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Show the same styles used in the book: MCQ • True/False • matching • short answer • 6-mark.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CHAPTER 2 •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Chapter 2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Three lessons, one central idea: security comes from layers and good decisions.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429000" cy="36576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64008" cy="365760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2-1 • Cryptography &amp; 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50592"/>
            <a:ext cx="3081528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HTTPS</a:t>
            </a:r>
            <a:br/>
            <a:r>
              <a:t>Common-key cryptography</a:t>
            </a:r>
            <a:br/>
            <a:r>
              <a:t>Public-key cryptography</a:t>
            </a:r>
            <a:br/>
            <a:r>
              <a:t>TLS handshake</a:t>
            </a:r>
            <a:br/>
            <a:r>
              <a:t>MFA</a:t>
            </a:r>
            <a:br/>
            <a:r>
              <a:t>Digital signatures</a:t>
            </a:r>
            <a:br/>
            <a:r>
              <a:t>Digital certificates</a:t>
            </a:r>
            <a:br/>
            <a:r>
              <a:t>Non-repudiation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828800"/>
            <a:ext cx="3429000" cy="36576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1828800"/>
            <a:ext cx="64008" cy="36576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93852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2-2 • Network Security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450592"/>
            <a:ext cx="3081528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Firewall</a:t>
            </a:r>
            <a:br/>
            <a:r>
              <a:t>VPN</a:t>
            </a:r>
            <a:br/>
            <a:r>
              <a:t>DMZ</a:t>
            </a:r>
            <a:br/>
            <a:r>
              <a:t>Defense in depth</a:t>
            </a:r>
            <a:br/>
            <a:r>
              <a:t>Endpoint protection</a:t>
            </a:r>
            <a:br/>
            <a:r>
              <a:t>Zero trust</a:t>
            </a:r>
            <a:br/>
            <a:r>
              <a:t>Perimeter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1828800"/>
            <a:ext cx="3429000" cy="36576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828800"/>
            <a:ext cx="64008" cy="365760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193852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2-3 • Incident Response &amp;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450592"/>
            <a:ext cx="3081528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Security incident</a:t>
            </a:r>
            <a:br/>
            <a:r>
              <a:t>Six response stages</a:t>
            </a:r>
            <a:br/>
            <a:r>
              <a:t>Containment / eradication</a:t>
            </a:r>
            <a:br/>
            <a:r>
              <a:t>Risk = impact × likelihood</a:t>
            </a:r>
            <a:br/>
            <a:r>
              <a:t>Risk prioritization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C7D7D"/>
                </a:solidFill>
              </a:defRPr>
            </a:pPr>
            <a:r>
              <a:t>2-1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FFFFFF"/>
                </a:solidFill>
                <a:latin typeface="Aptos Display"/>
              </a:defRPr>
            </a:pPr>
            <a:r>
              <a:t>Cryptographic Technologies and 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15468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D2DCE6"/>
                </a:solidFill>
                <a:latin typeface="Aptos"/>
              </a:defRPr>
            </a:pPr>
            <a:r>
              <a:t>How HTTPS, encryption and authentication work together to keep online services secure.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BIG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Why do websites need security?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Think about a bank app, online shopping, or a website with the padlock.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383280" cy="3474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64008" cy="347472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38528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Keep content private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50592"/>
            <a:ext cx="303580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Encryption scrambles communication so third parties cannot simply read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828800"/>
            <a:ext cx="3383280" cy="3474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828800"/>
            <a:ext cx="64008" cy="34747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938528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Prove who you are talking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50592"/>
            <a:ext cx="303580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A digital certificate helps verify that the communication partner is genuine.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828800"/>
            <a:ext cx="3383280" cy="3474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828800"/>
            <a:ext cx="64008" cy="347472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5" y="1938528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Stop unauthorized logins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2450592"/>
            <a:ext cx="303580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Multi-factor authentication adds another check beyond a password.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HTTPS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HTTPS: three simple stages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The textbook explains HTTPS as TLS-secured HTTP.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2900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338328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8424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1 •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96312"/>
            <a:ext cx="308152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Server sends a digital certificate + public key.</a:t>
            </a:r>
            <a:br/>
            <a:br/>
            <a:r>
              <a:t>Browser verifies the server through a Certificate Authority (CA).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874519"/>
            <a:ext cx="342900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1874519"/>
            <a:ext cx="64008" cy="338328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98424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2 • Key exchange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496312"/>
            <a:ext cx="308152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Browser creates a common key and protects it using public-key cryptography.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874519"/>
            <a:ext cx="342900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1874519"/>
            <a:ext cx="64008" cy="338328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8424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3 • Data communication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496312"/>
            <a:ext cx="308152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The shared common key is used to encrypt the data quickly.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CRYPTOGRAPHY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Public-key vs common-key cryptography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Remember the different jobs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5303520" cy="3840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64008" cy="384048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84248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Public-key cryptography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96312"/>
            <a:ext cx="4956048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• Used to share a key safely.</a:t>
            </a:r>
            <a:br/>
            <a:r>
              <a:t>• Uses a public key and a private key.</a:t>
            </a:r>
            <a:br/>
            <a:r>
              <a:t>• Used for the key-exchange stage.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874519"/>
            <a:ext cx="5303520" cy="3840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874519"/>
            <a:ext cx="64008" cy="384048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984248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Common-key cryptography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496312"/>
            <a:ext cx="4956048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• Used for actual data communication.</a:t>
            </a:r>
            <a:br/>
            <a:r>
              <a:t>• Shared key encrypts/decrypts data.</a:t>
            </a:r>
            <a:br/>
            <a:r>
              <a:t>• Faster for large amounts of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TLS HANDSHAKE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The TLS handshake — a simple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A simplified classroom model of how HTTPS establishes secure communication.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8840"/>
            <a:ext cx="1965960" cy="1508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48840"/>
            <a:ext cx="64008" cy="150876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58568"/>
            <a:ext cx="16459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Web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70632"/>
            <a:ext cx="1618488" cy="777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Certificate + public key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907792"/>
            <a:ext cx="365760" cy="0"/>
          </a:xfrm>
          <a:prstGeom prst="line">
            <a:avLst/>
          </a:prstGeom>
          <a:ln w="25400">
            <a:solidFill>
              <a:srgbClr val="1C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2148840"/>
            <a:ext cx="1965960" cy="1508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8920" y="2148840"/>
            <a:ext cx="64008" cy="15087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258568"/>
            <a:ext cx="16459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770632"/>
            <a:ext cx="1618488" cy="777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Verify server through CA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4879" y="2907792"/>
            <a:ext cx="365761" cy="0"/>
          </a:xfrm>
          <a:prstGeom prst="line">
            <a:avLst/>
          </a:prstGeom>
          <a:ln w="25400">
            <a:solidFill>
              <a:srgbClr val="1C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2148840"/>
            <a:ext cx="1965960" cy="1508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0" y="2148840"/>
            <a:ext cx="64008" cy="150876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2258568"/>
            <a:ext cx="16459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770632"/>
            <a:ext cx="1618488" cy="777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Create common key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86600" y="2907792"/>
            <a:ext cx="365759" cy="0"/>
          </a:xfrm>
          <a:prstGeom prst="line">
            <a:avLst/>
          </a:prstGeom>
          <a:ln w="25400">
            <a:solidFill>
              <a:srgbClr val="1C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52359" y="2148840"/>
            <a:ext cx="1965960" cy="1508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59" y="2148840"/>
            <a:ext cx="64008" cy="150876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39" y="2258568"/>
            <a:ext cx="16459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39" y="2770632"/>
            <a:ext cx="1618488" cy="777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Use private key to obtain it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19" y="2907792"/>
            <a:ext cx="365761" cy="0"/>
          </a:xfrm>
          <a:prstGeom prst="line">
            <a:avLst/>
          </a:prstGeom>
          <a:ln w="25400">
            <a:solidFill>
              <a:srgbClr val="1C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84080" y="2148840"/>
            <a:ext cx="1965960" cy="1508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2148840"/>
            <a:ext cx="64008" cy="150876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9" y="2258568"/>
            <a:ext cx="16459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Both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9" y="2770632"/>
            <a:ext cx="1618488" cy="777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Use common key for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" y="4297680"/>
            <a:ext cx="10058400" cy="11430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840" y="4297680"/>
            <a:ext cx="64008" cy="11430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07408"/>
            <a:ext cx="9738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Why combine both?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919472"/>
            <a:ext cx="9710928" cy="4114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Public-key cryptography provides safe key sharing; common-key cryptography provides fast data exchange.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Authentication: prove that the user is allowed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The textbook groups authentication factors into three types.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42900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64008" cy="338328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8424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82A44"/>
                </a:solidFill>
                <a:latin typeface="Aptos"/>
              </a:defRPr>
            </a:pPr>
            <a:r>
              <a:t>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96312"/>
            <a:ext cx="308152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32D37"/>
                </a:solidFill>
                <a:latin typeface="Aptos"/>
              </a:defRPr>
            </a:pPr>
            <a:r>
              <a:t>Something you know</a:t>
            </a:r>
            <a:br/>
            <a:br/>
            <a:r>
              <a:t>Example: password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874519"/>
            <a:ext cx="342900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1874519"/>
            <a:ext cx="64008" cy="338328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98424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82A44"/>
                </a:solidFill>
                <a:latin typeface="Aptos"/>
              </a:defRPr>
            </a:pPr>
            <a:r>
              <a:t>Possession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496312"/>
            <a:ext cx="308152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Something you have</a:t>
            </a:r>
            <a:br/>
            <a:br/>
            <a:r>
              <a:t>Example: smartphone, one-time password, smart card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1874519"/>
            <a:ext cx="342900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874519"/>
            <a:ext cx="64008" cy="338328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198424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82A44"/>
                </a:solidFill>
                <a:latin typeface="Aptos"/>
              </a:defRPr>
            </a:pPr>
            <a:r>
              <a:t>Biometric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496312"/>
            <a:ext cx="308152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32D37"/>
                </a:solidFill>
                <a:latin typeface="Aptos"/>
              </a:defRPr>
            </a:pPr>
            <a:r>
              <a:t>Something you are</a:t>
            </a:r>
            <a:br/>
            <a:br/>
            <a:r>
              <a:t>Example: fingerprint or 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Multi-factor authentication (MFA)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MFA combines two or more different authentication factors.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074920" cy="19202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" cy="192024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Password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4727448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If the password is leaked, an attacker may log 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074920" cy="19202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64008" cy="192024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38528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Password + phone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450592"/>
            <a:ext cx="4727448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The attacker still needs the possession factor.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4251960"/>
            <a:ext cx="10058400" cy="1188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4251960"/>
            <a:ext cx="64008" cy="11887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39" y="4361688"/>
            <a:ext cx="9738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Pause &amp; 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39" y="4873752"/>
            <a:ext cx="97109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If a password is leaked, why can a second factor sent to a phone still keep the account safe?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REAL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MFA examples from the textbook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Look for the two different factors.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4231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92807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Online banking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783080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783080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892807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Password + one-time password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783080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1783080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1892807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Knowledge + possession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07208"/>
            <a:ext cx="24231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807208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2916936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SNS login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07208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2807208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2916936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Password + SMS authentication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2807208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43800" y="2807208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916936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Knowledge + possession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831336"/>
            <a:ext cx="24231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831336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394106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Company laptop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31336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3831336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3941064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Smart card + fingerprint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3831336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43800" y="3831336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941064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Possession + biometric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4855464"/>
            <a:ext cx="24231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855464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496519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Online shopping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91840" y="4855464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91840" y="4855464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4965192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Password + one-time code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43800" y="4855464"/>
            <a:ext cx="3977639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3800" y="4855464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6679" y="4965192"/>
            <a:ext cx="3657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Knowledge + possession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SECURITY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One technology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Different technologies protect against different threats.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743200" cy="914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4008" cy="91440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3852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Encryption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50592"/>
            <a:ext cx="2395728" cy="182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Keeps communication content private.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2743200" cy="914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71800"/>
            <a:ext cx="64008" cy="9144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08152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Digital signature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3593592"/>
            <a:ext cx="2395728" cy="182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Detects tampering / impersonation and supports non-repudiation.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743200" cy="914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64008" cy="91440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22452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Digital certificate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736592"/>
            <a:ext cx="2395728" cy="182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Verifies the communication partner is authentic.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57800"/>
            <a:ext cx="2743200" cy="914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257800"/>
            <a:ext cx="64008" cy="91440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536752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MFA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879592"/>
            <a:ext cx="2395728" cy="182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Prevents unauthorized logins.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1828800"/>
            <a:ext cx="7498079" cy="4343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1828800"/>
            <a:ext cx="64008" cy="43434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40" y="1938528"/>
            <a:ext cx="7178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Online shopping example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2450592"/>
            <a:ext cx="715060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1. HTTPS encryption keeps communication private.</a:t>
            </a:r>
            <a:br/>
            <a:r>
              <a:t>2. Certificate confirms the genuine site.</a:t>
            </a:r>
            <a:br/>
            <a:r>
              <a:t>3. MFA protects the account login.</a:t>
            </a:r>
            <a:br/>
            <a:r>
              <a:t>4. A digital signature can detect tampering.</a:t>
            </a:r>
            <a:br/>
            <a:br/>
            <a:r>
              <a:t>Big idea: layering technologies addresses several threats at once.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question: True or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Mark each statement ○ (true) or × (false).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HTTPS communication uses both public-key cryptography and common-key cryptography.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7889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346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7889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HTTPS communication exchanges all data using public-key cryptography.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56616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" y="365760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0332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6576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MFA combines two or more of the three authentication factors.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43484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452627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57200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52627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Setting two passwords is an example of multi-factor authentication.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WORKED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Answers: True /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Ask students to explain the clue that proves each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9144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64008" cy="749808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47088"/>
            <a:ext cx="594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152"/>
            <a:ext cx="5669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1737360"/>
            <a:ext cx="96012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83080" y="1737360"/>
            <a:ext cx="64008" cy="749808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847088"/>
            <a:ext cx="9281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Why?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59152"/>
            <a:ext cx="92537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HTTPS uses public-key cryptography for key exchange and common-key cryptography for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88920"/>
            <a:ext cx="9144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88920"/>
            <a:ext cx="64008" cy="749808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98648"/>
            <a:ext cx="594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10712"/>
            <a:ext cx="5669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83080" y="2788920"/>
            <a:ext cx="96012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2788920"/>
            <a:ext cx="64008" cy="749808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2898648"/>
            <a:ext cx="9281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Why?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3410712"/>
            <a:ext cx="92537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Common-key cryptography is used for data communication because it is faster.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40479"/>
            <a:ext cx="9144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840479"/>
            <a:ext cx="64008" cy="749808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50207"/>
            <a:ext cx="594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462271"/>
            <a:ext cx="5669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83080" y="3840479"/>
            <a:ext cx="96012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3840479"/>
            <a:ext cx="64008" cy="749808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5960" y="3950207"/>
            <a:ext cx="9281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Why?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4462271"/>
            <a:ext cx="92537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MFA combines two or more different factors.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892040"/>
            <a:ext cx="9144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4892040"/>
            <a:ext cx="64008" cy="749808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001768"/>
            <a:ext cx="594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13831"/>
            <a:ext cx="5669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83080" y="4892040"/>
            <a:ext cx="9601200" cy="74980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4892040"/>
            <a:ext cx="64008" cy="749808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65960" y="5001768"/>
            <a:ext cx="9281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Why?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5513831"/>
            <a:ext cx="9253728" cy="182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Two passwords are both knowledge factors, so they are not different factors.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question: match the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Choices: A Encryption • B Digital signature • C Digital certificate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" y="187451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202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7451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 want to prevent communication content from being read by third parties.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7889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346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7889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 want to verify that data has not been altered during communication.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6118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" y="37033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490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7033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 want to verify that the communication partner is authentic.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4983480"/>
            <a:ext cx="9875520" cy="8229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4983480"/>
            <a:ext cx="64008" cy="8229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5093208"/>
            <a:ext cx="9555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605272"/>
            <a:ext cx="9528048" cy="91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→ A • b → B • c →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6 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Exam-style: explain the combination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7899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64008" cy="14173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7"/>
            <a:ext cx="10469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6-MARK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1044244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Explain why HTTPS uses public-key cryptography to share the key but common-key cryptography to exchange the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3291840" cy="1554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57600"/>
            <a:ext cx="64008" cy="155448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Point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2944368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Public-key cryptography provides safe key sharing.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657600"/>
            <a:ext cx="3291840" cy="1554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657600"/>
            <a:ext cx="64008" cy="155448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279392"/>
            <a:ext cx="2944368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Common-key cryptography exchanges data quickly.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657600"/>
            <a:ext cx="3291840" cy="1554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3657600"/>
            <a:ext cx="64008" cy="155448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Point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279392"/>
            <a:ext cx="2944368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Together they provide security + speed.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2-1 •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Think as an engineer: choose a login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Scenario: a school portal for grades and fee payments.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498348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64008" cy="123444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38528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Option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50592"/>
            <a:ext cx="463600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32D37"/>
                </a:solidFill>
                <a:latin typeface="Aptos"/>
              </a:defRPr>
            </a:pPr>
            <a:r>
              <a:t>Password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498348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828800"/>
            <a:ext cx="64008" cy="123444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38528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50592"/>
            <a:ext cx="463600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Password + one-time password sent to the phone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290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Ask 10 classmates which login methods they use and trust.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For each stakeholder, identify one benefit and one drawback: student • school • student with no smartphone.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Recommend one method and give two reasons based on your survey.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C7D7D"/>
                </a:solidFill>
              </a:defRPr>
            </a:pPr>
            <a:r>
              <a:t>2-2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FFFFFF"/>
                </a:solidFill>
                <a:latin typeface="Aptos Display"/>
              </a:defRPr>
            </a:pPr>
            <a:r>
              <a:t>Network Security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15468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D2DCE6"/>
                </a:solidFill>
                <a:latin typeface="Aptos"/>
              </a:defRPr>
            </a:pPr>
            <a:r>
              <a:t>How firewalls, VPNs, DMZs, endpoints, defense in depth and zero trust work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CORE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A single lock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Modern network security uses several layers so one breach does not expose everything.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21945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47088"/>
            <a:ext cx="1874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Network entry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737360"/>
            <a:ext cx="233172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17520" y="1737360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847088"/>
            <a:ext cx="2011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Firewall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37360"/>
            <a:ext cx="566928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77840" y="1737360"/>
            <a:ext cx="64008" cy="804672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847088"/>
            <a:ext cx="5349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359152"/>
            <a:ext cx="5321808" cy="731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Blocks/allows traffic by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761488"/>
            <a:ext cx="21945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761488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2871216"/>
            <a:ext cx="1874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Communication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2761488"/>
            <a:ext cx="233172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761488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2871216"/>
            <a:ext cx="2011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VPN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761488"/>
            <a:ext cx="566928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77840" y="2761488"/>
            <a:ext cx="64008" cy="804672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871216"/>
            <a:ext cx="5349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3383280"/>
            <a:ext cx="5321808" cy="731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Encrypts remote communication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785616"/>
            <a:ext cx="21945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785616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3895344"/>
            <a:ext cx="1874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Server placement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17520" y="3785616"/>
            <a:ext cx="233172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520" y="3785616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0" y="3895344"/>
            <a:ext cx="2011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DMZ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3785616"/>
            <a:ext cx="566928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77840" y="3785616"/>
            <a:ext cx="64008" cy="804672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895344"/>
            <a:ext cx="5349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0" y="4407408"/>
            <a:ext cx="5321808" cy="731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Separates public-facing servers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809744"/>
            <a:ext cx="219456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809744"/>
            <a:ext cx="64008" cy="804672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" y="4919472"/>
            <a:ext cx="1874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Endpoints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7520" y="4809744"/>
            <a:ext cx="233172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017520" y="4809744"/>
            <a:ext cx="64008" cy="804672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0" y="4919472"/>
            <a:ext cx="2011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Antivirus + updates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77840" y="4809744"/>
            <a:ext cx="5669280" cy="804672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77840" y="4809744"/>
            <a:ext cx="64008" cy="804672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0" y="4919472"/>
            <a:ext cx="5349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431536"/>
            <a:ext cx="5321808" cy="731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Protects individual devices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FIREWALL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Firewall: the network gatekeeper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It allows or denies communication at a network entry/exit point based on preset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65760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64008" cy="356616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385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Example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50592"/>
            <a:ext cx="331012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32D37"/>
                </a:solidFill>
                <a:latin typeface="Aptos"/>
              </a:defRPr>
            </a:pPr>
            <a:r>
              <a:t>Allow access to the web server.</a:t>
            </a:r>
            <a:br/>
            <a:br/>
            <a:r>
              <a:t>Deny direct external access to the database server.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828800"/>
            <a:ext cx="201168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0600" y="1828800"/>
            <a:ext cx="64008" cy="356616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938528"/>
            <a:ext cx="1691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50592"/>
            <a:ext cx="166420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D37"/>
                </a:solidFill>
                <a:latin typeface="Aptos"/>
              </a:defRPr>
            </a:pPr>
            <a:r>
              <a:t>Outside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1828800"/>
            <a:ext cx="182880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760" y="1828800"/>
            <a:ext cx="64008" cy="35661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938528"/>
            <a:ext cx="1508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Firewall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450592"/>
            <a:ext cx="148132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32D37"/>
                </a:solidFill>
                <a:latin typeface="Aptos"/>
              </a:defRPr>
            </a:pPr>
            <a:r>
              <a:t>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1828800"/>
            <a:ext cx="2148840" cy="1554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0" y="1828800"/>
            <a:ext cx="64008" cy="155448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59" y="193852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Web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450592"/>
            <a:ext cx="1801368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Allowed 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3840480"/>
            <a:ext cx="2148840" cy="15544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3840480"/>
            <a:ext cx="64008" cy="155448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59" y="395020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2A44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4462272"/>
            <a:ext cx="1801368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Direct outside access denied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VPN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VPN: a secure tunnel over the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Useful for remote work, branch connections and reducing eavesdropping risk on public Wi‑Fi.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20040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64008" cy="356616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38528"/>
            <a:ext cx="2880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Remote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50592"/>
            <a:ext cx="285292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Connect safely to the organization's network from home or while away.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828800"/>
            <a:ext cx="320040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828800"/>
            <a:ext cx="64008" cy="35661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38528"/>
            <a:ext cx="2880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Connecting branches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450592"/>
            <a:ext cx="285292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Connect offices in different locations safely.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20040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828800"/>
            <a:ext cx="64008" cy="356616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938528"/>
            <a:ext cx="2880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Public Wi‑Fi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50592"/>
            <a:ext cx="285292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Communication is encrypted, reducing the risk of eavesdropping.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DMZ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DMZ: separate public-facing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The goal is to stop an attack on a public server from reaching the internal network.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2148840" cy="3200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64008" cy="320040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2996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180136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D37"/>
                </a:solidFill>
                <a:latin typeface="Aptos"/>
              </a:defRPr>
            </a:pPr>
            <a:r>
              <a:t>Public traffic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1920240"/>
            <a:ext cx="2423160" cy="3200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63240" y="1920240"/>
            <a:ext cx="64008" cy="32004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02996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DMZ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542032"/>
            <a:ext cx="20756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32D37"/>
                </a:solidFill>
                <a:latin typeface="Aptos"/>
              </a:defRPr>
            </a:pPr>
            <a:r>
              <a:t>Web server</a:t>
            </a:r>
            <a:br/>
            <a:r>
              <a:t>Mail server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920240"/>
            <a:ext cx="2103120" cy="3200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1920240"/>
            <a:ext cx="64008" cy="320040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2029968"/>
            <a:ext cx="1783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542032"/>
            <a:ext cx="175564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32D37"/>
                </a:solidFill>
                <a:latin typeface="Aptos"/>
              </a:defRPr>
            </a:pPr>
            <a:r>
              <a:t>Controlled access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1920240"/>
            <a:ext cx="3154680" cy="32004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1920240"/>
            <a:ext cx="64008" cy="320040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59" y="2029968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Internal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59" y="2542032"/>
            <a:ext cx="280720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32D37"/>
                </a:solidFill>
                <a:latin typeface="Aptos"/>
              </a:defRPr>
            </a:pPr>
            <a:r>
              <a:t>Customer data</a:t>
            </a:r>
            <a:br/>
            <a:r>
              <a:t>Private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5440680"/>
            <a:ext cx="10058400" cy="6400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5440680"/>
            <a:ext cx="64008" cy="64008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5550408"/>
            <a:ext cx="9738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Why safer?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062472"/>
            <a:ext cx="9710928" cy="-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An attack on a public-facing server is less able to reach internal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DEFENSE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Defense in depth: if one layer falls, the next holds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2514600" cy="3520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74519"/>
            <a:ext cx="64008" cy="352044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8424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Network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96312"/>
            <a:ext cx="2167128" cy="2788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Firewall</a:t>
            </a:r>
            <a:br/>
            <a:br/>
            <a:r>
              <a:t>Blocks/allows traffic by 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874519"/>
            <a:ext cx="2514600" cy="3520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874519"/>
            <a:ext cx="64008" cy="352044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98424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Communication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496312"/>
            <a:ext cx="2167128" cy="2788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VPN</a:t>
            </a:r>
            <a:br/>
            <a:br/>
            <a:r>
              <a:t>Encrypts remote communication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874519"/>
            <a:ext cx="2514600" cy="3520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874519"/>
            <a:ext cx="64008" cy="352044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98424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Server placement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96312"/>
            <a:ext cx="2167128" cy="2788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DMZ</a:t>
            </a:r>
            <a:br/>
            <a:br/>
            <a:r>
              <a:t>Separates public-facing servers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874519"/>
            <a:ext cx="2514600" cy="3520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874519"/>
            <a:ext cx="64008" cy="352044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19" y="198424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Endpoints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2496312"/>
            <a:ext cx="2167128" cy="2788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Antivirus + updates</a:t>
            </a:r>
            <a:br/>
            <a:br/>
            <a:r>
              <a:t>Protects individual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ZERO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Zero trust: verify every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Do not automatically trust communication just because it comes from “inside.”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5303520" cy="3794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64008" cy="379476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84248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Traditional perimeter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96312"/>
            <a:ext cx="4956048" cy="3063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• “Inside” is treated as safe.</a:t>
            </a:r>
            <a:br/>
            <a:r>
              <a:t>• “Outside” is treated as dangerous.</a:t>
            </a:r>
            <a:br/>
            <a:r>
              <a:t>• Cloud services and remote work blur this boundary.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874519"/>
            <a:ext cx="5303520" cy="37947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874519"/>
            <a:ext cx="64008" cy="37947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984248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Zero trust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496312"/>
            <a:ext cx="4956048" cy="3063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• No communication is trusted automatically.</a:t>
            </a:r>
            <a:br/>
            <a:r>
              <a:t>• Every access is verified.</a:t>
            </a:r>
            <a:br/>
            <a:r>
              <a:t>• Identity and permission checks are performed even for internal access.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question: True or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Mark each statement ○ (true) or × (false).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firewall allows or denies communication based on rules set in advance.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7889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346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7889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Using a VPN can reduce the risk of eavesdropping even on public Wi‑Fi.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56616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" y="365760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0332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6576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DMZ is a system that exposes all servers to the outside.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43484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452627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57200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52627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Defense in depth is the concept of layering multiple security measures.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question: match the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Choices: A Firewall • B VPN • C DMZ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An encrypted virtual private line over the Internet for safe remote connection.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432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8346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803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8346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An area where servers exposed to the outside are separated from the internal network.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6576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" y="374903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947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74903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system that allows or denies communication based on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5029200"/>
            <a:ext cx="9875520" cy="7772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5029200"/>
            <a:ext cx="64008" cy="77724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5138928"/>
            <a:ext cx="9555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650992"/>
            <a:ext cx="9528048" cy="45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→ B • b → C • c →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Which is NOT an appropriate use of a VPN?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Connecting safely from home to an organization's network.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0604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269748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269748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Connecting offices in different locations safely.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832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6968" y="34747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204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34747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Automatically deleting files infected with viruses.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6968" y="425195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29768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425195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Encrypting communication content on public Wi‑Fi.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5166360"/>
            <a:ext cx="9875520" cy="6858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5166360"/>
            <a:ext cx="64008" cy="68580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5276088"/>
            <a:ext cx="9555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2A44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788152"/>
            <a:ext cx="9528048" cy="-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C — deleting infected files is not a VPN function.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6 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Exam-style: why is layering stronger than one firewall?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7899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64008" cy="14173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7"/>
            <a:ext cx="10469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6-MARK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1044244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Explain why layering several security measures (defense in depth) protects an organization better than relying on a firewall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3291840" cy="16002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57600"/>
            <a:ext cx="64008" cy="160020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2944368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Firewall controls network entry.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657600"/>
            <a:ext cx="3291840" cy="16002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657600"/>
            <a:ext cx="64008" cy="16002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279392"/>
            <a:ext cx="2944368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VPN, DMZ and endpoints protect other paths and systems.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657600"/>
            <a:ext cx="3291840" cy="16002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3657600"/>
            <a:ext cx="64008" cy="160020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279392"/>
            <a:ext cx="2944368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If one layer is breached, another can still limit damage.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2-2 •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Think as an engineer: design the company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Scenario: public website + remote staff + confidential customer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List the three assets and the main threat to each.</a:t>
            </a:r>
          </a:p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Rank the four defense-in-depth layers: network entry • communication path • server placement • endpoints.</a:t>
            </a:r>
          </a:p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Recommend a layered design and give two reasons it is safer than a single firewall.</a:t>
            </a:r>
          </a:p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Use zero trust: remember that every access should be verified.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349240"/>
            <a:ext cx="10058400" cy="6400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" y="5349240"/>
            <a:ext cx="64008" cy="64008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458968"/>
            <a:ext cx="9738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Hint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71031"/>
            <a:ext cx="9710928" cy="-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Start with the public website and place it in a DMZ so an attack there cannot reach the internal database.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C7D7D"/>
                </a:solidFill>
              </a:defRPr>
            </a:pPr>
            <a:r>
              <a:t>2-3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FFFFFF"/>
                </a:solidFill>
                <a:latin typeface="Aptos Display"/>
              </a:defRPr>
            </a:pPr>
            <a:r>
              <a:t>Incident Response and Risk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15468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D2DCE6"/>
                </a:solidFill>
                <a:latin typeface="Aptos"/>
              </a:defRPr>
            </a:pPr>
            <a:r>
              <a:t>What to do when something goes wrong — and how to decide which risks deserve attention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SECURITY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What is a security incident?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A situation in which actual damage occurs due to an information security problem.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74519"/>
            <a:ext cx="333756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64008" cy="338328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Information leak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96312"/>
            <a:ext cx="299008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Personal or confidential information is leaked to the outside.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74519"/>
            <a:ext cx="333756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74519"/>
            <a:ext cx="64008" cy="338328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84248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Data tampering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96312"/>
            <a:ext cx="299008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Data inside a system is changed without authorization.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874519"/>
            <a:ext cx="333756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74519"/>
            <a:ext cx="64008" cy="338328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84248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Service outage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96312"/>
            <a:ext cx="299008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A service becomes unavailable because of an attack or similar problem.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INCIDENT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The six stages — learn the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The order matters.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342900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4008" cy="141732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3852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1 • 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50592"/>
            <a:ext cx="308152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Set procedures in advance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28800"/>
            <a:ext cx="342900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28800"/>
            <a:ext cx="64008" cy="14173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3852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2 •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50592"/>
            <a:ext cx="308152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Discover and confirm the incident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42900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828800"/>
            <a:ext cx="64008" cy="141732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93852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3 •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50592"/>
            <a:ext cx="308152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Limit the spread of damage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11880"/>
            <a:ext cx="342900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611880"/>
            <a:ext cx="64008" cy="141732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2160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4 • Eradication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233672"/>
            <a:ext cx="308152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Remove the cause, e.g. malware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611880"/>
            <a:ext cx="342900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611880"/>
            <a:ext cx="64008" cy="141732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72160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5 • Recovery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233672"/>
            <a:ext cx="308152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Return systems/services to normal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611880"/>
            <a:ext cx="342900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611880"/>
            <a:ext cx="64008" cy="141732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721608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6 • Prevention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233672"/>
            <a:ext cx="308152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Analyze cause and prevent recurrence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WHY ORDER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Contain first. Eradicate next. Recover after that.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Example: a malware-infected computer.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24612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64008" cy="338328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2926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Containment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50592"/>
            <a:ext cx="289864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Disconnect the infected machine from the network.</a:t>
            </a:r>
            <a:br/>
            <a:br/>
            <a:r>
              <a:t>Goal: stop damage spreading.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828800"/>
            <a:ext cx="324612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828800"/>
            <a:ext cx="64008" cy="338328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38528"/>
            <a:ext cx="2926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Eradication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450592"/>
            <a:ext cx="289864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Remove the malware and the cause.</a:t>
            </a:r>
            <a:br/>
            <a:br/>
            <a:r>
              <a:t>Goal: stop the source of the problem.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1828800"/>
            <a:ext cx="3246120" cy="338328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20" y="1828800"/>
            <a:ext cx="64008" cy="338328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1938528"/>
            <a:ext cx="2926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Recovery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450592"/>
            <a:ext cx="2898648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Restore a clean system from backup and return to normal operation.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8720" y="5532120"/>
            <a:ext cx="9784080" cy="5029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8720" y="5532120"/>
            <a:ext cx="64008" cy="5029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641848"/>
            <a:ext cx="9464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82A44"/>
                </a:solidFill>
                <a:latin typeface="Aptos"/>
              </a:defRPr>
            </a:pPr>
            <a:r>
              <a:t>Think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153912"/>
            <a:ext cx="9436607" cy="-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D37"/>
                </a:solidFill>
                <a:latin typeface="Aptos"/>
              </a:defRPr>
            </a:pPr>
            <a:r>
              <a:t>If you recover before removing the cause, the same incident may happen again.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Risk = impact × likelihood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Organizations cannot fix every risk at the same time, so they prioritize.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291840" cy="3474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64008" cy="347472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385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2A44"/>
                </a:solidFill>
                <a:latin typeface="Aptos"/>
              </a:defRPr>
            </a:pPr>
            <a:r>
              <a:t>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50592"/>
            <a:ext cx="294436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32D37"/>
                </a:solidFill>
                <a:latin typeface="Aptos"/>
              </a:defRPr>
            </a:pPr>
            <a:r>
              <a:t>How much damage occurs if the risk happens?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28800"/>
            <a:ext cx="3291840" cy="3474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28800"/>
            <a:ext cx="64008" cy="347472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385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2A44"/>
                </a:solidFill>
                <a:latin typeface="Aptos"/>
              </a:defRPr>
            </a:pPr>
            <a:r>
              <a:t>Likelihood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50592"/>
            <a:ext cx="294436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32D37"/>
                </a:solidFill>
                <a:latin typeface="Aptos"/>
              </a:defRPr>
            </a:pPr>
            <a:r>
              <a:t>How probable is it that the risk will happen?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828800"/>
            <a:ext cx="3291840" cy="34747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28800"/>
            <a:ext cx="64008" cy="34747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385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2A44"/>
                </a:solidFill>
                <a:latin typeface="Aptos"/>
              </a:defRPr>
            </a:pPr>
            <a:r>
              <a:t>Risk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50592"/>
            <a:ext cx="294436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32D37"/>
                </a:solidFill>
                <a:latin typeface="Aptos"/>
              </a:defRPr>
            </a:pPr>
            <a:r>
              <a:t>Impact × likelihood</a:t>
            </a:r>
            <a:br/>
            <a:br/>
            <a:r>
              <a:t>High impact + high likelihood → address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RISK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How to prioritize 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The textbook's rule: high impact + high likelihood should be addressed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1828800"/>
            <a:ext cx="1645920" cy="1005840"/>
          </a:xfrm>
          <a:prstGeom prst="rect">
            <a:avLst/>
          </a:prstGeom>
          <a:solidFill>
            <a:srgbClr val="E2F1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2140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28800"/>
            <a:ext cx="1645920" cy="1005840"/>
          </a:xfrm>
          <a:prstGeom prst="rect">
            <a:avLst/>
          </a:prstGeom>
          <a:solidFill>
            <a:srgbClr val="F8EDD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212140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828800"/>
            <a:ext cx="1645920" cy="1005840"/>
          </a:xfrm>
          <a:prstGeom prst="rect">
            <a:avLst/>
          </a:prstGeom>
          <a:solidFill>
            <a:srgbClr val="F5D8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212140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834640"/>
            <a:ext cx="1645920" cy="1005840"/>
          </a:xfrm>
          <a:prstGeom prst="rect">
            <a:avLst/>
          </a:prstGeom>
          <a:solidFill>
            <a:srgbClr val="F8EDD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312724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Medium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834640"/>
            <a:ext cx="1645920" cy="1005840"/>
          </a:xfrm>
          <a:prstGeom prst="rect">
            <a:avLst/>
          </a:prstGeom>
          <a:solidFill>
            <a:srgbClr val="F5D8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312724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2834640"/>
            <a:ext cx="1645920" cy="1005840"/>
          </a:xfrm>
          <a:prstGeom prst="rect">
            <a:avLst/>
          </a:prstGeom>
          <a:solidFill>
            <a:srgbClr val="F5D8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312724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High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3840480"/>
            <a:ext cx="1645920" cy="1005840"/>
          </a:xfrm>
          <a:prstGeom prst="rect">
            <a:avLst/>
          </a:prstGeom>
          <a:solidFill>
            <a:srgbClr val="F5D8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413308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840480"/>
            <a:ext cx="1645920" cy="1005840"/>
          </a:xfrm>
          <a:prstGeom prst="rect">
            <a:avLst/>
          </a:prstGeom>
          <a:solidFill>
            <a:srgbClr val="F5D8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413308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High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3840480"/>
            <a:ext cx="1645920" cy="1005840"/>
          </a:xfrm>
          <a:prstGeom prst="rect">
            <a:avLst/>
          </a:prstGeom>
          <a:solidFill>
            <a:srgbClr val="F5D8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413308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32D37"/>
                </a:solidFill>
              </a:defRPr>
            </a:pPr>
            <a:r>
              <a:t>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07492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</a:defRPr>
            </a:pPr>
            <a:r>
              <a:t>Likelihood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7889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82A44"/>
                </a:solidFill>
              </a:defRPr>
            </a:pPr>
            <a:r>
              <a:t>Impact</a:t>
            </a:r>
            <a:br/>
            <a:r>
              <a:t>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1828800"/>
            <a:ext cx="4297680" cy="30175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40880" y="1828800"/>
            <a:ext cx="64008" cy="30175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1938528"/>
            <a:ext cx="3977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Priority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2450592"/>
            <a:ext cx="3950208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High impact + high likelihood = highest priority.</a:t>
            </a:r>
            <a:br/>
            <a:br/>
            <a:r>
              <a:t>Do not focus only on impact or only on likelihood.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question: True or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Mark each statement ○ (true) or × (false).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security incident is a situation in which actual damage occurs due to an information security problem.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7889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346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7889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In incident response, it is important to first prevent the spread of damage before removing the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56616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" y="365760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0332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6576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The size of a risk can be determined by impact alone.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43484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452627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57200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52627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The final stage of incident response is prevention of recurrence.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question: identify the response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Choices: A Preparation • B Containment • C Eradication • D Prevention of recurrence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6968" y="182880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874519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288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Establishing response procedures in advance, in preparation for incidents.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39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69747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743199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69747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Disconnecting a malware-infected computer from the network.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47472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" y="356616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611879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56616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Removing the malware infection.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3434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44348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805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4348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Analyzing the cause and taking measures so that the same incident does not occur again.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257800"/>
            <a:ext cx="10149840" cy="6858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257800"/>
            <a:ext cx="64008" cy="68580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367528"/>
            <a:ext cx="9829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2A44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879592"/>
            <a:ext cx="9802367" cy="-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a → A • b → B • c → C • d →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Book-style short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Answer with the key term.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1. What is the term for a situation in which actual damage occurs due to an information security problem?</a:t>
            </a:r>
          </a:p>
          <a:p>
            <a:pPr>
              <a:spcAft>
                <a:spcPts val="9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2. Name the six stages of incident response in order.</a:t>
            </a:r>
          </a:p>
          <a:p>
            <a:pPr>
              <a:spcAft>
                <a:spcPts val="9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3. What are the two factors used to determine the size of a risk?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5074920"/>
            <a:ext cx="10149840" cy="8229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5074920"/>
            <a:ext cx="64008" cy="8229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5184648"/>
            <a:ext cx="9829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696712"/>
            <a:ext cx="9802367" cy="91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1. Security incident  •  2. Preparation → Detection → Containment → Eradication → Recovery → Prevention of recurrence  •  3. Impact + likelihood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Which option is NOT a security incident?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Data was encrypted by a ransomware infection.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0604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269748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269748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Customer information was leaked through unauthorized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832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6968" y="34747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204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34747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software update was performed to add new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6968" y="425195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29768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425195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 web service became unavailable due to an attack.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5166360"/>
            <a:ext cx="9875520" cy="6858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5166360"/>
            <a:ext cx="64008" cy="68580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5276088"/>
            <a:ext cx="9555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2A44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788152"/>
            <a:ext cx="9528048" cy="-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2D37"/>
                </a:solidFill>
                <a:latin typeface="Aptos"/>
              </a:defRPr>
            </a:pPr>
            <a:r>
              <a:t>C — a normal software update is not a security incident.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Which statement best describes risk assessment?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6968" y="192024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6596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2024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It is enough to address only risks with large impact.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0604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269748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269748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It is enough to address only risks with high likelihood.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8328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6968" y="3474720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2044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347472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Risks with both high impact and high likelihood should be addressed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10424160" cy="566928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6968" y="4251959"/>
            <a:ext cx="384048" cy="384048"/>
          </a:xfrm>
          <a:prstGeom prst="ellipse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297680"/>
            <a:ext cx="384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4251959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All risks must be addressed simultaneously.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5166360"/>
            <a:ext cx="9875520" cy="68580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5166360"/>
            <a:ext cx="64008" cy="685800"/>
          </a:xfrm>
          <a:prstGeom prst="rect">
            <a:avLst/>
          </a:prstGeom>
          <a:solidFill>
            <a:srgbClr val="37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5276088"/>
            <a:ext cx="9555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2A44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788152"/>
            <a:ext cx="9528048" cy="-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C — risk size depends on impact × likelihood, and high-high risks get priority.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6 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Exam-style: why must the six stages be in order?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7899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64008" cy="14173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7"/>
            <a:ext cx="10469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6-MARK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1044244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Explain why the six stages of incident response must be carried out in order, using recovery and eradication as an example.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3291840" cy="16459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57600"/>
            <a:ext cx="64008" cy="1645920"/>
          </a:xfrm>
          <a:prstGeom prst="rect">
            <a:avLst/>
          </a:prstGeom>
          <a:solidFill>
            <a:srgbClr val="B4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Eradication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294436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Remove the cause, such as malware.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657600"/>
            <a:ext cx="3291840" cy="16459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657600"/>
            <a:ext cx="64008" cy="1645920"/>
          </a:xfrm>
          <a:prstGeom prst="rect">
            <a:avLst/>
          </a:prstGeom>
          <a:solidFill>
            <a:srgbClr val="695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Then 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279392"/>
            <a:ext cx="294436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Restore the system to a clean, normal state.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657600"/>
            <a:ext cx="3291840" cy="164592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3657600"/>
            <a:ext cx="64008" cy="164592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767328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82A44"/>
                </a:solidFill>
                <a:latin typeface="Aptos"/>
              </a:defRPr>
            </a:pPr>
            <a:r>
              <a:t>Why order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279392"/>
            <a:ext cx="294436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If the cause remains, the same incident can return.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2-3 •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Think as an engineer: a school has ransomware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The student-records system is hit: files are encrypted and staff cannot log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320040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" cy="123444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2880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A44"/>
                </a:solidFill>
                <a:latin typeface="Aptos"/>
              </a:defRPr>
            </a:pPr>
            <a:r>
              <a:t>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285292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32D37"/>
                </a:solidFill>
                <a:latin typeface="Aptos"/>
              </a:defRPr>
            </a:pPr>
            <a:r>
              <a:t>The incident has just been detected.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Starting from detection, list the stages still to carry out.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For each stage, explain what it means for this incident.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Compare two risks: another ransomware attack vs. a brief power cut.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Estimate impact and likelihood, then decide which risk to address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CHAPTER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FFFFF"/>
                </a:solidFill>
                <a:latin typeface="Aptos Display"/>
              </a:defRPr>
            </a:pPr>
            <a:r>
              <a:t>Chapter 2 • The security mindset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38328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64008" cy="3566160"/>
          </a:xfrm>
          <a:prstGeom prst="rect">
            <a:avLst/>
          </a:prstGeom>
          <a:solidFill>
            <a:srgbClr val="2B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38528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82A44"/>
                </a:solidFill>
                <a:latin typeface="Aptos"/>
              </a:defRPr>
            </a:pPr>
            <a:r>
              <a:t>2-1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303580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HTTPS combines safe key sharing + fast data exchange.</a:t>
            </a:r>
            <a:br/>
            <a:br/>
            <a:r>
              <a:t>MFA combines different factors.</a:t>
            </a:r>
            <a:br/>
            <a:br/>
            <a:r>
              <a:t>Security technologies work best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828800"/>
            <a:ext cx="338328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828800"/>
            <a:ext cx="64008" cy="35661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38528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82A44"/>
                </a:solidFill>
                <a:latin typeface="Aptos"/>
              </a:defRPr>
            </a:pPr>
            <a:r>
              <a:t>2-2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50592"/>
            <a:ext cx="303580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Use layers: firewall + VPN + DMZ + endpoints.</a:t>
            </a:r>
            <a:br/>
            <a:br/>
            <a:r>
              <a:t>Defense in depth limits damage.</a:t>
            </a:r>
            <a:br/>
            <a:br/>
            <a:r>
              <a:t>Zero trust = verify every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383280" cy="35661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64008" cy="3566160"/>
          </a:xfrm>
          <a:prstGeom prst="rect">
            <a:avLst/>
          </a:prstGeom>
          <a:solidFill>
            <a:srgbClr val="D27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1938528"/>
            <a:ext cx="3063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82A44"/>
                </a:solidFill>
                <a:latin typeface="Aptos"/>
              </a:defRPr>
            </a:pPr>
            <a:r>
              <a:t>2-3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450592"/>
            <a:ext cx="3035808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D37"/>
                </a:solidFill>
                <a:latin typeface="Aptos"/>
              </a:defRPr>
            </a:pPr>
            <a:r>
              <a:t>Prepare → Detect → Contain → Eradicate → Recover → Prevent.</a:t>
            </a:r>
            <a:br/>
            <a:br/>
            <a:r>
              <a:t>Risk = impact × likelihood.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Chapter 2 • Cybersecurity • Key takeaway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C7D7D"/>
                </a:solidFill>
                <a:latin typeface="Aptos"/>
              </a:defRPr>
            </a:pPr>
            <a:r>
              <a:t>FINAL CLASSROOM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2860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28C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2A44"/>
                </a:solidFill>
                <a:latin typeface="Aptos Display"/>
              </a:defRPr>
            </a:pPr>
            <a:r>
              <a:t>One scenario — use everything you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8828C"/>
                </a:solidFill>
                <a:latin typeface="Aptos"/>
              </a:defRPr>
            </a:pPr>
            <a:r>
              <a:t>An online school portal stores student records, has a public website, and allows teachers to work from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424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1. Which technologies should protect the website and internal network? Explain where they belong.</a:t>
            </a:r>
          </a:p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2. Which authentication method would you recommend for teachers? Explain why.</a:t>
            </a:r>
          </a:p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3. If ransomware is detected, what are the next stages of response?</a:t>
            </a:r>
          </a:p>
          <a:p>
            <a:pPr>
              <a:spcAft>
                <a:spcPts val="9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4. The school must choose between two risks. How would impact × likelihood help it decide?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440680"/>
            <a:ext cx="10058400" cy="594360"/>
          </a:xfrm>
          <a:prstGeom prst="roundRect">
            <a:avLst/>
          </a:prstGeom>
          <a:solidFill>
            <a:srgbClr val="F4F7FA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" y="5440680"/>
            <a:ext cx="64008" cy="594360"/>
          </a:xfrm>
          <a:prstGeom prst="rect">
            <a:avLst/>
          </a:prstGeom>
          <a:solidFill>
            <a:srgbClr val="1C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550408"/>
            <a:ext cx="9738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A44"/>
                </a:solidFill>
                <a:latin typeface="Aptos"/>
              </a:defRPr>
            </a:pPr>
            <a:r>
              <a:t>Teacher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6062472"/>
            <a:ext cx="9710928" cy="-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D37"/>
                </a:solidFill>
                <a:latin typeface="Aptos"/>
              </a:defRPr>
            </a:pPr>
            <a:r>
              <a:t>Students should explain the reason for a security measure, not only memorize its name.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8C"/>
                </a:solidFill>
                <a:latin typeface="Aptos"/>
              </a:defRPr>
            </a:pPr>
            <a:r>
              <a:t>Programming and Artificial Intelligence • Part One • Chapter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