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4" d="100"/>
          <a:sy n="74" d="100"/>
        </p:scale>
        <p:origin x="1013"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869680" y="731520"/>
            <a:ext cx="2194560" cy="2194560"/>
          </a:xfrm>
          <a:prstGeom prst="ellipse">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875520" y="4023360"/>
            <a:ext cx="1371600" cy="1371600"/>
          </a:xfrm>
          <a:prstGeom prst="ellipse">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955279" y="4663440"/>
            <a:ext cx="914400" cy="914400"/>
          </a:xfrm>
          <a:prstGeom prst="ellipse">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85800"/>
            <a:ext cx="7132320" cy="411480"/>
          </a:xfrm>
          <a:prstGeom prst="rect">
            <a:avLst/>
          </a:prstGeom>
          <a:noFill/>
        </p:spPr>
        <p:txBody>
          <a:bodyPr wrap="square" lIns="27432" tIns="27432" rIns="27432" bIns="27432" anchor="t">
            <a:spAutoFit/>
          </a:bodyPr>
          <a:lstStyle/>
          <a:p>
            <a:pPr algn="l"/>
            <a:r>
              <a:rPr sz="1200" b="1">
                <a:solidFill>
                  <a:srgbClr val="F6BE46"/>
                </a:solidFill>
                <a:latin typeface="Aptos"/>
              </a:rPr>
              <a:t>EGYPTIAN BACCALAUREATE • YEAR 2</a:t>
            </a:r>
          </a:p>
        </p:txBody>
      </p:sp>
      <p:sp>
        <p:nvSpPr>
          <p:cNvPr id="7" name="TextBox 6"/>
          <p:cNvSpPr txBox="1"/>
          <p:nvPr/>
        </p:nvSpPr>
        <p:spPr>
          <a:xfrm>
            <a:off x="658368" y="1325880"/>
            <a:ext cx="7589520" cy="1508760"/>
          </a:xfrm>
          <a:prstGeom prst="rect">
            <a:avLst/>
          </a:prstGeom>
          <a:noFill/>
        </p:spPr>
        <p:txBody>
          <a:bodyPr wrap="square" lIns="27432" tIns="27432" rIns="27432" bIns="27432" anchor="t">
            <a:spAutoFit/>
          </a:bodyPr>
          <a:lstStyle/>
          <a:p>
            <a:pPr algn="l"/>
            <a:r>
              <a:rPr sz="4200" b="1">
                <a:solidFill>
                  <a:srgbClr val="FFFFFF"/>
                </a:solidFill>
                <a:latin typeface="Aptos Display"/>
              </a:rPr>
              <a:t>Information Technology
&amp; Society</a:t>
            </a:r>
          </a:p>
        </p:txBody>
      </p:sp>
      <p:sp>
        <p:nvSpPr>
          <p:cNvPr id="8" name="TextBox 7"/>
          <p:cNvSpPr txBox="1"/>
          <p:nvPr/>
        </p:nvSpPr>
        <p:spPr>
          <a:xfrm>
            <a:off x="685800" y="3154680"/>
            <a:ext cx="6858000" cy="685800"/>
          </a:xfrm>
          <a:prstGeom prst="rect">
            <a:avLst/>
          </a:prstGeom>
          <a:noFill/>
        </p:spPr>
        <p:txBody>
          <a:bodyPr wrap="square" lIns="27432" tIns="27432" rIns="27432" bIns="27432" anchor="t">
            <a:spAutoFit/>
          </a:bodyPr>
          <a:lstStyle/>
          <a:p>
            <a:pPr algn="l"/>
            <a:r>
              <a:rPr sz="2300" b="0">
                <a:solidFill>
                  <a:srgbClr val="D2E1EB"/>
                </a:solidFill>
                <a:latin typeface="Aptos"/>
              </a:rPr>
              <a:t>Chapter 1 teaching presentation</a:t>
            </a:r>
          </a:p>
        </p:txBody>
      </p:sp>
      <p:sp>
        <p:nvSpPr>
          <p:cNvPr id="9" name="TextBox 8"/>
          <p:cNvSpPr txBox="1"/>
          <p:nvPr/>
        </p:nvSpPr>
        <p:spPr>
          <a:xfrm>
            <a:off x="685800" y="4160520"/>
            <a:ext cx="6949440" cy="1005840"/>
          </a:xfrm>
          <a:prstGeom prst="rect">
            <a:avLst/>
          </a:prstGeom>
          <a:noFill/>
        </p:spPr>
        <p:txBody>
          <a:bodyPr wrap="square" lIns="27432" tIns="27432" rIns="27432" bIns="27432" anchor="t">
            <a:spAutoFit/>
          </a:bodyPr>
          <a:lstStyle/>
          <a:p>
            <a:pPr algn="l"/>
            <a:r>
              <a:rPr sz="1700" b="0">
                <a:solidFill>
                  <a:srgbClr val="BED0DC"/>
                </a:solidFill>
                <a:latin typeface="Aptos"/>
              </a:rPr>
              <a:t>Simple explanations • real-life examples • book-style questions • exam practice</a:t>
            </a:r>
          </a:p>
        </p:txBody>
      </p:sp>
      <p:sp>
        <p:nvSpPr>
          <p:cNvPr id="10" name="Rounded Rectangle 9"/>
          <p:cNvSpPr/>
          <p:nvPr/>
        </p:nvSpPr>
        <p:spPr>
          <a:xfrm>
            <a:off x="685800" y="5577840"/>
            <a:ext cx="2194560" cy="347472"/>
          </a:xfrm>
          <a:prstGeom prst="round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5614416"/>
            <a:ext cx="2048255" cy="237744"/>
          </a:xfrm>
          <a:prstGeom prst="rect">
            <a:avLst/>
          </a:prstGeom>
          <a:noFill/>
        </p:spPr>
        <p:txBody>
          <a:bodyPr wrap="square" lIns="27432" tIns="27432" rIns="27432" bIns="27432" anchor="ctr">
            <a:spAutoFit/>
          </a:bodyPr>
          <a:lstStyle/>
          <a:p>
            <a:pPr algn="ctr"/>
            <a:r>
              <a:rPr sz="1000" b="1">
                <a:solidFill>
                  <a:srgbClr val="FFFFFF"/>
                </a:solidFill>
                <a:latin typeface="Aptos"/>
              </a:rPr>
              <a:t>FOR AGE 16</a:t>
            </a:r>
          </a:p>
        </p:txBody>
      </p:sp>
      <p:sp>
        <p:nvSpPr>
          <p:cNvPr id="12" name="TextBox 11"/>
          <p:cNvSpPr txBox="1"/>
          <p:nvPr/>
        </p:nvSpPr>
        <p:spPr>
          <a:xfrm>
            <a:off x="685800" y="6172200"/>
            <a:ext cx="7315200" cy="228600"/>
          </a:xfrm>
          <a:prstGeom prst="rect">
            <a:avLst/>
          </a:prstGeom>
          <a:noFill/>
        </p:spPr>
        <p:txBody>
          <a:bodyPr wrap="square" lIns="27432" tIns="27432" rIns="27432" bIns="27432" anchor="t">
            <a:spAutoFit/>
          </a:bodyPr>
          <a:lstStyle/>
          <a:p>
            <a:pPr algn="l"/>
            <a:r>
              <a:rPr sz="900" b="0">
                <a:solidFill>
                  <a:srgbClr val="A5B9C6"/>
                </a:solidFill>
                <a:latin typeface="Aptos"/>
              </a:rPr>
              <a:t>Based on Programming and Artificial Intelligence • Part One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How to use this lesson</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TEACHER ROADMAP</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2</a:t>
            </a:r>
          </a:p>
        </p:txBody>
      </p:sp>
      <p:sp>
        <p:nvSpPr>
          <p:cNvPr id="7" name="Rounded Rectangle 6"/>
          <p:cNvSpPr/>
          <p:nvPr/>
        </p:nvSpPr>
        <p:spPr>
          <a:xfrm>
            <a:off x="640080" y="1234440"/>
            <a:ext cx="3429000" cy="1828800"/>
          </a:xfrm>
          <a:prstGeom prst="roundRect">
            <a:avLst/>
          </a:prstGeom>
          <a:solidFill>
            <a:srgbClr val="E7F1F8"/>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234440"/>
            <a:ext cx="73152" cy="1828800"/>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371600"/>
            <a:ext cx="3063240" cy="320040"/>
          </a:xfrm>
          <a:prstGeom prst="rect">
            <a:avLst/>
          </a:prstGeom>
          <a:noFill/>
        </p:spPr>
        <p:txBody>
          <a:bodyPr wrap="square" lIns="27432" tIns="27432" rIns="27432" bIns="27432" anchor="t">
            <a:spAutoFit/>
          </a:bodyPr>
          <a:lstStyle/>
          <a:p>
            <a:pPr algn="l"/>
            <a:r>
              <a:rPr sz="1700" b="1">
                <a:solidFill>
                  <a:srgbClr val="122A42"/>
                </a:solidFill>
                <a:latin typeface="Aptos"/>
              </a:rPr>
              <a:t>1 • Understand</a:t>
            </a:r>
          </a:p>
        </p:txBody>
      </p:sp>
      <p:sp>
        <p:nvSpPr>
          <p:cNvPr id="10" name="TextBox 9"/>
          <p:cNvSpPr txBox="1"/>
          <p:nvPr/>
        </p:nvSpPr>
        <p:spPr>
          <a:xfrm>
            <a:off x="841247" y="1764792"/>
            <a:ext cx="3063240" cy="1170432"/>
          </a:xfrm>
          <a:prstGeom prst="rect">
            <a:avLst/>
          </a:prstGeom>
          <a:noFill/>
        </p:spPr>
        <p:txBody>
          <a:bodyPr wrap="square" lIns="27432" tIns="27432" rIns="27432" bIns="27432" anchor="t">
            <a:spAutoFit/>
          </a:bodyPr>
          <a:lstStyle/>
          <a:p>
            <a:pPr algn="l"/>
            <a:r>
              <a:rPr sz="1500" b="0">
                <a:solidFill>
                  <a:srgbClr val="26303A"/>
                </a:solidFill>
                <a:latin typeface="Aptos"/>
              </a:rPr>
              <a:t>Start with the simple idea.
Connect it to something students already use.</a:t>
            </a:r>
          </a:p>
        </p:txBody>
      </p:sp>
      <p:sp>
        <p:nvSpPr>
          <p:cNvPr id="11" name="Rounded Rectangle 10"/>
          <p:cNvSpPr/>
          <p:nvPr/>
        </p:nvSpPr>
        <p:spPr>
          <a:xfrm>
            <a:off x="4389120" y="1234440"/>
            <a:ext cx="3429000" cy="182880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234440"/>
            <a:ext cx="73152" cy="18288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0288" y="1371600"/>
            <a:ext cx="3063240" cy="320040"/>
          </a:xfrm>
          <a:prstGeom prst="rect">
            <a:avLst/>
          </a:prstGeom>
          <a:noFill/>
        </p:spPr>
        <p:txBody>
          <a:bodyPr wrap="square" lIns="27432" tIns="27432" rIns="27432" bIns="27432" anchor="t">
            <a:spAutoFit/>
          </a:bodyPr>
          <a:lstStyle/>
          <a:p>
            <a:pPr algn="l"/>
            <a:r>
              <a:rPr sz="1700" b="1">
                <a:solidFill>
                  <a:srgbClr val="122A42"/>
                </a:solidFill>
                <a:latin typeface="Aptos"/>
              </a:rPr>
              <a:t>2 • Discuss</a:t>
            </a:r>
          </a:p>
        </p:txBody>
      </p:sp>
      <p:sp>
        <p:nvSpPr>
          <p:cNvPr id="14" name="TextBox 13"/>
          <p:cNvSpPr txBox="1"/>
          <p:nvPr/>
        </p:nvSpPr>
        <p:spPr>
          <a:xfrm>
            <a:off x="4590288" y="1764792"/>
            <a:ext cx="3063240" cy="1170432"/>
          </a:xfrm>
          <a:prstGeom prst="rect">
            <a:avLst/>
          </a:prstGeom>
          <a:noFill/>
        </p:spPr>
        <p:txBody>
          <a:bodyPr wrap="square" lIns="27432" tIns="27432" rIns="27432" bIns="27432" anchor="t">
            <a:spAutoFit/>
          </a:bodyPr>
          <a:lstStyle/>
          <a:p>
            <a:pPr algn="l"/>
            <a:r>
              <a:rPr sz="1500" b="0">
                <a:solidFill>
                  <a:srgbClr val="26303A"/>
                </a:solidFill>
                <a:latin typeface="Aptos"/>
              </a:rPr>
              <a:t>Use the “Pause &amp; Think” questions.
Let students justify their answers.</a:t>
            </a:r>
          </a:p>
        </p:txBody>
      </p:sp>
      <p:sp>
        <p:nvSpPr>
          <p:cNvPr id="15" name="Rounded Rectangle 14"/>
          <p:cNvSpPr/>
          <p:nvPr/>
        </p:nvSpPr>
        <p:spPr>
          <a:xfrm>
            <a:off x="8138160" y="1234440"/>
            <a:ext cx="3429000" cy="1828800"/>
          </a:xfrm>
          <a:prstGeom prst="roundRect">
            <a:avLst/>
          </a:prstGeom>
          <a:solidFill>
            <a:srgbClr val="FDF1E1"/>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234440"/>
            <a:ext cx="73152" cy="1828800"/>
          </a:xfrm>
          <a:prstGeom prst="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8" y="1371600"/>
            <a:ext cx="3063240" cy="320040"/>
          </a:xfrm>
          <a:prstGeom prst="rect">
            <a:avLst/>
          </a:prstGeom>
          <a:noFill/>
        </p:spPr>
        <p:txBody>
          <a:bodyPr wrap="square" lIns="27432" tIns="27432" rIns="27432" bIns="27432" anchor="t">
            <a:spAutoFit/>
          </a:bodyPr>
          <a:lstStyle/>
          <a:p>
            <a:pPr algn="l"/>
            <a:r>
              <a:rPr sz="1700" b="1">
                <a:solidFill>
                  <a:srgbClr val="122A42"/>
                </a:solidFill>
                <a:latin typeface="Aptos"/>
              </a:rPr>
              <a:t>3 • Practise</a:t>
            </a:r>
          </a:p>
        </p:txBody>
      </p:sp>
      <p:sp>
        <p:nvSpPr>
          <p:cNvPr id="18" name="TextBox 17"/>
          <p:cNvSpPr txBox="1"/>
          <p:nvPr/>
        </p:nvSpPr>
        <p:spPr>
          <a:xfrm>
            <a:off x="8339328" y="1764792"/>
            <a:ext cx="3063240" cy="1170432"/>
          </a:xfrm>
          <a:prstGeom prst="rect">
            <a:avLst/>
          </a:prstGeom>
          <a:noFill/>
        </p:spPr>
        <p:txBody>
          <a:bodyPr wrap="square" lIns="27432" tIns="27432" rIns="27432" bIns="27432" anchor="t">
            <a:spAutoFit/>
          </a:bodyPr>
          <a:lstStyle/>
          <a:p>
            <a:pPr algn="l"/>
            <a:r>
              <a:rPr sz="1500" b="0">
                <a:solidFill>
                  <a:srgbClr val="26303A"/>
                </a:solidFill>
                <a:latin typeface="Aptos"/>
              </a:rPr>
              <a:t>Show the exact style of questions:
MCQ, True/False, matching, short answer, 6-mark.</a:t>
            </a:r>
          </a:p>
        </p:txBody>
      </p:sp>
      <p:sp>
        <p:nvSpPr>
          <p:cNvPr id="19" name="TextBox 18"/>
          <p:cNvSpPr txBox="1"/>
          <p:nvPr/>
        </p:nvSpPr>
        <p:spPr>
          <a:xfrm>
            <a:off x="685800" y="3749039"/>
            <a:ext cx="10698480" cy="457200"/>
          </a:xfrm>
          <a:prstGeom prst="rect">
            <a:avLst/>
          </a:prstGeom>
          <a:noFill/>
        </p:spPr>
        <p:txBody>
          <a:bodyPr wrap="square" lIns="27432" tIns="27432" rIns="27432" bIns="27432" anchor="t">
            <a:spAutoFit/>
          </a:bodyPr>
          <a:lstStyle/>
          <a:p>
            <a:pPr algn="l"/>
            <a:r>
              <a:rPr sz="1700" b="1">
                <a:solidFill>
                  <a:srgbClr val="122A42"/>
                </a:solidFill>
                <a:latin typeface="Aptos"/>
              </a:rPr>
              <a:t>Chapter goal</a:t>
            </a:r>
          </a:p>
        </p:txBody>
      </p:sp>
      <p:sp>
        <p:nvSpPr>
          <p:cNvPr id="20" name="TextBox 19"/>
          <p:cNvSpPr txBox="1"/>
          <p:nvPr/>
        </p:nvSpPr>
        <p:spPr>
          <a:xfrm>
            <a:off x="685800" y="4251960"/>
            <a:ext cx="10515600" cy="1143000"/>
          </a:xfrm>
          <a:prstGeom prst="rect">
            <a:avLst/>
          </a:prstGeom>
          <a:noFill/>
        </p:spPr>
        <p:txBody>
          <a:bodyPr wrap="square" lIns="27432" tIns="27432" rIns="27432" bIns="27432" anchor="t">
            <a:spAutoFit/>
          </a:bodyPr>
          <a:lstStyle/>
          <a:p>
            <a:pPr algn="l"/>
            <a:r>
              <a:rPr sz="2200" b="1">
                <a:solidFill>
                  <a:srgbClr val="26303A"/>
                </a:solidFill>
                <a:latin typeface="Aptos"/>
              </a:rPr>
              <a:t>Students should see that technology does not only make machines faster — it changes how people communicate, work, learn, buy, and make decisions.</a:t>
            </a:r>
          </a:p>
        </p:txBody>
      </p:sp>
      <p:sp>
        <p:nvSpPr>
          <p:cNvPr id="21" name="TextBox 20"/>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Chapter 1 at a glance</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INFORMATION TECHNOLOGY AND SOCIETY</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3</a:t>
            </a:r>
          </a:p>
        </p:txBody>
      </p:sp>
      <p:sp>
        <p:nvSpPr>
          <p:cNvPr id="7" name="Rounded Rectangle 6"/>
          <p:cNvSpPr/>
          <p:nvPr/>
        </p:nvSpPr>
        <p:spPr>
          <a:xfrm>
            <a:off x="685800" y="1143000"/>
            <a:ext cx="868680" cy="347472"/>
          </a:xfrm>
          <a:prstGeom prst="round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1179576"/>
            <a:ext cx="722375" cy="237744"/>
          </a:xfrm>
          <a:prstGeom prst="rect">
            <a:avLst/>
          </a:prstGeom>
          <a:noFill/>
        </p:spPr>
        <p:txBody>
          <a:bodyPr wrap="square" lIns="27432" tIns="27432" rIns="27432" bIns="27432" anchor="ctr">
            <a:spAutoFit/>
          </a:bodyPr>
          <a:lstStyle/>
          <a:p>
            <a:pPr algn="ctr"/>
            <a:r>
              <a:rPr sz="1000" b="1">
                <a:solidFill>
                  <a:srgbClr val="FFFFFF"/>
                </a:solidFill>
                <a:latin typeface="Aptos"/>
              </a:rPr>
              <a:t>1-1</a:t>
            </a:r>
          </a:p>
        </p:txBody>
      </p:sp>
      <p:sp>
        <p:nvSpPr>
          <p:cNvPr id="9" name="TextBox 8"/>
          <p:cNvSpPr txBox="1"/>
          <p:nvPr/>
        </p:nvSpPr>
        <p:spPr>
          <a:xfrm>
            <a:off x="1737360" y="1124712"/>
            <a:ext cx="4114800" cy="347472"/>
          </a:xfrm>
          <a:prstGeom prst="rect">
            <a:avLst/>
          </a:prstGeom>
          <a:noFill/>
        </p:spPr>
        <p:txBody>
          <a:bodyPr wrap="square" lIns="27432" tIns="27432" rIns="27432" bIns="27432" anchor="t">
            <a:spAutoFit/>
          </a:bodyPr>
          <a:lstStyle/>
          <a:p>
            <a:pPr algn="l"/>
            <a:r>
              <a:rPr sz="1800" b="1">
                <a:solidFill>
                  <a:srgbClr val="122A42"/>
                </a:solidFill>
                <a:latin typeface="Aptos"/>
              </a:rPr>
              <a:t>Development of IT &amp; Social Transformation</a:t>
            </a:r>
          </a:p>
        </p:txBody>
      </p:sp>
      <p:sp>
        <p:nvSpPr>
          <p:cNvPr id="10" name="TextBox 9"/>
          <p:cNvSpPr txBox="1"/>
          <p:nvPr/>
        </p:nvSpPr>
        <p:spPr>
          <a:xfrm>
            <a:off x="5715000" y="1124712"/>
            <a:ext cx="5669280" cy="457200"/>
          </a:xfrm>
          <a:prstGeom prst="rect">
            <a:avLst/>
          </a:prstGeom>
          <a:noFill/>
        </p:spPr>
        <p:txBody>
          <a:bodyPr wrap="square" lIns="27432" tIns="27432" rIns="27432" bIns="27432" anchor="t">
            <a:spAutoFit/>
          </a:bodyPr>
          <a:lstStyle/>
          <a:p>
            <a:pPr algn="l"/>
            <a:r>
              <a:rPr sz="1400" b="0">
                <a:solidFill>
                  <a:srgbClr val="66737E"/>
                </a:solidFill>
                <a:latin typeface="Aptos"/>
              </a:rPr>
              <a:t>History • Moore’s Law • social change • emerging tech</a:t>
            </a:r>
          </a:p>
        </p:txBody>
      </p:sp>
      <p:sp>
        <p:nvSpPr>
          <p:cNvPr id="11" name="Rounded Rectangle 10"/>
          <p:cNvSpPr/>
          <p:nvPr/>
        </p:nvSpPr>
        <p:spPr>
          <a:xfrm>
            <a:off x="685800" y="2377440"/>
            <a:ext cx="868680" cy="347472"/>
          </a:xfrm>
          <a:prstGeom prst="round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 y="2414016"/>
            <a:ext cx="722375" cy="237744"/>
          </a:xfrm>
          <a:prstGeom prst="rect">
            <a:avLst/>
          </a:prstGeom>
          <a:noFill/>
        </p:spPr>
        <p:txBody>
          <a:bodyPr wrap="square" lIns="27432" tIns="27432" rIns="27432" bIns="27432" anchor="ctr">
            <a:spAutoFit/>
          </a:bodyPr>
          <a:lstStyle/>
          <a:p>
            <a:pPr algn="ctr"/>
            <a:r>
              <a:rPr sz="1000" b="1">
                <a:solidFill>
                  <a:srgbClr val="FFFFFF"/>
                </a:solidFill>
                <a:latin typeface="Aptos"/>
              </a:rPr>
              <a:t>1-2</a:t>
            </a:r>
          </a:p>
        </p:txBody>
      </p:sp>
      <p:sp>
        <p:nvSpPr>
          <p:cNvPr id="13" name="TextBox 12"/>
          <p:cNvSpPr txBox="1"/>
          <p:nvPr/>
        </p:nvSpPr>
        <p:spPr>
          <a:xfrm>
            <a:off x="1737360" y="2359152"/>
            <a:ext cx="4114800" cy="347472"/>
          </a:xfrm>
          <a:prstGeom prst="rect">
            <a:avLst/>
          </a:prstGeom>
          <a:noFill/>
        </p:spPr>
        <p:txBody>
          <a:bodyPr wrap="square" lIns="27432" tIns="27432" rIns="27432" bIns="27432" anchor="t">
            <a:spAutoFit/>
          </a:bodyPr>
          <a:lstStyle/>
          <a:p>
            <a:pPr algn="l"/>
            <a:r>
              <a:rPr sz="1800" b="1">
                <a:solidFill>
                  <a:srgbClr val="122A42"/>
                </a:solidFill>
                <a:latin typeface="Aptos"/>
              </a:rPr>
              <a:t>How AI Works</a:t>
            </a:r>
          </a:p>
        </p:txBody>
      </p:sp>
      <p:sp>
        <p:nvSpPr>
          <p:cNvPr id="14" name="TextBox 13"/>
          <p:cNvSpPr txBox="1"/>
          <p:nvPr/>
        </p:nvSpPr>
        <p:spPr>
          <a:xfrm>
            <a:off x="5715000" y="2359152"/>
            <a:ext cx="5669280" cy="457200"/>
          </a:xfrm>
          <a:prstGeom prst="rect">
            <a:avLst/>
          </a:prstGeom>
          <a:noFill/>
        </p:spPr>
        <p:txBody>
          <a:bodyPr wrap="square" lIns="27432" tIns="27432" rIns="27432" bIns="27432" anchor="t">
            <a:spAutoFit/>
          </a:bodyPr>
          <a:lstStyle/>
          <a:p>
            <a:pPr algn="l"/>
            <a:r>
              <a:rPr sz="1400" b="0">
                <a:solidFill>
                  <a:srgbClr val="66737E"/>
                </a:solidFill>
                <a:latin typeface="Aptos"/>
              </a:rPr>
              <a:t>AI • machine learning • deep learning • generative AI</a:t>
            </a:r>
          </a:p>
        </p:txBody>
      </p:sp>
      <p:sp>
        <p:nvSpPr>
          <p:cNvPr id="15" name="Rounded Rectangle 14"/>
          <p:cNvSpPr/>
          <p:nvPr/>
        </p:nvSpPr>
        <p:spPr>
          <a:xfrm>
            <a:off x="685800" y="3611880"/>
            <a:ext cx="868680" cy="347472"/>
          </a:xfrm>
          <a:prstGeom prst="round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8952" y="3648456"/>
            <a:ext cx="722375" cy="237744"/>
          </a:xfrm>
          <a:prstGeom prst="rect">
            <a:avLst/>
          </a:prstGeom>
          <a:noFill/>
        </p:spPr>
        <p:txBody>
          <a:bodyPr wrap="square" lIns="27432" tIns="27432" rIns="27432" bIns="27432" anchor="ctr">
            <a:spAutoFit/>
          </a:bodyPr>
          <a:lstStyle/>
          <a:p>
            <a:pPr algn="ctr"/>
            <a:r>
              <a:rPr sz="1000" b="1">
                <a:solidFill>
                  <a:srgbClr val="FFFFFF"/>
                </a:solidFill>
                <a:latin typeface="Aptos"/>
              </a:rPr>
              <a:t>1-3</a:t>
            </a:r>
          </a:p>
        </p:txBody>
      </p:sp>
      <p:sp>
        <p:nvSpPr>
          <p:cNvPr id="17" name="TextBox 16"/>
          <p:cNvSpPr txBox="1"/>
          <p:nvPr/>
        </p:nvSpPr>
        <p:spPr>
          <a:xfrm>
            <a:off x="1737360" y="3593592"/>
            <a:ext cx="4114800" cy="347472"/>
          </a:xfrm>
          <a:prstGeom prst="rect">
            <a:avLst/>
          </a:prstGeom>
          <a:noFill/>
        </p:spPr>
        <p:txBody>
          <a:bodyPr wrap="square" lIns="27432" tIns="27432" rIns="27432" bIns="27432" anchor="t">
            <a:spAutoFit/>
          </a:bodyPr>
          <a:lstStyle/>
          <a:p>
            <a:pPr algn="l"/>
            <a:r>
              <a:rPr sz="1800" b="1">
                <a:solidFill>
                  <a:srgbClr val="122A42"/>
                </a:solidFill>
                <a:latin typeface="Aptos"/>
              </a:rPr>
              <a:t>AI in Daily Life &amp; Industry</a:t>
            </a:r>
          </a:p>
        </p:txBody>
      </p:sp>
      <p:sp>
        <p:nvSpPr>
          <p:cNvPr id="18" name="TextBox 17"/>
          <p:cNvSpPr txBox="1"/>
          <p:nvPr/>
        </p:nvSpPr>
        <p:spPr>
          <a:xfrm>
            <a:off x="5715000" y="3593592"/>
            <a:ext cx="5669280" cy="457200"/>
          </a:xfrm>
          <a:prstGeom prst="rect">
            <a:avLst/>
          </a:prstGeom>
          <a:noFill/>
        </p:spPr>
        <p:txBody>
          <a:bodyPr wrap="square" lIns="27432" tIns="27432" rIns="27432" bIns="27432" anchor="t">
            <a:spAutoFit/>
          </a:bodyPr>
          <a:lstStyle/>
          <a:p>
            <a:pPr algn="l"/>
            <a:r>
              <a:rPr sz="1400" b="0">
                <a:solidFill>
                  <a:srgbClr val="66737E"/>
                </a:solidFill>
                <a:latin typeface="Aptos"/>
              </a:rPr>
              <a:t>Everyday AI • industries • strengths • cautions</a:t>
            </a:r>
          </a:p>
        </p:txBody>
      </p:sp>
      <p:sp>
        <p:nvSpPr>
          <p:cNvPr id="19" name="Rounded Rectangle 18"/>
          <p:cNvSpPr/>
          <p:nvPr/>
        </p:nvSpPr>
        <p:spPr>
          <a:xfrm>
            <a:off x="685800" y="4846320"/>
            <a:ext cx="868680" cy="347472"/>
          </a:xfrm>
          <a:prstGeom prst="roundRect">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8952" y="4882896"/>
            <a:ext cx="722375" cy="237744"/>
          </a:xfrm>
          <a:prstGeom prst="rect">
            <a:avLst/>
          </a:prstGeom>
          <a:noFill/>
        </p:spPr>
        <p:txBody>
          <a:bodyPr wrap="square" lIns="27432" tIns="27432" rIns="27432" bIns="27432" anchor="ctr">
            <a:spAutoFit/>
          </a:bodyPr>
          <a:lstStyle/>
          <a:p>
            <a:pPr algn="ctr"/>
            <a:r>
              <a:rPr sz="1000" b="1">
                <a:solidFill>
                  <a:srgbClr val="FFFFFF"/>
                </a:solidFill>
                <a:latin typeface="Aptos"/>
              </a:rPr>
              <a:t>1-4</a:t>
            </a:r>
          </a:p>
        </p:txBody>
      </p:sp>
      <p:sp>
        <p:nvSpPr>
          <p:cNvPr id="21" name="TextBox 20"/>
          <p:cNvSpPr txBox="1"/>
          <p:nvPr/>
        </p:nvSpPr>
        <p:spPr>
          <a:xfrm>
            <a:off x="1737360" y="4828032"/>
            <a:ext cx="4114800" cy="347472"/>
          </a:xfrm>
          <a:prstGeom prst="rect">
            <a:avLst/>
          </a:prstGeom>
          <a:noFill/>
        </p:spPr>
        <p:txBody>
          <a:bodyPr wrap="square" lIns="27432" tIns="27432" rIns="27432" bIns="27432" anchor="t">
            <a:spAutoFit/>
          </a:bodyPr>
          <a:lstStyle/>
          <a:p>
            <a:pPr algn="l"/>
            <a:r>
              <a:rPr sz="1800" b="1">
                <a:solidFill>
                  <a:srgbClr val="122A42"/>
                </a:solidFill>
                <a:latin typeface="Aptos"/>
              </a:rPr>
              <a:t>Ethical Issues with AI</a:t>
            </a:r>
          </a:p>
        </p:txBody>
      </p:sp>
      <p:sp>
        <p:nvSpPr>
          <p:cNvPr id="22" name="TextBox 21"/>
          <p:cNvSpPr txBox="1"/>
          <p:nvPr/>
        </p:nvSpPr>
        <p:spPr>
          <a:xfrm>
            <a:off x="5715000" y="4828032"/>
            <a:ext cx="5669280" cy="457200"/>
          </a:xfrm>
          <a:prstGeom prst="rect">
            <a:avLst/>
          </a:prstGeom>
          <a:noFill/>
        </p:spPr>
        <p:txBody>
          <a:bodyPr wrap="square" lIns="27432" tIns="27432" rIns="27432" bIns="27432" anchor="t">
            <a:spAutoFit/>
          </a:bodyPr>
          <a:lstStyle/>
          <a:p>
            <a:pPr algn="l"/>
            <a:r>
              <a:rPr sz="1400" b="0">
                <a:solidFill>
                  <a:srgbClr val="66737E"/>
                </a:solidFill>
                <a:latin typeface="Aptos"/>
              </a:rPr>
              <a:t>Bias • privacy • XAI • responsibility • 4 principles</a:t>
            </a:r>
          </a:p>
        </p:txBody>
      </p:sp>
      <p:sp>
        <p:nvSpPr>
          <p:cNvPr id="23" name="TextBox 22"/>
          <p:cNvSpPr txBox="1"/>
          <p:nvPr/>
        </p:nvSpPr>
        <p:spPr>
          <a:xfrm>
            <a:off x="685800" y="6144768"/>
            <a:ext cx="10515600" cy="228600"/>
          </a:xfrm>
          <a:prstGeom prst="rect">
            <a:avLst/>
          </a:prstGeom>
          <a:noFill/>
        </p:spPr>
        <p:txBody>
          <a:bodyPr wrap="square" lIns="27432" tIns="27432" rIns="27432" bIns="27432" anchor="t">
            <a:spAutoFit/>
          </a:bodyPr>
          <a:lstStyle/>
          <a:p>
            <a:pPr algn="l"/>
            <a:r>
              <a:rPr sz="900" b="0">
                <a:solidFill>
                  <a:srgbClr val="66737E"/>
                </a:solidFill>
                <a:latin typeface="Aptos"/>
              </a:rPr>
              <a:t>Source structure: Chapter 1, pp. 4–32 of the supplied textbook.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686800" y="-731520"/>
            <a:ext cx="4297680" cy="4297680"/>
          </a:xfrm>
          <a:prstGeom prst="ellipse">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3474720"/>
            <a:ext cx="2743200" cy="2743200"/>
          </a:xfrm>
          <a:prstGeom prst="ellipse">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51560"/>
            <a:ext cx="1097280" cy="502920"/>
          </a:xfrm>
          <a:prstGeom prst="rect">
            <a:avLst/>
          </a:prstGeom>
          <a:noFill/>
        </p:spPr>
        <p:txBody>
          <a:bodyPr wrap="square" lIns="27432" tIns="27432" rIns="27432" bIns="27432" anchor="t">
            <a:spAutoFit/>
          </a:bodyPr>
          <a:lstStyle/>
          <a:p>
            <a:pPr algn="l"/>
            <a:r>
              <a:rPr sz="3000" b="1">
                <a:solidFill>
                  <a:srgbClr val="1B5D8C"/>
                </a:solidFill>
                <a:latin typeface="Aptos"/>
              </a:rPr>
              <a:t>1-1</a:t>
            </a:r>
          </a:p>
        </p:txBody>
      </p:sp>
      <p:sp>
        <p:nvSpPr>
          <p:cNvPr id="6" name="TextBox 5"/>
          <p:cNvSpPr txBox="1"/>
          <p:nvPr/>
        </p:nvSpPr>
        <p:spPr>
          <a:xfrm>
            <a:off x="640080" y="1691640"/>
            <a:ext cx="7863840" cy="1143000"/>
          </a:xfrm>
          <a:prstGeom prst="rect">
            <a:avLst/>
          </a:prstGeom>
          <a:noFill/>
        </p:spPr>
        <p:txBody>
          <a:bodyPr wrap="square" lIns="27432" tIns="27432" rIns="27432" bIns="27432" anchor="t">
            <a:spAutoFit/>
          </a:bodyPr>
          <a:lstStyle/>
          <a:p>
            <a:pPr algn="l"/>
            <a:r>
              <a:rPr sz="3800" b="1">
                <a:solidFill>
                  <a:srgbClr val="FFFFFF"/>
                </a:solidFill>
                <a:latin typeface="Aptos Display"/>
              </a:rPr>
              <a:t>Development of Information Technology and Social Transformation</a:t>
            </a:r>
          </a:p>
        </p:txBody>
      </p:sp>
      <p:sp>
        <p:nvSpPr>
          <p:cNvPr id="7" name="TextBox 6"/>
          <p:cNvSpPr txBox="1"/>
          <p:nvPr/>
        </p:nvSpPr>
        <p:spPr>
          <a:xfrm>
            <a:off x="658368" y="2971800"/>
            <a:ext cx="6858000" cy="731520"/>
          </a:xfrm>
          <a:prstGeom prst="rect">
            <a:avLst/>
          </a:prstGeom>
          <a:noFill/>
        </p:spPr>
        <p:txBody>
          <a:bodyPr wrap="square" lIns="27432" tIns="27432" rIns="27432" bIns="27432" anchor="t">
            <a:spAutoFit/>
          </a:bodyPr>
          <a:lstStyle/>
          <a:p>
            <a:pPr algn="l"/>
            <a:r>
              <a:rPr sz="1900" b="0">
                <a:solidFill>
                  <a:srgbClr val="DCE6EE"/>
                </a:solidFill>
                <a:latin typeface="Aptos"/>
              </a:rPr>
              <a:t>From room-sized computers to cloud services — and the social changes that followed.</a:t>
            </a:r>
          </a:p>
        </p:txBody>
      </p:sp>
      <p:sp>
        <p:nvSpPr>
          <p:cNvPr id="8" name="Rounded Rectangle 7"/>
          <p:cNvSpPr/>
          <p:nvPr/>
        </p:nvSpPr>
        <p:spPr>
          <a:xfrm>
            <a:off x="658368" y="5074920"/>
            <a:ext cx="2377440" cy="347472"/>
          </a:xfrm>
          <a:prstGeom prst="round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19" y="5111496"/>
            <a:ext cx="2231136" cy="237744"/>
          </a:xfrm>
          <a:prstGeom prst="rect">
            <a:avLst/>
          </a:prstGeom>
          <a:noFill/>
        </p:spPr>
        <p:txBody>
          <a:bodyPr wrap="square" lIns="27432" tIns="27432" rIns="27432" bIns="27432" anchor="ctr">
            <a:spAutoFit/>
          </a:bodyPr>
          <a:lstStyle/>
          <a:p>
            <a:pPr algn="ctr"/>
            <a:r>
              <a:rPr sz="1000" b="1">
                <a:solidFill>
                  <a:srgbClr val="FFFFFF"/>
                </a:solidFill>
                <a:latin typeface="Aptos"/>
              </a:rPr>
              <a:t>TEACH • DISCUSS • PRACTISE</a:t>
            </a:r>
          </a:p>
        </p:txBody>
      </p:sp>
      <p:sp>
        <p:nvSpPr>
          <p:cNvPr id="10" name="TextBox 9"/>
          <p:cNvSpPr txBox="1"/>
          <p:nvPr/>
        </p:nvSpPr>
        <p:spPr>
          <a:xfrm>
            <a:off x="658368" y="5989320"/>
            <a:ext cx="7315200" cy="320040"/>
          </a:xfrm>
          <a:prstGeom prst="rect">
            <a:avLst/>
          </a:prstGeom>
          <a:noFill/>
        </p:spPr>
        <p:txBody>
          <a:bodyPr wrap="square" lIns="27432" tIns="27432" rIns="27432" bIns="27432" anchor="t">
            <a:spAutoFit/>
          </a:bodyPr>
          <a:lstStyle/>
          <a:p>
            <a:pPr algn="l"/>
            <a:r>
              <a:rPr sz="1000" b="0">
                <a:solidFill>
                  <a:srgbClr val="B4C3D0"/>
                </a:solidFill>
                <a:latin typeface="Aptos"/>
              </a:rPr>
              <a:t>Chapter 1 • Information Technology and Society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The IT journey: 5 major stages</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1-1 • HISTORY OF IT</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5</a:t>
            </a:r>
          </a:p>
        </p:txBody>
      </p:sp>
      <p:sp>
        <p:nvSpPr>
          <p:cNvPr id="7" name="Rounded Rectangle 6"/>
          <p:cNvSpPr/>
          <p:nvPr/>
        </p:nvSpPr>
        <p:spPr>
          <a:xfrm>
            <a:off x="502920" y="1143000"/>
            <a:ext cx="1828800" cy="347472"/>
          </a:xfrm>
          <a:prstGeom prst="round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6072" y="1179576"/>
            <a:ext cx="1682496" cy="237744"/>
          </a:xfrm>
          <a:prstGeom prst="rect">
            <a:avLst/>
          </a:prstGeom>
          <a:noFill/>
        </p:spPr>
        <p:txBody>
          <a:bodyPr wrap="square" lIns="27432" tIns="27432" rIns="27432" bIns="27432" anchor="ctr">
            <a:spAutoFit/>
          </a:bodyPr>
          <a:lstStyle/>
          <a:p>
            <a:pPr algn="ctr"/>
            <a:r>
              <a:rPr sz="1000" b="1">
                <a:solidFill>
                  <a:srgbClr val="FFFFFF"/>
                </a:solidFill>
                <a:latin typeface="Aptos"/>
              </a:rPr>
              <a:t>1940s–60s</a:t>
            </a:r>
          </a:p>
        </p:txBody>
      </p:sp>
      <p:sp>
        <p:nvSpPr>
          <p:cNvPr id="9" name="Rounded Rectangle 8"/>
          <p:cNvSpPr/>
          <p:nvPr/>
        </p:nvSpPr>
        <p:spPr>
          <a:xfrm>
            <a:off x="502920" y="1737360"/>
            <a:ext cx="1965960" cy="3154680"/>
          </a:xfrm>
          <a:prstGeom prst="roundRect">
            <a:avLst/>
          </a:prstGeom>
          <a:solidFill>
            <a:srgbClr val="F4F7FA"/>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737360"/>
            <a:ext cx="73152" cy="3154680"/>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874519"/>
            <a:ext cx="1600200" cy="320040"/>
          </a:xfrm>
          <a:prstGeom prst="rect">
            <a:avLst/>
          </a:prstGeom>
          <a:noFill/>
        </p:spPr>
        <p:txBody>
          <a:bodyPr wrap="square" lIns="27432" tIns="27432" rIns="27432" bIns="27432" anchor="t">
            <a:spAutoFit/>
          </a:bodyPr>
          <a:lstStyle/>
          <a:p>
            <a:pPr algn="l"/>
            <a:r>
              <a:rPr sz="1600" b="1">
                <a:solidFill>
                  <a:srgbClr val="122A42"/>
                </a:solidFill>
                <a:latin typeface="Aptos"/>
              </a:rPr>
              <a:t>Computers</a:t>
            </a:r>
          </a:p>
        </p:txBody>
      </p:sp>
      <p:sp>
        <p:nvSpPr>
          <p:cNvPr id="12" name="TextBox 11"/>
          <p:cNvSpPr txBox="1"/>
          <p:nvPr/>
        </p:nvSpPr>
        <p:spPr>
          <a:xfrm>
            <a:off x="704088" y="2267712"/>
            <a:ext cx="1600200" cy="2496312"/>
          </a:xfrm>
          <a:prstGeom prst="rect">
            <a:avLst/>
          </a:prstGeom>
          <a:noFill/>
        </p:spPr>
        <p:txBody>
          <a:bodyPr wrap="square" lIns="27432" tIns="27432" rIns="27432" bIns="27432" anchor="t">
            <a:spAutoFit/>
          </a:bodyPr>
          <a:lstStyle/>
          <a:p>
            <a:pPr algn="l"/>
            <a:r>
              <a:rPr sz="1400" b="0">
                <a:solidFill>
                  <a:srgbClr val="26303A"/>
                </a:solidFill>
                <a:latin typeface="Aptos"/>
              </a:rPr>
              <a:t>Military &amp; scientific computation</a:t>
            </a:r>
          </a:p>
        </p:txBody>
      </p:sp>
      <p:sp>
        <p:nvSpPr>
          <p:cNvPr id="13" name="TextBox 12"/>
          <p:cNvSpPr txBox="1"/>
          <p:nvPr/>
        </p:nvSpPr>
        <p:spPr>
          <a:xfrm>
            <a:off x="2441448" y="2971800"/>
            <a:ext cx="365760" cy="365760"/>
          </a:xfrm>
          <a:prstGeom prst="rect">
            <a:avLst/>
          </a:prstGeom>
          <a:noFill/>
        </p:spPr>
        <p:txBody>
          <a:bodyPr wrap="square" lIns="27432" tIns="27432" rIns="27432" bIns="27432" anchor="t">
            <a:spAutoFit/>
          </a:bodyPr>
          <a:lstStyle/>
          <a:p>
            <a:pPr algn="ctr"/>
            <a:r>
              <a:rPr sz="2200" b="1">
                <a:solidFill>
                  <a:srgbClr val="66737E"/>
                </a:solidFill>
                <a:latin typeface="Aptos"/>
              </a:rPr>
              <a:t>→</a:t>
            </a:r>
          </a:p>
        </p:txBody>
      </p:sp>
      <p:sp>
        <p:nvSpPr>
          <p:cNvPr id="14" name="Rounded Rectangle 13"/>
          <p:cNvSpPr/>
          <p:nvPr/>
        </p:nvSpPr>
        <p:spPr>
          <a:xfrm>
            <a:off x="2807208" y="1143000"/>
            <a:ext cx="1828800" cy="347472"/>
          </a:xfrm>
          <a:prstGeom prst="round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880360" y="1179576"/>
            <a:ext cx="1682496" cy="237744"/>
          </a:xfrm>
          <a:prstGeom prst="rect">
            <a:avLst/>
          </a:prstGeom>
          <a:noFill/>
        </p:spPr>
        <p:txBody>
          <a:bodyPr wrap="square" lIns="27432" tIns="27432" rIns="27432" bIns="27432" anchor="ctr">
            <a:spAutoFit/>
          </a:bodyPr>
          <a:lstStyle/>
          <a:p>
            <a:pPr algn="ctr"/>
            <a:r>
              <a:rPr sz="1000" b="1">
                <a:solidFill>
                  <a:srgbClr val="FFFFFF"/>
                </a:solidFill>
                <a:latin typeface="Aptos"/>
              </a:rPr>
              <a:t>1970s–80s</a:t>
            </a:r>
          </a:p>
        </p:txBody>
      </p:sp>
      <p:sp>
        <p:nvSpPr>
          <p:cNvPr id="16" name="Rounded Rectangle 15"/>
          <p:cNvSpPr/>
          <p:nvPr/>
        </p:nvSpPr>
        <p:spPr>
          <a:xfrm>
            <a:off x="2807208" y="1737360"/>
            <a:ext cx="1965960" cy="3154680"/>
          </a:xfrm>
          <a:prstGeom prst="roundRect">
            <a:avLst/>
          </a:prstGeom>
          <a:solidFill>
            <a:srgbClr val="F4F7FA"/>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807208" y="1737360"/>
            <a:ext cx="73152" cy="315468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008376" y="1874519"/>
            <a:ext cx="1600200" cy="320040"/>
          </a:xfrm>
          <a:prstGeom prst="rect">
            <a:avLst/>
          </a:prstGeom>
          <a:noFill/>
        </p:spPr>
        <p:txBody>
          <a:bodyPr wrap="square" lIns="27432" tIns="27432" rIns="27432" bIns="27432" anchor="t">
            <a:spAutoFit/>
          </a:bodyPr>
          <a:lstStyle/>
          <a:p>
            <a:pPr algn="l"/>
            <a:r>
              <a:rPr sz="1600" b="1">
                <a:solidFill>
                  <a:srgbClr val="122A42"/>
                </a:solidFill>
                <a:latin typeface="Aptos"/>
              </a:rPr>
              <a:t>Personal computers</a:t>
            </a:r>
          </a:p>
        </p:txBody>
      </p:sp>
      <p:sp>
        <p:nvSpPr>
          <p:cNvPr id="19" name="TextBox 18"/>
          <p:cNvSpPr txBox="1"/>
          <p:nvPr/>
        </p:nvSpPr>
        <p:spPr>
          <a:xfrm>
            <a:off x="2990088" y="2368712"/>
            <a:ext cx="1600200" cy="2496312"/>
          </a:xfrm>
          <a:prstGeom prst="rect">
            <a:avLst/>
          </a:prstGeom>
          <a:noFill/>
        </p:spPr>
        <p:txBody>
          <a:bodyPr wrap="square" lIns="27432" tIns="27432" rIns="27432" bIns="27432" anchor="t">
            <a:spAutoFit/>
          </a:bodyPr>
          <a:lstStyle/>
          <a:p>
            <a:pPr algn="l"/>
            <a:r>
              <a:rPr sz="1400" b="0" dirty="0">
                <a:solidFill>
                  <a:srgbClr val="26303A"/>
                </a:solidFill>
                <a:latin typeface="Aptos"/>
              </a:rPr>
              <a:t>People begin using computers</a:t>
            </a:r>
          </a:p>
        </p:txBody>
      </p:sp>
      <p:sp>
        <p:nvSpPr>
          <p:cNvPr id="20" name="TextBox 19"/>
          <p:cNvSpPr txBox="1"/>
          <p:nvPr/>
        </p:nvSpPr>
        <p:spPr>
          <a:xfrm>
            <a:off x="4745736" y="2971800"/>
            <a:ext cx="365760" cy="365760"/>
          </a:xfrm>
          <a:prstGeom prst="rect">
            <a:avLst/>
          </a:prstGeom>
          <a:noFill/>
        </p:spPr>
        <p:txBody>
          <a:bodyPr wrap="square" lIns="27432" tIns="27432" rIns="27432" bIns="27432" anchor="t">
            <a:spAutoFit/>
          </a:bodyPr>
          <a:lstStyle/>
          <a:p>
            <a:pPr algn="ctr"/>
            <a:r>
              <a:rPr sz="2200" b="1">
                <a:solidFill>
                  <a:srgbClr val="66737E"/>
                </a:solidFill>
                <a:latin typeface="Aptos"/>
              </a:rPr>
              <a:t>→</a:t>
            </a:r>
          </a:p>
        </p:txBody>
      </p:sp>
      <p:sp>
        <p:nvSpPr>
          <p:cNvPr id="21" name="Rounded Rectangle 20"/>
          <p:cNvSpPr/>
          <p:nvPr/>
        </p:nvSpPr>
        <p:spPr>
          <a:xfrm>
            <a:off x="5111496" y="1143000"/>
            <a:ext cx="1828800" cy="347472"/>
          </a:xfrm>
          <a:prstGeom prst="round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84648" y="1179576"/>
            <a:ext cx="1682496" cy="237744"/>
          </a:xfrm>
          <a:prstGeom prst="rect">
            <a:avLst/>
          </a:prstGeom>
          <a:noFill/>
        </p:spPr>
        <p:txBody>
          <a:bodyPr wrap="square" lIns="27432" tIns="27432" rIns="27432" bIns="27432" anchor="ctr">
            <a:spAutoFit/>
          </a:bodyPr>
          <a:lstStyle/>
          <a:p>
            <a:pPr algn="ctr"/>
            <a:r>
              <a:rPr sz="1000" b="1">
                <a:solidFill>
                  <a:srgbClr val="FFFFFF"/>
                </a:solidFill>
                <a:latin typeface="Aptos"/>
              </a:rPr>
              <a:t>1990s</a:t>
            </a:r>
          </a:p>
        </p:txBody>
      </p:sp>
      <p:sp>
        <p:nvSpPr>
          <p:cNvPr id="23" name="Rounded Rectangle 22"/>
          <p:cNvSpPr/>
          <p:nvPr/>
        </p:nvSpPr>
        <p:spPr>
          <a:xfrm>
            <a:off x="5111496" y="1737360"/>
            <a:ext cx="1965960" cy="3154680"/>
          </a:xfrm>
          <a:prstGeom prst="roundRect">
            <a:avLst/>
          </a:prstGeom>
          <a:solidFill>
            <a:srgbClr val="F4F7FA"/>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111496" y="1737360"/>
            <a:ext cx="73152" cy="3154680"/>
          </a:xfrm>
          <a:prstGeom prst="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12664" y="1874519"/>
            <a:ext cx="1600200" cy="320040"/>
          </a:xfrm>
          <a:prstGeom prst="rect">
            <a:avLst/>
          </a:prstGeom>
          <a:noFill/>
        </p:spPr>
        <p:txBody>
          <a:bodyPr wrap="square" lIns="27432" tIns="27432" rIns="27432" bIns="27432" anchor="t">
            <a:spAutoFit/>
          </a:bodyPr>
          <a:lstStyle/>
          <a:p>
            <a:pPr algn="l"/>
            <a:r>
              <a:rPr sz="1600" b="1">
                <a:solidFill>
                  <a:srgbClr val="122A42"/>
                </a:solidFill>
                <a:latin typeface="Aptos"/>
              </a:rPr>
              <a:t>Internet + Web</a:t>
            </a:r>
          </a:p>
        </p:txBody>
      </p:sp>
      <p:sp>
        <p:nvSpPr>
          <p:cNvPr id="26" name="TextBox 25"/>
          <p:cNvSpPr txBox="1"/>
          <p:nvPr/>
        </p:nvSpPr>
        <p:spPr>
          <a:xfrm>
            <a:off x="5312664" y="2267712"/>
            <a:ext cx="1600200" cy="2496312"/>
          </a:xfrm>
          <a:prstGeom prst="rect">
            <a:avLst/>
          </a:prstGeom>
          <a:noFill/>
        </p:spPr>
        <p:txBody>
          <a:bodyPr wrap="square" lIns="27432" tIns="27432" rIns="27432" bIns="27432" anchor="t">
            <a:spAutoFit/>
          </a:bodyPr>
          <a:lstStyle/>
          <a:p>
            <a:pPr algn="l"/>
            <a:r>
              <a:rPr sz="1400" b="0">
                <a:solidFill>
                  <a:srgbClr val="26303A"/>
                </a:solidFill>
                <a:latin typeface="Aptos"/>
              </a:rPr>
              <a:t>Information becomes global; email spreads</a:t>
            </a:r>
          </a:p>
        </p:txBody>
      </p:sp>
      <p:sp>
        <p:nvSpPr>
          <p:cNvPr id="27" name="TextBox 26"/>
          <p:cNvSpPr txBox="1"/>
          <p:nvPr/>
        </p:nvSpPr>
        <p:spPr>
          <a:xfrm>
            <a:off x="7050024" y="2971800"/>
            <a:ext cx="365760" cy="365760"/>
          </a:xfrm>
          <a:prstGeom prst="rect">
            <a:avLst/>
          </a:prstGeom>
          <a:noFill/>
        </p:spPr>
        <p:txBody>
          <a:bodyPr wrap="square" lIns="27432" tIns="27432" rIns="27432" bIns="27432" anchor="t">
            <a:spAutoFit/>
          </a:bodyPr>
          <a:lstStyle/>
          <a:p>
            <a:pPr algn="ctr"/>
            <a:r>
              <a:rPr sz="2200" b="1">
                <a:solidFill>
                  <a:srgbClr val="66737E"/>
                </a:solidFill>
                <a:latin typeface="Aptos"/>
              </a:rPr>
              <a:t>→</a:t>
            </a:r>
          </a:p>
        </p:txBody>
      </p:sp>
      <p:sp>
        <p:nvSpPr>
          <p:cNvPr id="28" name="Rounded Rectangle 27"/>
          <p:cNvSpPr/>
          <p:nvPr/>
        </p:nvSpPr>
        <p:spPr>
          <a:xfrm>
            <a:off x="7415784" y="1143000"/>
            <a:ext cx="1828800" cy="347472"/>
          </a:xfrm>
          <a:prstGeom prst="roundRect">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88936" y="1179576"/>
            <a:ext cx="1682496" cy="237744"/>
          </a:xfrm>
          <a:prstGeom prst="rect">
            <a:avLst/>
          </a:prstGeom>
          <a:noFill/>
        </p:spPr>
        <p:txBody>
          <a:bodyPr wrap="square" lIns="27432" tIns="27432" rIns="27432" bIns="27432" anchor="ctr">
            <a:spAutoFit/>
          </a:bodyPr>
          <a:lstStyle/>
          <a:p>
            <a:pPr algn="ctr"/>
            <a:r>
              <a:rPr sz="1000" b="1">
                <a:solidFill>
                  <a:srgbClr val="FFFFFF"/>
                </a:solidFill>
                <a:latin typeface="Aptos"/>
              </a:rPr>
              <a:t>2000s</a:t>
            </a:r>
          </a:p>
        </p:txBody>
      </p:sp>
      <p:sp>
        <p:nvSpPr>
          <p:cNvPr id="30" name="Rounded Rectangle 29"/>
          <p:cNvSpPr/>
          <p:nvPr/>
        </p:nvSpPr>
        <p:spPr>
          <a:xfrm>
            <a:off x="7415784" y="1737360"/>
            <a:ext cx="1965960" cy="3154680"/>
          </a:xfrm>
          <a:prstGeom prst="roundRect">
            <a:avLst/>
          </a:prstGeom>
          <a:solidFill>
            <a:srgbClr val="F4F7FA"/>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415784" y="1737360"/>
            <a:ext cx="73152" cy="3154680"/>
          </a:xfrm>
          <a:prstGeom prst="rect">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616952" y="1874519"/>
            <a:ext cx="1600200" cy="320040"/>
          </a:xfrm>
          <a:prstGeom prst="rect">
            <a:avLst/>
          </a:prstGeom>
          <a:noFill/>
        </p:spPr>
        <p:txBody>
          <a:bodyPr wrap="square" lIns="27432" tIns="27432" rIns="27432" bIns="27432" anchor="t">
            <a:spAutoFit/>
          </a:bodyPr>
          <a:lstStyle/>
          <a:p>
            <a:pPr algn="l"/>
            <a:r>
              <a:rPr sz="1600" b="1">
                <a:solidFill>
                  <a:srgbClr val="122A42"/>
                </a:solidFill>
                <a:latin typeface="Aptos"/>
              </a:rPr>
              <a:t>Smartphones</a:t>
            </a:r>
          </a:p>
        </p:txBody>
      </p:sp>
      <p:sp>
        <p:nvSpPr>
          <p:cNvPr id="33" name="TextBox 32"/>
          <p:cNvSpPr txBox="1"/>
          <p:nvPr/>
        </p:nvSpPr>
        <p:spPr>
          <a:xfrm>
            <a:off x="7616952" y="2267712"/>
            <a:ext cx="1600200" cy="2496312"/>
          </a:xfrm>
          <a:prstGeom prst="rect">
            <a:avLst/>
          </a:prstGeom>
          <a:noFill/>
        </p:spPr>
        <p:txBody>
          <a:bodyPr wrap="square" lIns="27432" tIns="27432" rIns="27432" bIns="27432" anchor="t">
            <a:spAutoFit/>
          </a:bodyPr>
          <a:lstStyle/>
          <a:p>
            <a:pPr algn="l"/>
            <a:r>
              <a:rPr sz="1400" b="0">
                <a:solidFill>
                  <a:srgbClr val="26303A"/>
                </a:solidFill>
                <a:latin typeface="Aptos"/>
              </a:rPr>
              <a:t>Mobile Internet explodes</a:t>
            </a:r>
          </a:p>
        </p:txBody>
      </p:sp>
      <p:sp>
        <p:nvSpPr>
          <p:cNvPr id="34" name="TextBox 33"/>
          <p:cNvSpPr txBox="1"/>
          <p:nvPr/>
        </p:nvSpPr>
        <p:spPr>
          <a:xfrm>
            <a:off x="9354312" y="2971800"/>
            <a:ext cx="365760" cy="365760"/>
          </a:xfrm>
          <a:prstGeom prst="rect">
            <a:avLst/>
          </a:prstGeom>
          <a:noFill/>
        </p:spPr>
        <p:txBody>
          <a:bodyPr wrap="square" lIns="27432" tIns="27432" rIns="27432" bIns="27432" anchor="t">
            <a:spAutoFit/>
          </a:bodyPr>
          <a:lstStyle/>
          <a:p>
            <a:pPr algn="ctr"/>
            <a:r>
              <a:rPr sz="2200" b="1">
                <a:solidFill>
                  <a:srgbClr val="66737E"/>
                </a:solidFill>
                <a:latin typeface="Aptos"/>
              </a:rPr>
              <a:t>→</a:t>
            </a:r>
          </a:p>
        </p:txBody>
      </p:sp>
      <p:sp>
        <p:nvSpPr>
          <p:cNvPr id="35" name="Rounded Rectangle 34"/>
          <p:cNvSpPr/>
          <p:nvPr/>
        </p:nvSpPr>
        <p:spPr>
          <a:xfrm>
            <a:off x="9720072" y="1143000"/>
            <a:ext cx="1828800" cy="347472"/>
          </a:xfrm>
          <a:prstGeom prst="round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793224" y="1179576"/>
            <a:ext cx="1682496" cy="237744"/>
          </a:xfrm>
          <a:prstGeom prst="rect">
            <a:avLst/>
          </a:prstGeom>
          <a:noFill/>
        </p:spPr>
        <p:txBody>
          <a:bodyPr wrap="square" lIns="27432" tIns="27432" rIns="27432" bIns="27432" anchor="ctr">
            <a:spAutoFit/>
          </a:bodyPr>
          <a:lstStyle/>
          <a:p>
            <a:pPr algn="ctr"/>
            <a:r>
              <a:rPr sz="1000" b="1">
                <a:solidFill>
                  <a:srgbClr val="FFFFFF"/>
                </a:solidFill>
                <a:latin typeface="Aptos"/>
              </a:rPr>
              <a:t>2010s →</a:t>
            </a:r>
          </a:p>
        </p:txBody>
      </p:sp>
      <p:sp>
        <p:nvSpPr>
          <p:cNvPr id="37" name="Rounded Rectangle 36"/>
          <p:cNvSpPr/>
          <p:nvPr/>
        </p:nvSpPr>
        <p:spPr>
          <a:xfrm>
            <a:off x="9720072" y="1737360"/>
            <a:ext cx="1965960" cy="3154680"/>
          </a:xfrm>
          <a:prstGeom prst="roundRect">
            <a:avLst/>
          </a:prstGeom>
          <a:solidFill>
            <a:srgbClr val="F4F7FA"/>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720072" y="1737360"/>
            <a:ext cx="73152" cy="315468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921240" y="1874519"/>
            <a:ext cx="1600200" cy="320040"/>
          </a:xfrm>
          <a:prstGeom prst="rect">
            <a:avLst/>
          </a:prstGeom>
          <a:noFill/>
        </p:spPr>
        <p:txBody>
          <a:bodyPr wrap="square" lIns="27432" tIns="27432" rIns="27432" bIns="27432" anchor="t">
            <a:spAutoFit/>
          </a:bodyPr>
          <a:lstStyle/>
          <a:p>
            <a:pPr algn="l"/>
            <a:r>
              <a:rPr sz="1600" b="1">
                <a:solidFill>
                  <a:srgbClr val="122A42"/>
                </a:solidFill>
                <a:latin typeface="Aptos"/>
              </a:rPr>
              <a:t>Cloud computing</a:t>
            </a:r>
          </a:p>
        </p:txBody>
      </p:sp>
      <p:sp>
        <p:nvSpPr>
          <p:cNvPr id="40" name="TextBox 39"/>
          <p:cNvSpPr txBox="1"/>
          <p:nvPr/>
        </p:nvSpPr>
        <p:spPr>
          <a:xfrm>
            <a:off x="9902952" y="2368712"/>
            <a:ext cx="1600200" cy="2496312"/>
          </a:xfrm>
          <a:prstGeom prst="rect">
            <a:avLst/>
          </a:prstGeom>
          <a:noFill/>
        </p:spPr>
        <p:txBody>
          <a:bodyPr wrap="square" lIns="27432" tIns="27432" rIns="27432" bIns="27432" anchor="t">
            <a:spAutoFit/>
          </a:bodyPr>
          <a:lstStyle/>
          <a:p>
            <a:pPr algn="l"/>
            <a:r>
              <a:rPr sz="1400" b="0" dirty="0">
                <a:solidFill>
                  <a:srgbClr val="26303A"/>
                </a:solidFill>
                <a:latin typeface="Aptos"/>
              </a:rPr>
              <a:t>Large-scale data + AI; IT as a service</a:t>
            </a:r>
          </a:p>
        </p:txBody>
      </p:sp>
      <p:sp>
        <p:nvSpPr>
          <p:cNvPr id="41" name="TextBox 40"/>
          <p:cNvSpPr txBox="1"/>
          <p:nvPr/>
        </p:nvSpPr>
        <p:spPr>
          <a:xfrm>
            <a:off x="640080" y="5349240"/>
            <a:ext cx="10789920" cy="640080"/>
          </a:xfrm>
          <a:prstGeom prst="rect">
            <a:avLst/>
          </a:prstGeom>
          <a:noFill/>
        </p:spPr>
        <p:txBody>
          <a:bodyPr wrap="square" lIns="27432" tIns="27432" rIns="27432" bIns="27432" anchor="t">
            <a:spAutoFit/>
          </a:bodyPr>
          <a:lstStyle/>
          <a:p>
            <a:pPr algn="ctr"/>
            <a:r>
              <a:rPr sz="2200" b="1">
                <a:solidFill>
                  <a:srgbClr val="122A42"/>
                </a:solidFill>
                <a:latin typeface="Aptos"/>
              </a:rPr>
              <a:t>Big idea: each stage introduced new technology AND changed society.</a:t>
            </a:r>
          </a:p>
        </p:txBody>
      </p:sp>
      <p:sp>
        <p:nvSpPr>
          <p:cNvPr id="42" name="TextBox 41"/>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Moore’s Law: why computers became so powerful</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1-1 • KEY CONCEPT</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6</a:t>
            </a:r>
          </a:p>
        </p:txBody>
      </p:sp>
      <p:sp>
        <p:nvSpPr>
          <p:cNvPr id="7" name="Rounded Rectangle 6"/>
          <p:cNvSpPr/>
          <p:nvPr/>
        </p:nvSpPr>
        <p:spPr>
          <a:xfrm>
            <a:off x="640080" y="1143000"/>
            <a:ext cx="5029200" cy="3840480"/>
          </a:xfrm>
          <a:prstGeom prst="roundRect">
            <a:avLst/>
          </a:prstGeom>
          <a:solidFill>
            <a:srgbClr val="E7F1F8"/>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143000"/>
            <a:ext cx="73152" cy="3840480"/>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280160"/>
            <a:ext cx="4663440" cy="320040"/>
          </a:xfrm>
          <a:prstGeom prst="rect">
            <a:avLst/>
          </a:prstGeom>
          <a:noFill/>
        </p:spPr>
        <p:txBody>
          <a:bodyPr wrap="square" lIns="27432" tIns="27432" rIns="27432" bIns="27432" anchor="t">
            <a:spAutoFit/>
          </a:bodyPr>
          <a:lstStyle/>
          <a:p>
            <a:pPr algn="l"/>
            <a:r>
              <a:rPr sz="1900" b="1">
                <a:solidFill>
                  <a:srgbClr val="122A42"/>
                </a:solidFill>
                <a:latin typeface="Aptos"/>
              </a:rPr>
              <a:t>Simple meaning</a:t>
            </a:r>
          </a:p>
        </p:txBody>
      </p:sp>
      <p:sp>
        <p:nvSpPr>
          <p:cNvPr id="10" name="TextBox 9"/>
          <p:cNvSpPr txBox="1"/>
          <p:nvPr/>
        </p:nvSpPr>
        <p:spPr>
          <a:xfrm>
            <a:off x="841247" y="1673352"/>
            <a:ext cx="4663440" cy="3182112"/>
          </a:xfrm>
          <a:prstGeom prst="rect">
            <a:avLst/>
          </a:prstGeom>
          <a:noFill/>
        </p:spPr>
        <p:txBody>
          <a:bodyPr wrap="square" lIns="27432" tIns="27432" rIns="27432" bIns="27432" anchor="t">
            <a:spAutoFit/>
          </a:bodyPr>
          <a:lstStyle/>
          <a:p>
            <a:pPr algn="l"/>
            <a:r>
              <a:rPr sz="1800" b="0">
                <a:solidFill>
                  <a:srgbClr val="26303A"/>
                </a:solidFill>
                <a:latin typeface="Aptos"/>
              </a:rPr>
              <a:t>The number of transistors on an integrated circuit was observed to roughly double every two years.
More transistors → dramatically more computing power over time.</a:t>
            </a:r>
          </a:p>
        </p:txBody>
      </p:sp>
      <p:sp>
        <p:nvSpPr>
          <p:cNvPr id="11" name="Rectangle 10"/>
          <p:cNvSpPr/>
          <p:nvPr/>
        </p:nvSpPr>
        <p:spPr>
          <a:xfrm>
            <a:off x="6400800" y="4343400"/>
            <a:ext cx="640080" cy="475488"/>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114032" y="3867912"/>
            <a:ext cx="640080" cy="950976"/>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827264" y="3392424"/>
            <a:ext cx="640080" cy="1426464"/>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540496" y="2916936"/>
            <a:ext cx="640080" cy="1901952"/>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253728" y="2441448"/>
            <a:ext cx="640080" cy="2377440"/>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966960" y="1965960"/>
            <a:ext cx="640080" cy="2852928"/>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1325880"/>
            <a:ext cx="4480560" cy="502920"/>
          </a:xfrm>
          <a:prstGeom prst="rect">
            <a:avLst/>
          </a:prstGeom>
          <a:noFill/>
        </p:spPr>
        <p:txBody>
          <a:bodyPr wrap="square" lIns="27432" tIns="27432" rIns="27432" bIns="27432" anchor="t">
            <a:spAutoFit/>
          </a:bodyPr>
          <a:lstStyle/>
          <a:p>
            <a:pPr algn="l"/>
            <a:r>
              <a:rPr sz="2000" b="1">
                <a:solidFill>
                  <a:srgbClr val="122A42"/>
                </a:solidFill>
                <a:latin typeface="Aptos"/>
              </a:rPr>
              <a:t>Computing power</a:t>
            </a:r>
          </a:p>
        </p:txBody>
      </p:sp>
      <p:sp>
        <p:nvSpPr>
          <p:cNvPr id="18" name="TextBox 17"/>
          <p:cNvSpPr txBox="1"/>
          <p:nvPr/>
        </p:nvSpPr>
        <p:spPr>
          <a:xfrm>
            <a:off x="6400800" y="4983480"/>
            <a:ext cx="4572000" cy="457200"/>
          </a:xfrm>
          <a:prstGeom prst="rect">
            <a:avLst/>
          </a:prstGeom>
          <a:noFill/>
        </p:spPr>
        <p:txBody>
          <a:bodyPr wrap="square" lIns="27432" tIns="27432" rIns="27432" bIns="27432" anchor="t">
            <a:spAutoFit/>
          </a:bodyPr>
          <a:lstStyle/>
          <a:p>
            <a:pPr algn="l"/>
            <a:r>
              <a:rPr sz="1400" b="0">
                <a:solidFill>
                  <a:srgbClr val="66737E"/>
                </a:solidFill>
                <a:latin typeface="Aptos"/>
              </a:rPr>
              <a:t>roughly doubles over each ~2-year step</a:t>
            </a:r>
          </a:p>
        </p:txBody>
      </p:sp>
      <p:sp>
        <p:nvSpPr>
          <p:cNvPr id="19" name="Rounded Rectangle 18"/>
          <p:cNvSpPr/>
          <p:nvPr/>
        </p:nvSpPr>
        <p:spPr>
          <a:xfrm>
            <a:off x="676656" y="5266944"/>
            <a:ext cx="10515600" cy="658368"/>
          </a:xfrm>
          <a:prstGeom prst="roundRect">
            <a:avLst/>
          </a:prstGeom>
          <a:solidFill>
            <a:srgbClr val="FDF1E1"/>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0080" y="5257800"/>
            <a:ext cx="73152" cy="658368"/>
          </a:xfrm>
          <a:prstGeom prst="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7" y="5301442"/>
            <a:ext cx="10149840" cy="320040"/>
          </a:xfrm>
          <a:prstGeom prst="rect">
            <a:avLst/>
          </a:prstGeom>
          <a:noFill/>
        </p:spPr>
        <p:txBody>
          <a:bodyPr wrap="square" lIns="27432" tIns="27432" rIns="27432" bIns="27432" anchor="t">
            <a:spAutoFit/>
          </a:bodyPr>
          <a:lstStyle/>
          <a:p>
            <a:pPr algn="l"/>
            <a:r>
              <a:rPr sz="1300" b="1" dirty="0">
                <a:solidFill>
                  <a:srgbClr val="122A42"/>
                </a:solidFill>
                <a:latin typeface="Aptos"/>
              </a:rPr>
              <a:t>Important today</a:t>
            </a:r>
          </a:p>
        </p:txBody>
      </p:sp>
      <p:sp>
        <p:nvSpPr>
          <p:cNvPr id="22" name="TextBox 21"/>
          <p:cNvSpPr txBox="1"/>
          <p:nvPr/>
        </p:nvSpPr>
        <p:spPr>
          <a:xfrm>
            <a:off x="822960" y="5554980"/>
            <a:ext cx="10149840" cy="0"/>
          </a:xfrm>
          <a:prstGeom prst="rect">
            <a:avLst/>
          </a:prstGeom>
          <a:noFill/>
        </p:spPr>
        <p:txBody>
          <a:bodyPr wrap="square" lIns="27432" tIns="27432" rIns="27432" bIns="27432" anchor="t">
            <a:spAutoFit/>
          </a:bodyPr>
          <a:lstStyle/>
          <a:p>
            <a:pPr algn="l"/>
            <a:r>
              <a:rPr sz="1200" b="0" dirty="0">
                <a:solidFill>
                  <a:srgbClr val="26303A"/>
                </a:solidFill>
                <a:latin typeface="Aptos"/>
              </a:rPr>
              <a:t>The textbook notes that transistor miniaturization is approaching physical limits, so other approaches such as parallel processing and quantum computing are being explored.</a:t>
            </a:r>
          </a:p>
        </p:txBody>
      </p:sp>
      <p:sp>
        <p:nvSpPr>
          <p:cNvPr id="23" name="TextBox 22"/>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Five social changes caused by IT</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1-1 • SOCIAL TRANSFORMATION</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7</a:t>
            </a:r>
          </a:p>
        </p:txBody>
      </p:sp>
      <p:sp>
        <p:nvSpPr>
          <p:cNvPr id="7" name="Rounded Rectangle 6"/>
          <p:cNvSpPr/>
          <p:nvPr/>
        </p:nvSpPr>
        <p:spPr>
          <a:xfrm>
            <a:off x="640080" y="1143000"/>
            <a:ext cx="3429000" cy="164592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143000"/>
            <a:ext cx="73152" cy="1645920"/>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280160"/>
            <a:ext cx="3063240" cy="320040"/>
          </a:xfrm>
          <a:prstGeom prst="rect">
            <a:avLst/>
          </a:prstGeom>
          <a:noFill/>
        </p:spPr>
        <p:txBody>
          <a:bodyPr wrap="square" lIns="27432" tIns="27432" rIns="27432" bIns="27432" anchor="t">
            <a:spAutoFit/>
          </a:bodyPr>
          <a:lstStyle/>
          <a:p>
            <a:pPr algn="l"/>
            <a:r>
              <a:rPr sz="1700" b="1">
                <a:solidFill>
                  <a:srgbClr val="122A42"/>
                </a:solidFill>
                <a:latin typeface="Aptos"/>
              </a:rPr>
              <a:t>SNS</a:t>
            </a:r>
          </a:p>
        </p:txBody>
      </p:sp>
      <p:sp>
        <p:nvSpPr>
          <p:cNvPr id="10" name="TextBox 9"/>
          <p:cNvSpPr txBox="1"/>
          <p:nvPr/>
        </p:nvSpPr>
        <p:spPr>
          <a:xfrm>
            <a:off x="841247" y="1673352"/>
            <a:ext cx="3063240" cy="987552"/>
          </a:xfrm>
          <a:prstGeom prst="rect">
            <a:avLst/>
          </a:prstGeom>
          <a:noFill/>
        </p:spPr>
        <p:txBody>
          <a:bodyPr wrap="square" lIns="27432" tIns="27432" rIns="27432" bIns="27432" anchor="t">
            <a:spAutoFit/>
          </a:bodyPr>
          <a:lstStyle/>
          <a:p>
            <a:pPr algn="l"/>
            <a:r>
              <a:rPr sz="1400" b="0">
                <a:solidFill>
                  <a:srgbClr val="26303A"/>
                </a:solidFill>
                <a:latin typeface="Aptos"/>
              </a:rPr>
              <a:t>Connect, post &amp; share information quickly</a:t>
            </a:r>
          </a:p>
        </p:txBody>
      </p:sp>
      <p:sp>
        <p:nvSpPr>
          <p:cNvPr id="11" name="Rounded Rectangle 10"/>
          <p:cNvSpPr/>
          <p:nvPr/>
        </p:nvSpPr>
        <p:spPr>
          <a:xfrm>
            <a:off x="4434840" y="1143000"/>
            <a:ext cx="3429000" cy="164592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143000"/>
            <a:ext cx="73152" cy="164592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8" y="1280160"/>
            <a:ext cx="3063240" cy="320040"/>
          </a:xfrm>
          <a:prstGeom prst="rect">
            <a:avLst/>
          </a:prstGeom>
          <a:noFill/>
        </p:spPr>
        <p:txBody>
          <a:bodyPr wrap="square" lIns="27432" tIns="27432" rIns="27432" bIns="27432" anchor="t">
            <a:spAutoFit/>
          </a:bodyPr>
          <a:lstStyle/>
          <a:p>
            <a:pPr algn="l"/>
            <a:r>
              <a:rPr sz="1700" b="1">
                <a:solidFill>
                  <a:srgbClr val="122A42"/>
                </a:solidFill>
                <a:latin typeface="Aptos"/>
              </a:rPr>
              <a:t>E-commerce</a:t>
            </a:r>
          </a:p>
        </p:txBody>
      </p:sp>
      <p:sp>
        <p:nvSpPr>
          <p:cNvPr id="14" name="TextBox 13"/>
          <p:cNvSpPr txBox="1"/>
          <p:nvPr/>
        </p:nvSpPr>
        <p:spPr>
          <a:xfrm>
            <a:off x="4636008" y="1673352"/>
            <a:ext cx="3063240" cy="987552"/>
          </a:xfrm>
          <a:prstGeom prst="rect">
            <a:avLst/>
          </a:prstGeom>
          <a:noFill/>
        </p:spPr>
        <p:txBody>
          <a:bodyPr wrap="square" lIns="27432" tIns="27432" rIns="27432" bIns="27432" anchor="t">
            <a:spAutoFit/>
          </a:bodyPr>
          <a:lstStyle/>
          <a:p>
            <a:pPr algn="l"/>
            <a:r>
              <a:rPr sz="1400" b="0">
                <a:solidFill>
                  <a:srgbClr val="26303A"/>
                </a:solidFill>
                <a:latin typeface="Aptos"/>
              </a:rPr>
              <a:t>Buy and sell goods/services online</a:t>
            </a:r>
          </a:p>
        </p:txBody>
      </p:sp>
      <p:sp>
        <p:nvSpPr>
          <p:cNvPr id="15" name="Rounded Rectangle 14"/>
          <p:cNvSpPr/>
          <p:nvPr/>
        </p:nvSpPr>
        <p:spPr>
          <a:xfrm>
            <a:off x="8229600" y="1143000"/>
            <a:ext cx="3429000" cy="164592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29600" y="1143000"/>
            <a:ext cx="73152" cy="1645920"/>
          </a:xfrm>
          <a:prstGeom prst="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30768" y="1280160"/>
            <a:ext cx="3063240" cy="320040"/>
          </a:xfrm>
          <a:prstGeom prst="rect">
            <a:avLst/>
          </a:prstGeom>
          <a:noFill/>
        </p:spPr>
        <p:txBody>
          <a:bodyPr wrap="square" lIns="27432" tIns="27432" rIns="27432" bIns="27432" anchor="t">
            <a:spAutoFit/>
          </a:bodyPr>
          <a:lstStyle/>
          <a:p>
            <a:pPr algn="l"/>
            <a:r>
              <a:rPr sz="1700" b="1">
                <a:solidFill>
                  <a:srgbClr val="122A42"/>
                </a:solidFill>
                <a:latin typeface="Aptos"/>
              </a:rPr>
              <a:t>Remote work</a:t>
            </a:r>
          </a:p>
        </p:txBody>
      </p:sp>
      <p:sp>
        <p:nvSpPr>
          <p:cNvPr id="18" name="TextBox 17"/>
          <p:cNvSpPr txBox="1"/>
          <p:nvPr/>
        </p:nvSpPr>
        <p:spPr>
          <a:xfrm>
            <a:off x="8430768" y="1673352"/>
            <a:ext cx="3063240" cy="987552"/>
          </a:xfrm>
          <a:prstGeom prst="rect">
            <a:avLst/>
          </a:prstGeom>
          <a:noFill/>
        </p:spPr>
        <p:txBody>
          <a:bodyPr wrap="square" lIns="27432" tIns="27432" rIns="27432" bIns="27432" anchor="t">
            <a:spAutoFit/>
          </a:bodyPr>
          <a:lstStyle/>
          <a:p>
            <a:pPr algn="l"/>
            <a:r>
              <a:rPr sz="1400" b="0">
                <a:solidFill>
                  <a:srgbClr val="26303A"/>
                </a:solidFill>
                <a:latin typeface="Aptos"/>
              </a:rPr>
              <a:t>Work from home or another location using the Internet</a:t>
            </a:r>
          </a:p>
        </p:txBody>
      </p:sp>
      <p:sp>
        <p:nvSpPr>
          <p:cNvPr id="19" name="Rounded Rectangle 18"/>
          <p:cNvSpPr/>
          <p:nvPr/>
        </p:nvSpPr>
        <p:spPr>
          <a:xfrm>
            <a:off x="640080" y="3200400"/>
            <a:ext cx="3429000" cy="164592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0080" y="3200400"/>
            <a:ext cx="73152" cy="1645920"/>
          </a:xfrm>
          <a:prstGeom prst="rect">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7" y="3337560"/>
            <a:ext cx="3063240" cy="320040"/>
          </a:xfrm>
          <a:prstGeom prst="rect">
            <a:avLst/>
          </a:prstGeom>
          <a:noFill/>
        </p:spPr>
        <p:txBody>
          <a:bodyPr wrap="square" lIns="27432" tIns="27432" rIns="27432" bIns="27432" anchor="t">
            <a:spAutoFit/>
          </a:bodyPr>
          <a:lstStyle/>
          <a:p>
            <a:pPr algn="l"/>
            <a:r>
              <a:rPr sz="1700" b="1">
                <a:solidFill>
                  <a:srgbClr val="122A42"/>
                </a:solidFill>
                <a:latin typeface="Aptos"/>
              </a:rPr>
              <a:t>Online learning</a:t>
            </a:r>
          </a:p>
        </p:txBody>
      </p:sp>
      <p:sp>
        <p:nvSpPr>
          <p:cNvPr id="22" name="TextBox 21"/>
          <p:cNvSpPr txBox="1"/>
          <p:nvPr/>
        </p:nvSpPr>
        <p:spPr>
          <a:xfrm>
            <a:off x="841247" y="3730752"/>
            <a:ext cx="3063240" cy="987552"/>
          </a:xfrm>
          <a:prstGeom prst="rect">
            <a:avLst/>
          </a:prstGeom>
          <a:noFill/>
        </p:spPr>
        <p:txBody>
          <a:bodyPr wrap="square" lIns="27432" tIns="27432" rIns="27432" bIns="27432" anchor="t">
            <a:spAutoFit/>
          </a:bodyPr>
          <a:lstStyle/>
          <a:p>
            <a:pPr algn="l"/>
            <a:r>
              <a:rPr sz="1400" b="0">
                <a:solidFill>
                  <a:srgbClr val="26303A"/>
                </a:solidFill>
                <a:latin typeface="Aptos"/>
              </a:rPr>
              <a:t>Classes and materials delivered online</a:t>
            </a:r>
          </a:p>
        </p:txBody>
      </p:sp>
      <p:sp>
        <p:nvSpPr>
          <p:cNvPr id="23" name="Rounded Rectangle 22"/>
          <p:cNvSpPr/>
          <p:nvPr/>
        </p:nvSpPr>
        <p:spPr>
          <a:xfrm>
            <a:off x="4434840" y="3200400"/>
            <a:ext cx="3429000" cy="164592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434840" y="3200400"/>
            <a:ext cx="73152" cy="164592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36008" y="3337560"/>
            <a:ext cx="3063240" cy="320040"/>
          </a:xfrm>
          <a:prstGeom prst="rect">
            <a:avLst/>
          </a:prstGeom>
          <a:noFill/>
        </p:spPr>
        <p:txBody>
          <a:bodyPr wrap="square" lIns="27432" tIns="27432" rIns="27432" bIns="27432" anchor="t">
            <a:spAutoFit/>
          </a:bodyPr>
          <a:lstStyle/>
          <a:p>
            <a:pPr algn="l"/>
            <a:r>
              <a:rPr sz="1700" b="1">
                <a:solidFill>
                  <a:srgbClr val="122A42"/>
                </a:solidFill>
                <a:latin typeface="Aptos"/>
              </a:rPr>
              <a:t>Cashless payment</a:t>
            </a:r>
          </a:p>
        </p:txBody>
      </p:sp>
      <p:sp>
        <p:nvSpPr>
          <p:cNvPr id="26" name="TextBox 25"/>
          <p:cNvSpPr txBox="1"/>
          <p:nvPr/>
        </p:nvSpPr>
        <p:spPr>
          <a:xfrm>
            <a:off x="4636008" y="3730752"/>
            <a:ext cx="3063240" cy="987552"/>
          </a:xfrm>
          <a:prstGeom prst="rect">
            <a:avLst/>
          </a:prstGeom>
          <a:noFill/>
        </p:spPr>
        <p:txBody>
          <a:bodyPr wrap="square" lIns="27432" tIns="27432" rIns="27432" bIns="27432" anchor="t">
            <a:spAutoFit/>
          </a:bodyPr>
          <a:lstStyle/>
          <a:p>
            <a:pPr algn="l"/>
            <a:r>
              <a:rPr sz="1400" b="0">
                <a:solidFill>
                  <a:srgbClr val="26303A"/>
                </a:solidFill>
                <a:latin typeface="Aptos"/>
              </a:rPr>
              <a:t>Pay using cards, mobile apps, QR codes, e-money</a:t>
            </a:r>
          </a:p>
        </p:txBody>
      </p:sp>
      <p:sp>
        <p:nvSpPr>
          <p:cNvPr id="27" name="TextBox 26"/>
          <p:cNvSpPr txBox="1"/>
          <p:nvPr/>
        </p:nvSpPr>
        <p:spPr>
          <a:xfrm>
            <a:off x="685800" y="5715000"/>
            <a:ext cx="10698480" cy="502920"/>
          </a:xfrm>
          <a:prstGeom prst="rect">
            <a:avLst/>
          </a:prstGeom>
          <a:noFill/>
        </p:spPr>
        <p:txBody>
          <a:bodyPr wrap="square" lIns="27432" tIns="27432" rIns="27432" bIns="27432" anchor="t">
            <a:spAutoFit/>
          </a:bodyPr>
          <a:lstStyle/>
          <a:p>
            <a:pPr algn="ctr"/>
            <a:r>
              <a:rPr sz="1800" b="1">
                <a:solidFill>
                  <a:srgbClr val="122A42"/>
                </a:solidFill>
                <a:latin typeface="Aptos"/>
              </a:rPr>
              <a:t>Ask: Which of these would be hardest for you to give up — and why?</a:t>
            </a:r>
          </a:p>
        </p:txBody>
      </p:sp>
      <p:sp>
        <p:nvSpPr>
          <p:cNvPr id="28" name="TextBox 27"/>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Emerging technologies to know</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1-1 • NOTABLE EMERGING TECHNOLOGIES</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8</a:t>
            </a:r>
          </a:p>
        </p:txBody>
      </p:sp>
      <p:sp>
        <p:nvSpPr>
          <p:cNvPr id="7" name="Rounded Rectangle 6"/>
          <p:cNvSpPr/>
          <p:nvPr/>
        </p:nvSpPr>
        <p:spPr>
          <a:xfrm>
            <a:off x="640080" y="1143000"/>
            <a:ext cx="3429000" cy="1874519"/>
          </a:xfrm>
          <a:prstGeom prst="roundRect">
            <a:avLst/>
          </a:prstGeom>
          <a:solidFill>
            <a:srgbClr val="E7F1F8"/>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143000"/>
            <a:ext cx="73152" cy="1874519"/>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280160"/>
            <a:ext cx="3063240" cy="320040"/>
          </a:xfrm>
          <a:prstGeom prst="rect">
            <a:avLst/>
          </a:prstGeom>
          <a:noFill/>
        </p:spPr>
        <p:txBody>
          <a:bodyPr wrap="square" lIns="27432" tIns="27432" rIns="27432" bIns="27432" anchor="t">
            <a:spAutoFit/>
          </a:bodyPr>
          <a:lstStyle/>
          <a:p>
            <a:pPr algn="l"/>
            <a:r>
              <a:rPr sz="1700" b="1">
                <a:solidFill>
                  <a:srgbClr val="122A42"/>
                </a:solidFill>
                <a:latin typeface="Aptos"/>
              </a:rPr>
              <a:t>Autonomous driving</a:t>
            </a:r>
          </a:p>
        </p:txBody>
      </p:sp>
      <p:sp>
        <p:nvSpPr>
          <p:cNvPr id="10" name="TextBox 9"/>
          <p:cNvSpPr txBox="1"/>
          <p:nvPr/>
        </p:nvSpPr>
        <p:spPr>
          <a:xfrm>
            <a:off x="841247" y="1673352"/>
            <a:ext cx="3063240" cy="1216151"/>
          </a:xfrm>
          <a:prstGeom prst="rect">
            <a:avLst/>
          </a:prstGeom>
          <a:noFill/>
        </p:spPr>
        <p:txBody>
          <a:bodyPr wrap="square" lIns="27432" tIns="27432" rIns="27432" bIns="27432" anchor="t">
            <a:spAutoFit/>
          </a:bodyPr>
          <a:lstStyle/>
          <a:p>
            <a:pPr algn="l"/>
            <a:r>
              <a:rPr sz="1400" b="0">
                <a:solidFill>
                  <a:srgbClr val="26303A"/>
                </a:solidFill>
                <a:latin typeface="Aptos"/>
              </a:rPr>
              <a:t>AI uses cameras and sensors to understand the road, decide, and control the vehicle.</a:t>
            </a:r>
          </a:p>
        </p:txBody>
      </p:sp>
      <p:sp>
        <p:nvSpPr>
          <p:cNvPr id="11" name="Rounded Rectangle 10"/>
          <p:cNvSpPr/>
          <p:nvPr/>
        </p:nvSpPr>
        <p:spPr>
          <a:xfrm>
            <a:off x="4389120" y="1143000"/>
            <a:ext cx="3429000" cy="1874519"/>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143000"/>
            <a:ext cx="73152" cy="1874519"/>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0288" y="1280160"/>
            <a:ext cx="3063240" cy="320040"/>
          </a:xfrm>
          <a:prstGeom prst="rect">
            <a:avLst/>
          </a:prstGeom>
          <a:noFill/>
        </p:spPr>
        <p:txBody>
          <a:bodyPr wrap="square" lIns="27432" tIns="27432" rIns="27432" bIns="27432" anchor="t">
            <a:spAutoFit/>
          </a:bodyPr>
          <a:lstStyle/>
          <a:p>
            <a:pPr algn="l"/>
            <a:r>
              <a:rPr sz="1700" b="1">
                <a:solidFill>
                  <a:srgbClr val="122A42"/>
                </a:solidFill>
                <a:latin typeface="Aptos"/>
              </a:rPr>
              <a:t>AR / VR</a:t>
            </a:r>
          </a:p>
        </p:txBody>
      </p:sp>
      <p:sp>
        <p:nvSpPr>
          <p:cNvPr id="14" name="TextBox 13"/>
          <p:cNvSpPr txBox="1"/>
          <p:nvPr/>
        </p:nvSpPr>
        <p:spPr>
          <a:xfrm>
            <a:off x="4590288" y="1673352"/>
            <a:ext cx="3063240" cy="1216151"/>
          </a:xfrm>
          <a:prstGeom prst="rect">
            <a:avLst/>
          </a:prstGeom>
          <a:noFill/>
        </p:spPr>
        <p:txBody>
          <a:bodyPr wrap="square" lIns="27432" tIns="27432" rIns="27432" bIns="27432" anchor="t">
            <a:spAutoFit/>
          </a:bodyPr>
          <a:lstStyle/>
          <a:p>
            <a:pPr algn="l"/>
            <a:r>
              <a:rPr sz="1400" b="0">
                <a:solidFill>
                  <a:srgbClr val="26303A"/>
                </a:solidFill>
                <a:latin typeface="Aptos"/>
              </a:rPr>
              <a:t>AR adds digital information to the real world. VR immerses you in a computer-generated virtual space.</a:t>
            </a:r>
          </a:p>
        </p:txBody>
      </p:sp>
      <p:sp>
        <p:nvSpPr>
          <p:cNvPr id="15" name="Rounded Rectangle 14"/>
          <p:cNvSpPr/>
          <p:nvPr/>
        </p:nvSpPr>
        <p:spPr>
          <a:xfrm>
            <a:off x="8138160" y="1143000"/>
            <a:ext cx="3429000" cy="1874519"/>
          </a:xfrm>
          <a:prstGeom prst="roundRect">
            <a:avLst/>
          </a:prstGeom>
          <a:solidFill>
            <a:srgbClr val="F1EDF9"/>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143000"/>
            <a:ext cx="73152" cy="1874519"/>
          </a:xfrm>
          <a:prstGeom prst="rect">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8" y="1280160"/>
            <a:ext cx="3063240" cy="320040"/>
          </a:xfrm>
          <a:prstGeom prst="rect">
            <a:avLst/>
          </a:prstGeom>
          <a:noFill/>
        </p:spPr>
        <p:txBody>
          <a:bodyPr wrap="square" lIns="27432" tIns="27432" rIns="27432" bIns="27432" anchor="t">
            <a:spAutoFit/>
          </a:bodyPr>
          <a:lstStyle/>
          <a:p>
            <a:pPr algn="l"/>
            <a:r>
              <a:rPr sz="1700" b="1">
                <a:solidFill>
                  <a:srgbClr val="122A42"/>
                </a:solidFill>
                <a:latin typeface="Aptos"/>
              </a:rPr>
              <a:t>Quantum computing</a:t>
            </a:r>
          </a:p>
        </p:txBody>
      </p:sp>
      <p:sp>
        <p:nvSpPr>
          <p:cNvPr id="18" name="TextBox 17"/>
          <p:cNvSpPr txBox="1"/>
          <p:nvPr/>
        </p:nvSpPr>
        <p:spPr>
          <a:xfrm>
            <a:off x="8339328" y="1673352"/>
            <a:ext cx="3063240" cy="1216151"/>
          </a:xfrm>
          <a:prstGeom prst="rect">
            <a:avLst/>
          </a:prstGeom>
          <a:noFill/>
        </p:spPr>
        <p:txBody>
          <a:bodyPr wrap="square" lIns="27432" tIns="27432" rIns="27432" bIns="27432" anchor="t">
            <a:spAutoFit/>
          </a:bodyPr>
          <a:lstStyle/>
          <a:p>
            <a:pPr algn="l"/>
            <a:r>
              <a:rPr sz="1400" b="0">
                <a:solidFill>
                  <a:srgbClr val="26303A"/>
                </a:solidFill>
                <a:latin typeface="Aptos"/>
              </a:rPr>
              <a:t>Uses quantum-mechanics principles and may speed up hard computations.</a:t>
            </a:r>
          </a:p>
        </p:txBody>
      </p:sp>
      <p:sp>
        <p:nvSpPr>
          <p:cNvPr id="19" name="TextBox 18"/>
          <p:cNvSpPr txBox="1"/>
          <p:nvPr/>
        </p:nvSpPr>
        <p:spPr>
          <a:xfrm>
            <a:off x="685800" y="3657600"/>
            <a:ext cx="10515600" cy="411480"/>
          </a:xfrm>
          <a:prstGeom prst="rect">
            <a:avLst/>
          </a:prstGeom>
          <a:noFill/>
        </p:spPr>
        <p:txBody>
          <a:bodyPr wrap="square" lIns="27432" tIns="27432" rIns="27432" bIns="27432" anchor="t">
            <a:spAutoFit/>
          </a:bodyPr>
          <a:lstStyle/>
          <a:p>
            <a:pPr algn="l"/>
            <a:r>
              <a:rPr sz="1700" b="1">
                <a:solidFill>
                  <a:srgbClr val="122A42"/>
                </a:solidFill>
                <a:latin typeface="Aptos"/>
              </a:rPr>
              <a:t>Quick memory trick</a:t>
            </a:r>
          </a:p>
        </p:txBody>
      </p:sp>
      <p:sp>
        <p:nvSpPr>
          <p:cNvPr id="20" name="TextBox 19"/>
          <p:cNvSpPr txBox="1"/>
          <p:nvPr/>
        </p:nvSpPr>
        <p:spPr>
          <a:xfrm>
            <a:off x="822960" y="4160520"/>
            <a:ext cx="10058400" cy="1463040"/>
          </a:xfrm>
          <a:prstGeom prst="rect">
            <a:avLst/>
          </a:prstGeom>
          <a:noFill/>
        </p:spPr>
        <p:txBody>
          <a:bodyPr wrap="square" lIns="36576" tIns="27432" rIns="36576" bIns="27432">
            <a:spAutoFit/>
          </a:bodyPr>
          <a:lstStyle/>
          <a:p>
            <a:pPr>
              <a:spcAft>
                <a:spcPts val="800"/>
              </a:spcAft>
              <a:defRPr sz="1700">
                <a:solidFill>
                  <a:srgbClr val="26303A"/>
                </a:solidFill>
                <a:latin typeface="Aptos"/>
              </a:defRPr>
            </a:pPr>
            <a:r>
              <a:t>• Autonomous driving = AI drives the vehicle</a:t>
            </a:r>
          </a:p>
          <a:p>
            <a:pPr>
              <a:spcAft>
                <a:spcPts val="800"/>
              </a:spcAft>
              <a:defRPr sz="1700">
                <a:solidFill>
                  <a:srgbClr val="26303A"/>
                </a:solidFill>
                <a:latin typeface="Aptos"/>
              </a:defRPr>
            </a:pPr>
            <a:r>
              <a:t>• AR = digital layer on reality • VR = virtual world</a:t>
            </a:r>
          </a:p>
          <a:p>
            <a:pPr>
              <a:spcAft>
                <a:spcPts val="800"/>
              </a:spcAft>
              <a:defRPr sz="1700">
                <a:solidFill>
                  <a:srgbClr val="26303A"/>
                </a:solidFill>
                <a:latin typeface="Aptos"/>
              </a:defRPr>
            </a:pPr>
            <a:r>
              <a:t>• Quantum computing = a different approach to difficult computations</a:t>
            </a:r>
          </a:p>
        </p:txBody>
      </p:sp>
      <p:sp>
        <p:nvSpPr>
          <p:cNvPr id="21" name="TextBox 20"/>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Edge computing: decide where the data is processed</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1-1 • EMERGING TECHNOLOGY</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9</a:t>
            </a:r>
          </a:p>
        </p:txBody>
      </p:sp>
      <p:sp>
        <p:nvSpPr>
          <p:cNvPr id="7" name="Rounded Rectangle 6"/>
          <p:cNvSpPr/>
          <p:nvPr/>
        </p:nvSpPr>
        <p:spPr>
          <a:xfrm>
            <a:off x="685800" y="1234440"/>
            <a:ext cx="3931920" cy="3566160"/>
          </a:xfrm>
          <a:prstGeom prst="roundRect">
            <a:avLst/>
          </a:prstGeom>
          <a:solidFill>
            <a:srgbClr val="F4F7FA"/>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234440"/>
            <a:ext cx="73152" cy="3566160"/>
          </a:xfrm>
          <a:prstGeom prst="rect">
            <a:avLst/>
          </a:prstGeom>
          <a:solidFill>
            <a:srgbClr val="667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371600"/>
            <a:ext cx="3566160" cy="320040"/>
          </a:xfrm>
          <a:prstGeom prst="rect">
            <a:avLst/>
          </a:prstGeom>
          <a:noFill/>
        </p:spPr>
        <p:txBody>
          <a:bodyPr wrap="square" lIns="27432" tIns="27432" rIns="27432" bIns="27432" anchor="t">
            <a:spAutoFit/>
          </a:bodyPr>
          <a:lstStyle/>
          <a:p>
            <a:pPr algn="l"/>
            <a:r>
              <a:rPr sz="1800" b="1">
                <a:solidFill>
                  <a:srgbClr val="122A42"/>
                </a:solidFill>
                <a:latin typeface="Aptos"/>
              </a:rPr>
              <a:t>Cloud approach</a:t>
            </a:r>
          </a:p>
        </p:txBody>
      </p:sp>
      <p:sp>
        <p:nvSpPr>
          <p:cNvPr id="10" name="TextBox 9"/>
          <p:cNvSpPr txBox="1"/>
          <p:nvPr/>
        </p:nvSpPr>
        <p:spPr>
          <a:xfrm>
            <a:off x="886968" y="1764792"/>
            <a:ext cx="3566160" cy="2907791"/>
          </a:xfrm>
          <a:prstGeom prst="rect">
            <a:avLst/>
          </a:prstGeom>
          <a:noFill/>
        </p:spPr>
        <p:txBody>
          <a:bodyPr wrap="square" lIns="27432" tIns="27432" rIns="27432" bIns="27432" anchor="t">
            <a:spAutoFit/>
          </a:bodyPr>
          <a:lstStyle/>
          <a:p>
            <a:pPr algn="l"/>
            <a:r>
              <a:rPr sz="1700" b="0">
                <a:solidFill>
                  <a:srgbClr val="26303A"/>
                </a:solidFill>
                <a:latin typeface="Aptos"/>
              </a:rPr>
              <a:t>Vehicle → Internet → Cloud → Decision
This can introduce delay.</a:t>
            </a:r>
          </a:p>
        </p:txBody>
      </p:sp>
      <p:sp>
        <p:nvSpPr>
          <p:cNvPr id="11" name="TextBox 10"/>
          <p:cNvSpPr txBox="1"/>
          <p:nvPr/>
        </p:nvSpPr>
        <p:spPr>
          <a:xfrm>
            <a:off x="4709160" y="2514600"/>
            <a:ext cx="1051560" cy="502920"/>
          </a:xfrm>
          <a:prstGeom prst="rect">
            <a:avLst/>
          </a:prstGeom>
          <a:noFill/>
        </p:spPr>
        <p:txBody>
          <a:bodyPr wrap="square" lIns="27432" tIns="27432" rIns="27432" bIns="27432" anchor="t">
            <a:spAutoFit/>
          </a:bodyPr>
          <a:lstStyle/>
          <a:p>
            <a:pPr algn="ctr"/>
            <a:r>
              <a:rPr sz="2200" b="1">
                <a:solidFill>
                  <a:srgbClr val="EE8C2A"/>
                </a:solidFill>
                <a:latin typeface="Aptos"/>
              </a:rPr>
              <a:t>vs.</a:t>
            </a:r>
          </a:p>
        </p:txBody>
      </p:sp>
      <p:sp>
        <p:nvSpPr>
          <p:cNvPr id="12" name="Rounded Rectangle 11"/>
          <p:cNvSpPr/>
          <p:nvPr/>
        </p:nvSpPr>
        <p:spPr>
          <a:xfrm>
            <a:off x="5897880" y="1234440"/>
            <a:ext cx="5212080" cy="356616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897880" y="1234440"/>
            <a:ext cx="73152" cy="356616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99048" y="1371600"/>
            <a:ext cx="4846320" cy="320040"/>
          </a:xfrm>
          <a:prstGeom prst="rect">
            <a:avLst/>
          </a:prstGeom>
          <a:noFill/>
        </p:spPr>
        <p:txBody>
          <a:bodyPr wrap="square" lIns="27432" tIns="27432" rIns="27432" bIns="27432" anchor="t">
            <a:spAutoFit/>
          </a:bodyPr>
          <a:lstStyle/>
          <a:p>
            <a:pPr algn="l"/>
            <a:r>
              <a:rPr sz="1800" b="1">
                <a:solidFill>
                  <a:srgbClr val="122A42"/>
                </a:solidFill>
                <a:latin typeface="Aptos"/>
              </a:rPr>
              <a:t>Edge computing</a:t>
            </a:r>
          </a:p>
        </p:txBody>
      </p:sp>
      <p:sp>
        <p:nvSpPr>
          <p:cNvPr id="15" name="TextBox 14"/>
          <p:cNvSpPr txBox="1"/>
          <p:nvPr/>
        </p:nvSpPr>
        <p:spPr>
          <a:xfrm>
            <a:off x="6099048" y="1764792"/>
            <a:ext cx="4846320" cy="2907791"/>
          </a:xfrm>
          <a:prstGeom prst="rect">
            <a:avLst/>
          </a:prstGeom>
          <a:noFill/>
        </p:spPr>
        <p:txBody>
          <a:bodyPr wrap="square" lIns="27432" tIns="27432" rIns="27432" bIns="27432" anchor="t">
            <a:spAutoFit/>
          </a:bodyPr>
          <a:lstStyle/>
          <a:p>
            <a:pPr algn="l"/>
            <a:r>
              <a:rPr sz="1700" b="0">
                <a:solidFill>
                  <a:srgbClr val="26303A"/>
                </a:solidFill>
                <a:latin typeface="Aptos"/>
              </a:rPr>
              <a:t>Vehicle → Decision on the vehicle
Data is processed on the device itself, instantly.
For autonomous driving, even a small delay can matter.</a:t>
            </a:r>
          </a:p>
        </p:txBody>
      </p:sp>
      <p:sp>
        <p:nvSpPr>
          <p:cNvPr id="16" name="Rounded Rectangle 15"/>
          <p:cNvSpPr/>
          <p:nvPr/>
        </p:nvSpPr>
        <p:spPr>
          <a:xfrm>
            <a:off x="731520" y="5257800"/>
            <a:ext cx="2971800" cy="347472"/>
          </a:xfrm>
          <a:prstGeom prst="roundRect">
            <a:avLst/>
          </a:prstGeom>
          <a:solidFill>
            <a:srgbClr val="E5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2" y="5294376"/>
            <a:ext cx="2825496" cy="237744"/>
          </a:xfrm>
          <a:prstGeom prst="rect">
            <a:avLst/>
          </a:prstGeom>
          <a:noFill/>
        </p:spPr>
        <p:txBody>
          <a:bodyPr wrap="square" lIns="27432" tIns="27432" rIns="27432" bIns="27432" anchor="ctr">
            <a:spAutoFit/>
          </a:bodyPr>
          <a:lstStyle/>
          <a:p>
            <a:pPr algn="ctr"/>
            <a:r>
              <a:rPr sz="1000" b="1">
                <a:solidFill>
                  <a:srgbClr val="008591"/>
                </a:solidFill>
                <a:latin typeface="Aptos"/>
              </a:rPr>
              <a:t>KEY TERM: EDGE COMPUTING</a:t>
            </a:r>
          </a:p>
        </p:txBody>
      </p:sp>
      <p:sp>
        <p:nvSpPr>
          <p:cNvPr id="18" name="TextBox 17"/>
          <p:cNvSpPr txBox="1"/>
          <p:nvPr/>
        </p:nvSpPr>
        <p:spPr>
          <a:xfrm>
            <a:off x="731520" y="5715000"/>
            <a:ext cx="10241280" cy="411480"/>
          </a:xfrm>
          <a:prstGeom prst="rect">
            <a:avLst/>
          </a:prstGeom>
          <a:noFill/>
        </p:spPr>
        <p:txBody>
          <a:bodyPr wrap="square" lIns="27432" tIns="27432" rIns="27432" bIns="27432" anchor="t">
            <a:spAutoFit/>
          </a:bodyPr>
          <a:lstStyle/>
          <a:p>
            <a:pPr algn="l"/>
            <a:r>
              <a:rPr sz="1600" b="1">
                <a:solidFill>
                  <a:srgbClr val="122A42"/>
                </a:solidFill>
                <a:latin typeface="Aptos"/>
              </a:rPr>
              <a:t>Pause &amp; Think: Why is instant processing important for a self-driving car?</a:t>
            </a:r>
          </a:p>
        </p:txBody>
      </p:sp>
      <p:sp>
        <p:nvSpPr>
          <p:cNvPr id="19" name="TextBox 18"/>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AR vs VR vs Quantum Computing</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1-1 • COMPARE THE IDEAS</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10</a:t>
            </a:r>
          </a:p>
        </p:txBody>
      </p:sp>
      <p:sp>
        <p:nvSpPr>
          <p:cNvPr id="7" name="Rounded Rectangle 6"/>
          <p:cNvSpPr/>
          <p:nvPr/>
        </p:nvSpPr>
        <p:spPr>
          <a:xfrm>
            <a:off x="640080" y="1325880"/>
            <a:ext cx="3337560" cy="301752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325880"/>
            <a:ext cx="73152" cy="301752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463039"/>
            <a:ext cx="2971800" cy="320040"/>
          </a:xfrm>
          <a:prstGeom prst="rect">
            <a:avLst/>
          </a:prstGeom>
          <a:noFill/>
        </p:spPr>
        <p:txBody>
          <a:bodyPr wrap="square" lIns="27432" tIns="27432" rIns="27432" bIns="27432" anchor="t">
            <a:spAutoFit/>
          </a:bodyPr>
          <a:lstStyle/>
          <a:p>
            <a:pPr algn="l"/>
            <a:r>
              <a:rPr sz="2200" b="1">
                <a:solidFill>
                  <a:srgbClr val="122A42"/>
                </a:solidFill>
                <a:latin typeface="Aptos"/>
              </a:rPr>
              <a:t>AR</a:t>
            </a:r>
          </a:p>
        </p:txBody>
      </p:sp>
      <p:sp>
        <p:nvSpPr>
          <p:cNvPr id="10" name="TextBox 9"/>
          <p:cNvSpPr txBox="1"/>
          <p:nvPr/>
        </p:nvSpPr>
        <p:spPr>
          <a:xfrm>
            <a:off x="841247" y="1856231"/>
            <a:ext cx="2971800" cy="2359152"/>
          </a:xfrm>
          <a:prstGeom prst="rect">
            <a:avLst/>
          </a:prstGeom>
          <a:noFill/>
        </p:spPr>
        <p:txBody>
          <a:bodyPr wrap="square" lIns="27432" tIns="27432" rIns="27432" bIns="27432" anchor="t">
            <a:spAutoFit/>
          </a:bodyPr>
          <a:lstStyle/>
          <a:p>
            <a:pPr algn="l"/>
            <a:r>
              <a:rPr sz="1700" b="0">
                <a:solidFill>
                  <a:srgbClr val="26303A"/>
                </a:solidFill>
                <a:latin typeface="Aptos"/>
              </a:rPr>
              <a:t>Digital information is overlaid on the real world.</a:t>
            </a:r>
          </a:p>
        </p:txBody>
      </p:sp>
      <p:sp>
        <p:nvSpPr>
          <p:cNvPr id="11" name="Rounded Rectangle 10"/>
          <p:cNvSpPr/>
          <p:nvPr/>
        </p:nvSpPr>
        <p:spPr>
          <a:xfrm>
            <a:off x="4251960" y="1325880"/>
            <a:ext cx="3337560" cy="301752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60" y="1325880"/>
            <a:ext cx="73152" cy="3017520"/>
          </a:xfrm>
          <a:prstGeom prst="rect">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53128" y="1463039"/>
            <a:ext cx="2971800" cy="320040"/>
          </a:xfrm>
          <a:prstGeom prst="rect">
            <a:avLst/>
          </a:prstGeom>
          <a:noFill/>
        </p:spPr>
        <p:txBody>
          <a:bodyPr wrap="square" lIns="27432" tIns="27432" rIns="27432" bIns="27432" anchor="t">
            <a:spAutoFit/>
          </a:bodyPr>
          <a:lstStyle/>
          <a:p>
            <a:pPr algn="l"/>
            <a:r>
              <a:rPr sz="2200" b="1">
                <a:solidFill>
                  <a:srgbClr val="122A42"/>
                </a:solidFill>
                <a:latin typeface="Aptos"/>
              </a:rPr>
              <a:t>VR</a:t>
            </a:r>
          </a:p>
        </p:txBody>
      </p:sp>
      <p:sp>
        <p:nvSpPr>
          <p:cNvPr id="14" name="TextBox 13"/>
          <p:cNvSpPr txBox="1"/>
          <p:nvPr/>
        </p:nvSpPr>
        <p:spPr>
          <a:xfrm>
            <a:off x="4453128" y="1856231"/>
            <a:ext cx="2971800" cy="2359152"/>
          </a:xfrm>
          <a:prstGeom prst="rect">
            <a:avLst/>
          </a:prstGeom>
          <a:noFill/>
        </p:spPr>
        <p:txBody>
          <a:bodyPr wrap="square" lIns="27432" tIns="27432" rIns="27432" bIns="27432" anchor="t">
            <a:spAutoFit/>
          </a:bodyPr>
          <a:lstStyle/>
          <a:p>
            <a:pPr algn="l"/>
            <a:r>
              <a:rPr sz="1700" b="0">
                <a:solidFill>
                  <a:srgbClr val="26303A"/>
                </a:solidFill>
                <a:latin typeface="Aptos"/>
              </a:rPr>
              <a:t>You are immersed in a virtual space.</a:t>
            </a:r>
          </a:p>
        </p:txBody>
      </p:sp>
      <p:sp>
        <p:nvSpPr>
          <p:cNvPr id="15" name="Rounded Rectangle 14"/>
          <p:cNvSpPr/>
          <p:nvPr/>
        </p:nvSpPr>
        <p:spPr>
          <a:xfrm>
            <a:off x="7863840" y="1325880"/>
            <a:ext cx="3337560" cy="301752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63840" y="1325880"/>
            <a:ext cx="73152" cy="3017520"/>
          </a:xfrm>
          <a:prstGeom prst="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65008" y="1463039"/>
            <a:ext cx="2971800" cy="320040"/>
          </a:xfrm>
          <a:prstGeom prst="rect">
            <a:avLst/>
          </a:prstGeom>
          <a:noFill/>
        </p:spPr>
        <p:txBody>
          <a:bodyPr wrap="square" lIns="27432" tIns="27432" rIns="27432" bIns="27432" anchor="t">
            <a:spAutoFit/>
          </a:bodyPr>
          <a:lstStyle/>
          <a:p>
            <a:pPr algn="l"/>
            <a:r>
              <a:rPr sz="2200" b="1">
                <a:solidFill>
                  <a:srgbClr val="122A42"/>
                </a:solidFill>
                <a:latin typeface="Aptos"/>
              </a:rPr>
              <a:t>Quantum</a:t>
            </a:r>
          </a:p>
        </p:txBody>
      </p:sp>
      <p:sp>
        <p:nvSpPr>
          <p:cNvPr id="18" name="TextBox 17"/>
          <p:cNvSpPr txBox="1"/>
          <p:nvPr/>
        </p:nvSpPr>
        <p:spPr>
          <a:xfrm>
            <a:off x="8065008" y="1856231"/>
            <a:ext cx="2971800" cy="2359152"/>
          </a:xfrm>
          <a:prstGeom prst="rect">
            <a:avLst/>
          </a:prstGeom>
          <a:noFill/>
        </p:spPr>
        <p:txBody>
          <a:bodyPr wrap="square" lIns="27432" tIns="27432" rIns="27432" bIns="27432" anchor="t">
            <a:spAutoFit/>
          </a:bodyPr>
          <a:lstStyle/>
          <a:p>
            <a:pPr algn="l"/>
            <a:r>
              <a:rPr sz="1700" b="0">
                <a:solidFill>
                  <a:srgbClr val="26303A"/>
                </a:solidFill>
                <a:latin typeface="Aptos"/>
              </a:rPr>
              <a:t>Uses quantum mechanics to tackle difficult computations.</a:t>
            </a:r>
          </a:p>
        </p:txBody>
      </p:sp>
      <p:sp>
        <p:nvSpPr>
          <p:cNvPr id="19" name="TextBox 18"/>
          <p:cNvSpPr txBox="1"/>
          <p:nvPr/>
        </p:nvSpPr>
        <p:spPr>
          <a:xfrm>
            <a:off x="777240" y="4800600"/>
            <a:ext cx="10332720" cy="731520"/>
          </a:xfrm>
          <a:prstGeom prst="rect">
            <a:avLst/>
          </a:prstGeom>
          <a:noFill/>
        </p:spPr>
        <p:txBody>
          <a:bodyPr wrap="square" lIns="27432" tIns="27432" rIns="27432" bIns="27432" anchor="t">
            <a:spAutoFit/>
          </a:bodyPr>
          <a:lstStyle/>
          <a:p>
            <a:pPr algn="ctr"/>
            <a:r>
              <a:rPr sz="1700" b="1">
                <a:solidFill>
                  <a:srgbClr val="122A42"/>
                </a:solidFill>
                <a:latin typeface="Aptos"/>
              </a:rPr>
              <a:t>Question cue: if the question says “overlay on real-world images” → AR. If it says “immerse in a virtual space” → VR.</a:t>
            </a:r>
          </a:p>
        </p:txBody>
      </p:sp>
      <p:sp>
        <p:nvSpPr>
          <p:cNvPr id="20" name="TextBox 19"/>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Question practice: chronological order</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1-1 • WORKED EXAMPLE</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11</a:t>
            </a:r>
          </a:p>
        </p:txBody>
      </p:sp>
      <p:sp>
        <p:nvSpPr>
          <p:cNvPr id="7" name="Rounded Rectangle 6"/>
          <p:cNvSpPr/>
          <p:nvPr/>
        </p:nvSpPr>
        <p:spPr>
          <a:xfrm>
            <a:off x="548640" y="932688"/>
            <a:ext cx="1600200" cy="347472"/>
          </a:xfrm>
          <a:prstGeom prst="roundRect">
            <a:avLst/>
          </a:prstGeom>
          <a:solidFill>
            <a:srgbClr val="FDF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969264"/>
            <a:ext cx="1453896" cy="237744"/>
          </a:xfrm>
          <a:prstGeom prst="rect">
            <a:avLst/>
          </a:prstGeom>
          <a:noFill/>
        </p:spPr>
        <p:txBody>
          <a:bodyPr wrap="square" lIns="27432" tIns="27432" rIns="27432" bIns="27432" anchor="ctr">
            <a:spAutoFit/>
          </a:bodyPr>
          <a:lstStyle/>
          <a:p>
            <a:pPr algn="ctr"/>
            <a:r>
              <a:rPr sz="1000" b="1">
                <a:solidFill>
                  <a:srgbClr val="EE8C2A"/>
                </a:solidFill>
                <a:latin typeface="Aptos"/>
              </a:rPr>
              <a:t>BOOK QUESTION</a:t>
            </a:r>
          </a:p>
        </p:txBody>
      </p:sp>
      <p:sp>
        <p:nvSpPr>
          <p:cNvPr id="9" name="TextBox 8"/>
          <p:cNvSpPr txBox="1"/>
          <p:nvPr/>
        </p:nvSpPr>
        <p:spPr>
          <a:xfrm>
            <a:off x="548640" y="1417320"/>
            <a:ext cx="10972800" cy="594360"/>
          </a:xfrm>
          <a:prstGeom prst="rect">
            <a:avLst/>
          </a:prstGeom>
          <a:noFill/>
        </p:spPr>
        <p:txBody>
          <a:bodyPr wrap="square" lIns="27432" tIns="27432" rIns="27432" bIns="27432" anchor="t">
            <a:spAutoFit/>
          </a:bodyPr>
          <a:lstStyle/>
          <a:p>
            <a:pPr algn="l"/>
            <a:r>
              <a:rPr sz="2300" b="1">
                <a:solidFill>
                  <a:srgbClr val="122A42"/>
                </a:solidFill>
                <a:latin typeface="Aptos"/>
              </a:rPr>
              <a:t>Which option gives the correct chronological order?</a:t>
            </a:r>
          </a:p>
        </p:txBody>
      </p:sp>
      <p:sp>
        <p:nvSpPr>
          <p:cNvPr id="10" name="TextBox 9"/>
          <p:cNvSpPr txBox="1"/>
          <p:nvPr/>
        </p:nvSpPr>
        <p:spPr>
          <a:xfrm>
            <a:off x="731520" y="2240280"/>
            <a:ext cx="10515600" cy="2651760"/>
          </a:xfrm>
          <a:prstGeom prst="rect">
            <a:avLst/>
          </a:prstGeom>
          <a:noFill/>
        </p:spPr>
        <p:txBody>
          <a:bodyPr wrap="square" lIns="27432" tIns="27432" rIns="27432" bIns="27432" anchor="ctr">
            <a:spAutoFit/>
          </a:bodyPr>
          <a:lstStyle/>
          <a:p>
            <a:pPr algn="l"/>
            <a:endParaRPr/>
          </a:p>
        </p:txBody>
      </p:sp>
      <p:sp>
        <p:nvSpPr>
          <p:cNvPr id="11" name="Rounded Rectangle 10"/>
          <p:cNvSpPr/>
          <p:nvPr/>
        </p:nvSpPr>
        <p:spPr>
          <a:xfrm>
            <a:off x="548640" y="932688"/>
            <a:ext cx="1600200" cy="347472"/>
          </a:xfrm>
          <a:prstGeom prst="roundRect">
            <a:avLst/>
          </a:prstGeom>
          <a:solidFill>
            <a:srgbClr val="FDF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 y="969264"/>
            <a:ext cx="1453896" cy="237744"/>
          </a:xfrm>
          <a:prstGeom prst="rect">
            <a:avLst/>
          </a:prstGeom>
          <a:noFill/>
        </p:spPr>
        <p:txBody>
          <a:bodyPr wrap="square" lIns="27432" tIns="27432" rIns="27432" bIns="27432" anchor="ctr">
            <a:spAutoFit/>
          </a:bodyPr>
          <a:lstStyle/>
          <a:p>
            <a:pPr algn="ctr"/>
            <a:r>
              <a:rPr sz="1000" b="1">
                <a:solidFill>
                  <a:srgbClr val="EE8C2A"/>
                </a:solidFill>
                <a:latin typeface="Aptos"/>
              </a:rPr>
              <a:t>BOOK QUESTION</a:t>
            </a:r>
          </a:p>
        </p:txBody>
      </p:sp>
      <p:sp>
        <p:nvSpPr>
          <p:cNvPr id="14" name="Rounded Rectangle 13"/>
          <p:cNvSpPr/>
          <p:nvPr/>
        </p:nvSpPr>
        <p:spPr>
          <a:xfrm>
            <a:off x="685800" y="2331720"/>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2414015"/>
            <a:ext cx="411480" cy="320040"/>
          </a:xfrm>
          <a:prstGeom prst="rect">
            <a:avLst/>
          </a:prstGeom>
          <a:noFill/>
        </p:spPr>
        <p:txBody>
          <a:bodyPr wrap="square" lIns="27432" tIns="27432" rIns="27432" bIns="27432" anchor="t">
            <a:spAutoFit/>
          </a:bodyPr>
          <a:lstStyle/>
          <a:p>
            <a:pPr algn="ctr"/>
            <a:r>
              <a:rPr sz="1400" b="1">
                <a:solidFill>
                  <a:srgbClr val="EE8C2A"/>
                </a:solidFill>
                <a:latin typeface="Aptos"/>
              </a:rPr>
              <a:t>A</a:t>
            </a:r>
          </a:p>
        </p:txBody>
      </p:sp>
      <p:sp>
        <p:nvSpPr>
          <p:cNvPr id="16" name="TextBox 15"/>
          <p:cNvSpPr txBox="1"/>
          <p:nvPr/>
        </p:nvSpPr>
        <p:spPr>
          <a:xfrm>
            <a:off x="1417320" y="2386584"/>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A  Birth of computer → Smartphones → Internet → Cloud</a:t>
            </a:r>
          </a:p>
        </p:txBody>
      </p:sp>
      <p:sp>
        <p:nvSpPr>
          <p:cNvPr id="17" name="Rounded Rectangle 16"/>
          <p:cNvSpPr/>
          <p:nvPr/>
        </p:nvSpPr>
        <p:spPr>
          <a:xfrm>
            <a:off x="685800" y="2990087"/>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072383"/>
            <a:ext cx="411480" cy="320040"/>
          </a:xfrm>
          <a:prstGeom prst="rect">
            <a:avLst/>
          </a:prstGeom>
          <a:noFill/>
        </p:spPr>
        <p:txBody>
          <a:bodyPr wrap="square" lIns="27432" tIns="27432" rIns="27432" bIns="27432" anchor="t">
            <a:spAutoFit/>
          </a:bodyPr>
          <a:lstStyle/>
          <a:p>
            <a:pPr algn="ctr"/>
            <a:r>
              <a:rPr sz="1400" b="1">
                <a:solidFill>
                  <a:srgbClr val="EE8C2A"/>
                </a:solidFill>
                <a:latin typeface="Aptos"/>
              </a:rPr>
              <a:t>B</a:t>
            </a:r>
          </a:p>
        </p:txBody>
      </p:sp>
      <p:sp>
        <p:nvSpPr>
          <p:cNvPr id="19" name="TextBox 18"/>
          <p:cNvSpPr txBox="1"/>
          <p:nvPr/>
        </p:nvSpPr>
        <p:spPr>
          <a:xfrm>
            <a:off x="1417320" y="3044951"/>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B  Birth of computer → Internet → Smartphones → Cloud</a:t>
            </a:r>
          </a:p>
        </p:txBody>
      </p:sp>
      <p:sp>
        <p:nvSpPr>
          <p:cNvPr id="20" name="Rounded Rectangle 19"/>
          <p:cNvSpPr/>
          <p:nvPr/>
        </p:nvSpPr>
        <p:spPr>
          <a:xfrm>
            <a:off x="685800" y="3648455"/>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3730751"/>
            <a:ext cx="411480" cy="320040"/>
          </a:xfrm>
          <a:prstGeom prst="rect">
            <a:avLst/>
          </a:prstGeom>
          <a:noFill/>
        </p:spPr>
        <p:txBody>
          <a:bodyPr wrap="square" lIns="27432" tIns="27432" rIns="27432" bIns="27432" anchor="t">
            <a:spAutoFit/>
          </a:bodyPr>
          <a:lstStyle/>
          <a:p>
            <a:pPr algn="ctr"/>
            <a:r>
              <a:rPr sz="1400" b="1">
                <a:solidFill>
                  <a:srgbClr val="EE8C2A"/>
                </a:solidFill>
                <a:latin typeface="Aptos"/>
              </a:rPr>
              <a:t>C</a:t>
            </a:r>
          </a:p>
        </p:txBody>
      </p:sp>
      <p:sp>
        <p:nvSpPr>
          <p:cNvPr id="22" name="TextBox 21"/>
          <p:cNvSpPr txBox="1"/>
          <p:nvPr/>
        </p:nvSpPr>
        <p:spPr>
          <a:xfrm>
            <a:off x="1417320" y="3703319"/>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C  Internet → Birth of computer → Cloud → Smartphones</a:t>
            </a:r>
          </a:p>
        </p:txBody>
      </p:sp>
      <p:sp>
        <p:nvSpPr>
          <p:cNvPr id="23" name="Rounded Rectangle 22"/>
          <p:cNvSpPr/>
          <p:nvPr/>
        </p:nvSpPr>
        <p:spPr>
          <a:xfrm>
            <a:off x="685800" y="4306823"/>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4389119"/>
            <a:ext cx="411480" cy="320040"/>
          </a:xfrm>
          <a:prstGeom prst="rect">
            <a:avLst/>
          </a:prstGeom>
          <a:noFill/>
        </p:spPr>
        <p:txBody>
          <a:bodyPr wrap="square" lIns="27432" tIns="27432" rIns="27432" bIns="27432" anchor="t">
            <a:spAutoFit/>
          </a:bodyPr>
          <a:lstStyle/>
          <a:p>
            <a:pPr algn="ctr"/>
            <a:r>
              <a:rPr sz="1400" b="1">
                <a:solidFill>
                  <a:srgbClr val="EE8C2A"/>
                </a:solidFill>
                <a:latin typeface="Aptos"/>
              </a:rPr>
              <a:t>D</a:t>
            </a:r>
          </a:p>
        </p:txBody>
      </p:sp>
      <p:sp>
        <p:nvSpPr>
          <p:cNvPr id="25" name="TextBox 24"/>
          <p:cNvSpPr txBox="1"/>
          <p:nvPr/>
        </p:nvSpPr>
        <p:spPr>
          <a:xfrm>
            <a:off x="1417320" y="4361687"/>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D  Smartphones → Internet → Birth of computer → Cloud</a:t>
            </a:r>
          </a:p>
        </p:txBody>
      </p:sp>
      <p:sp>
        <p:nvSpPr>
          <p:cNvPr id="26" name="TextBox 25"/>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Answer: chronological order</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1-1 • WORKED EXAMPLE</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12</a:t>
            </a:r>
          </a:p>
        </p:txBody>
      </p:sp>
      <p:sp>
        <p:nvSpPr>
          <p:cNvPr id="7" name="Rounded Rectangle 6"/>
          <p:cNvSpPr/>
          <p:nvPr/>
        </p:nvSpPr>
        <p:spPr>
          <a:xfrm>
            <a:off x="548640" y="932688"/>
            <a:ext cx="1417320" cy="347472"/>
          </a:xfrm>
          <a:prstGeom prst="roundRect">
            <a:avLst/>
          </a:prstGeom>
          <a:solidFill>
            <a:srgbClr val="E5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969264"/>
            <a:ext cx="1271016" cy="237744"/>
          </a:xfrm>
          <a:prstGeom prst="rect">
            <a:avLst/>
          </a:prstGeom>
          <a:noFill/>
        </p:spPr>
        <p:txBody>
          <a:bodyPr wrap="square" lIns="27432" tIns="27432" rIns="27432" bIns="27432" anchor="ctr">
            <a:spAutoFit/>
          </a:bodyPr>
          <a:lstStyle/>
          <a:p>
            <a:pPr algn="ctr"/>
            <a:r>
              <a:rPr sz="1000" b="1">
                <a:solidFill>
                  <a:srgbClr val="398B5B"/>
                </a:solidFill>
                <a:latin typeface="Aptos"/>
              </a:rPr>
              <a:t>ANSWER</a:t>
            </a:r>
          </a:p>
        </p:txBody>
      </p:sp>
      <p:sp>
        <p:nvSpPr>
          <p:cNvPr id="9" name="TextBox 8"/>
          <p:cNvSpPr txBox="1"/>
          <p:nvPr/>
        </p:nvSpPr>
        <p:spPr>
          <a:xfrm>
            <a:off x="548640" y="1417320"/>
            <a:ext cx="10972800" cy="411480"/>
          </a:xfrm>
          <a:prstGeom prst="rect">
            <a:avLst/>
          </a:prstGeom>
          <a:noFill/>
        </p:spPr>
        <p:txBody>
          <a:bodyPr wrap="square" lIns="27432" tIns="27432" rIns="27432" bIns="27432" anchor="t">
            <a:spAutoFit/>
          </a:bodyPr>
          <a:lstStyle/>
          <a:p>
            <a:pPr algn="l"/>
            <a:r>
              <a:rPr sz="2500" b="1">
                <a:solidFill>
                  <a:srgbClr val="122A42"/>
                </a:solidFill>
                <a:latin typeface="Aptos"/>
              </a:rPr>
              <a:t>B — Birth of computer → Internet → Smartphones → Cloud</a:t>
            </a:r>
          </a:p>
        </p:txBody>
      </p:sp>
      <p:sp>
        <p:nvSpPr>
          <p:cNvPr id="10" name="Rounded Rectangle 9"/>
          <p:cNvSpPr/>
          <p:nvPr/>
        </p:nvSpPr>
        <p:spPr>
          <a:xfrm>
            <a:off x="685800" y="2057400"/>
            <a:ext cx="10698480" cy="182880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2057400"/>
            <a:ext cx="73152" cy="182880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 y="2194560"/>
            <a:ext cx="10332719" cy="320040"/>
          </a:xfrm>
          <a:prstGeom prst="rect">
            <a:avLst/>
          </a:prstGeom>
          <a:noFill/>
        </p:spPr>
        <p:txBody>
          <a:bodyPr wrap="square" lIns="27432" tIns="27432" rIns="27432" bIns="27432" anchor="t">
            <a:spAutoFit/>
          </a:bodyPr>
          <a:lstStyle/>
          <a:p>
            <a:pPr algn="l"/>
            <a:r>
              <a:rPr sz="1600" b="1">
                <a:solidFill>
                  <a:srgbClr val="122A42"/>
                </a:solidFill>
                <a:latin typeface="Aptos"/>
              </a:rPr>
              <a:t>Why?</a:t>
            </a:r>
          </a:p>
        </p:txBody>
      </p:sp>
      <p:sp>
        <p:nvSpPr>
          <p:cNvPr id="13" name="TextBox 12"/>
          <p:cNvSpPr txBox="1"/>
          <p:nvPr/>
        </p:nvSpPr>
        <p:spPr>
          <a:xfrm>
            <a:off x="886968" y="2587752"/>
            <a:ext cx="10332719" cy="1170432"/>
          </a:xfrm>
          <a:prstGeom prst="rect">
            <a:avLst/>
          </a:prstGeom>
          <a:noFill/>
        </p:spPr>
        <p:txBody>
          <a:bodyPr wrap="square" lIns="27432" tIns="27432" rIns="27432" bIns="27432" anchor="t">
            <a:spAutoFit/>
          </a:bodyPr>
          <a:lstStyle/>
          <a:p>
            <a:pPr algn="l"/>
            <a:r>
              <a:rPr sz="1700" b="0">
                <a:solidFill>
                  <a:srgbClr val="26303A"/>
                </a:solidFill>
                <a:latin typeface="Aptos"/>
              </a:rPr>
              <a:t>The textbook timeline is: 1940s–60s computers; 1990s Internet/Web; 2000s smartphones; 2010s onward cloud computing.</a:t>
            </a:r>
          </a:p>
        </p:txBody>
      </p:sp>
      <p:sp>
        <p:nvSpPr>
          <p:cNvPr id="14" name="TextBox 13"/>
          <p:cNvSpPr txBox="1"/>
          <p:nvPr/>
        </p:nvSpPr>
        <p:spPr>
          <a:xfrm>
            <a:off x="731520" y="4251960"/>
            <a:ext cx="10424160" cy="1097280"/>
          </a:xfrm>
          <a:prstGeom prst="rect">
            <a:avLst/>
          </a:prstGeom>
          <a:noFill/>
        </p:spPr>
        <p:txBody>
          <a:bodyPr wrap="square" lIns="27432" tIns="27432" rIns="27432" bIns="27432" anchor="t">
            <a:spAutoFit/>
          </a:bodyPr>
          <a:lstStyle/>
          <a:p>
            <a:pPr algn="l"/>
            <a:r>
              <a:rPr sz="1500" b="0">
                <a:solidFill>
                  <a:srgbClr val="66737E"/>
                </a:solidFill>
                <a:latin typeface="Aptos"/>
              </a:rPr>
              <a:t>Teaching move: ask students to explain the clue in the question that led them to the answer.</a:t>
            </a:r>
          </a:p>
        </p:txBody>
      </p:sp>
      <p:sp>
        <p:nvSpPr>
          <p:cNvPr id="15" name="TextBox 14"/>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Question practice: short-answer terms</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1-1 • TRY</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13</a:t>
            </a:r>
          </a:p>
        </p:txBody>
      </p:sp>
      <p:sp>
        <p:nvSpPr>
          <p:cNvPr id="7" name="Rounded Rectangle 6"/>
          <p:cNvSpPr/>
          <p:nvPr/>
        </p:nvSpPr>
        <p:spPr>
          <a:xfrm>
            <a:off x="594360" y="932688"/>
            <a:ext cx="960120" cy="347472"/>
          </a:xfrm>
          <a:prstGeom prst="roundRect">
            <a:avLst/>
          </a:prstGeom>
          <a:solidFill>
            <a:srgbClr val="FDF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969264"/>
            <a:ext cx="813816" cy="237744"/>
          </a:xfrm>
          <a:prstGeom prst="rect">
            <a:avLst/>
          </a:prstGeom>
          <a:noFill/>
        </p:spPr>
        <p:txBody>
          <a:bodyPr wrap="square" lIns="27432" tIns="27432" rIns="27432" bIns="27432" anchor="ctr">
            <a:spAutoFit/>
          </a:bodyPr>
          <a:lstStyle/>
          <a:p>
            <a:pPr algn="ctr"/>
            <a:r>
              <a:rPr sz="1000" b="1">
                <a:solidFill>
                  <a:srgbClr val="EE8C2A"/>
                </a:solidFill>
                <a:latin typeface="Aptos"/>
              </a:rPr>
              <a:t>TRY</a:t>
            </a:r>
          </a:p>
        </p:txBody>
      </p:sp>
      <p:sp>
        <p:nvSpPr>
          <p:cNvPr id="9" name="TextBox 8"/>
          <p:cNvSpPr txBox="1"/>
          <p:nvPr/>
        </p:nvSpPr>
        <p:spPr>
          <a:xfrm>
            <a:off x="731520" y="1417320"/>
            <a:ext cx="10515600" cy="4297680"/>
          </a:xfrm>
          <a:prstGeom prst="rect">
            <a:avLst/>
          </a:prstGeom>
          <a:noFill/>
        </p:spPr>
        <p:txBody>
          <a:bodyPr wrap="square" lIns="36576" tIns="27432" rIns="36576" bIns="27432">
            <a:spAutoFit/>
          </a:bodyPr>
          <a:lstStyle/>
          <a:p>
            <a:pPr>
              <a:spcAft>
                <a:spcPts val="800"/>
              </a:spcAft>
              <a:defRPr sz="1700">
                <a:solidFill>
                  <a:srgbClr val="26303A"/>
                </a:solidFill>
                <a:latin typeface="Aptos"/>
              </a:defRPr>
            </a:pPr>
            <a:r>
              <a:t>• 1. What is the name of the observation that transistor count roughly doubles every two years?</a:t>
            </a:r>
          </a:p>
          <a:p>
            <a:pPr>
              <a:spcAft>
                <a:spcPts val="800"/>
              </a:spcAft>
              <a:defRPr sz="1700">
                <a:solidFill>
                  <a:srgbClr val="26303A"/>
                </a:solidFill>
                <a:latin typeface="Aptos"/>
              </a:defRPr>
            </a:pPr>
            <a:r>
              <a:t>• 2. What is buying and selling goods/services using the Internet called?</a:t>
            </a:r>
          </a:p>
          <a:p>
            <a:pPr>
              <a:spcAft>
                <a:spcPts val="800"/>
              </a:spcAft>
              <a:defRPr sz="1700">
                <a:solidFill>
                  <a:srgbClr val="26303A"/>
                </a:solidFill>
                <a:latin typeface="Aptos"/>
              </a:defRPr>
            </a:pPr>
            <a:r>
              <a:t>• 3. What is working from home or another remote location using the Internet called?</a:t>
            </a:r>
          </a:p>
          <a:p>
            <a:pPr>
              <a:spcAft>
                <a:spcPts val="800"/>
              </a:spcAft>
              <a:defRPr sz="1700">
                <a:solidFill>
                  <a:srgbClr val="26303A"/>
                </a:solidFill>
                <a:latin typeface="Aptos"/>
              </a:defRPr>
            </a:pPr>
            <a:r>
              <a:t>• 4. What is paying with electronic money, cards, apps or QR codes instead of cash called?</a:t>
            </a:r>
          </a:p>
          <a:p>
            <a:pPr>
              <a:spcAft>
                <a:spcPts val="800"/>
              </a:spcAft>
              <a:defRPr sz="1700">
                <a:solidFill>
                  <a:srgbClr val="26303A"/>
                </a:solidFill>
                <a:latin typeface="Aptos"/>
              </a:defRPr>
            </a:pPr>
            <a:r>
              <a:t>• 5. What technology uses AI to drive a vehicle without human operation?</a:t>
            </a:r>
          </a:p>
        </p:txBody>
      </p:sp>
      <p:sp>
        <p:nvSpPr>
          <p:cNvPr id="10" name="TextBox 9"/>
          <p:cNvSpPr txBox="1"/>
          <p:nvPr/>
        </p:nvSpPr>
        <p:spPr>
          <a:xfrm>
            <a:off x="731520" y="5897880"/>
            <a:ext cx="10515600" cy="274320"/>
          </a:xfrm>
          <a:prstGeom prst="rect">
            <a:avLst/>
          </a:prstGeom>
          <a:noFill/>
        </p:spPr>
        <p:txBody>
          <a:bodyPr wrap="square" lIns="27432" tIns="27432" rIns="27432" bIns="27432" anchor="t">
            <a:spAutoFit/>
          </a:bodyPr>
          <a:lstStyle/>
          <a:p>
            <a:pPr algn="l"/>
            <a:r>
              <a:rPr sz="1200" b="0">
                <a:solidFill>
                  <a:srgbClr val="66737E"/>
                </a:solidFill>
                <a:latin typeface="Aptos"/>
              </a:rPr>
              <a:t>Teacher move: pause after each one and ask students to underline the clue words.</a:t>
            </a:r>
          </a:p>
        </p:txBody>
      </p:sp>
      <p:sp>
        <p:nvSpPr>
          <p:cNvPr id="11" name="TextBox 10"/>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Answers: short-answer terms</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1-1 • TRY</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14</a:t>
            </a:r>
          </a:p>
        </p:txBody>
      </p:sp>
      <p:sp>
        <p:nvSpPr>
          <p:cNvPr id="7" name="Rounded Rectangle 6"/>
          <p:cNvSpPr/>
          <p:nvPr/>
        </p:nvSpPr>
        <p:spPr>
          <a:xfrm>
            <a:off x="640080" y="1143000"/>
            <a:ext cx="5166360" cy="82296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143000"/>
            <a:ext cx="73152" cy="82296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280160"/>
            <a:ext cx="4800600" cy="320040"/>
          </a:xfrm>
          <a:prstGeom prst="rect">
            <a:avLst/>
          </a:prstGeom>
          <a:noFill/>
        </p:spPr>
        <p:txBody>
          <a:bodyPr wrap="square" lIns="27432" tIns="27432" rIns="27432" bIns="27432" anchor="t">
            <a:spAutoFit/>
          </a:bodyPr>
          <a:lstStyle/>
          <a:p>
            <a:pPr algn="l"/>
            <a:r>
              <a:rPr sz="1500" b="1">
                <a:solidFill>
                  <a:srgbClr val="122A42"/>
                </a:solidFill>
                <a:latin typeface="Aptos"/>
              </a:rPr>
              <a:t>1. Moore’s Law</a:t>
            </a:r>
          </a:p>
        </p:txBody>
      </p:sp>
      <p:sp>
        <p:nvSpPr>
          <p:cNvPr id="10" name="TextBox 9"/>
          <p:cNvSpPr txBox="1"/>
          <p:nvPr/>
        </p:nvSpPr>
        <p:spPr>
          <a:xfrm>
            <a:off x="841247" y="1673352"/>
            <a:ext cx="4800600" cy="164592"/>
          </a:xfrm>
          <a:prstGeom prst="rect">
            <a:avLst/>
          </a:prstGeom>
          <a:noFill/>
        </p:spPr>
        <p:txBody>
          <a:bodyPr wrap="square" lIns="27432" tIns="27432" rIns="27432" bIns="27432" anchor="t">
            <a:spAutoFit/>
          </a:bodyPr>
          <a:lstStyle/>
          <a:p>
            <a:pPr algn="l"/>
            <a:endParaRPr/>
          </a:p>
        </p:txBody>
      </p:sp>
      <p:sp>
        <p:nvSpPr>
          <p:cNvPr id="11" name="Rounded Rectangle 10"/>
          <p:cNvSpPr/>
          <p:nvPr/>
        </p:nvSpPr>
        <p:spPr>
          <a:xfrm>
            <a:off x="6217920" y="1143000"/>
            <a:ext cx="5166360" cy="82296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143000"/>
            <a:ext cx="73152" cy="82296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19088" y="1280160"/>
            <a:ext cx="4800600" cy="320040"/>
          </a:xfrm>
          <a:prstGeom prst="rect">
            <a:avLst/>
          </a:prstGeom>
          <a:noFill/>
        </p:spPr>
        <p:txBody>
          <a:bodyPr wrap="square" lIns="27432" tIns="27432" rIns="27432" bIns="27432" anchor="t">
            <a:spAutoFit/>
          </a:bodyPr>
          <a:lstStyle/>
          <a:p>
            <a:pPr algn="l"/>
            <a:r>
              <a:rPr sz="1500" b="1">
                <a:solidFill>
                  <a:srgbClr val="122A42"/>
                </a:solidFill>
                <a:latin typeface="Aptos"/>
              </a:rPr>
              <a:t>2. E-commerce (EC)</a:t>
            </a:r>
          </a:p>
        </p:txBody>
      </p:sp>
      <p:sp>
        <p:nvSpPr>
          <p:cNvPr id="14" name="TextBox 13"/>
          <p:cNvSpPr txBox="1"/>
          <p:nvPr/>
        </p:nvSpPr>
        <p:spPr>
          <a:xfrm>
            <a:off x="6419088" y="1673352"/>
            <a:ext cx="4800600" cy="164592"/>
          </a:xfrm>
          <a:prstGeom prst="rect">
            <a:avLst/>
          </a:prstGeom>
          <a:noFill/>
        </p:spPr>
        <p:txBody>
          <a:bodyPr wrap="square" lIns="27432" tIns="27432" rIns="27432" bIns="27432" anchor="t">
            <a:spAutoFit/>
          </a:bodyPr>
          <a:lstStyle/>
          <a:p>
            <a:pPr algn="l"/>
            <a:endParaRPr/>
          </a:p>
        </p:txBody>
      </p:sp>
      <p:sp>
        <p:nvSpPr>
          <p:cNvPr id="15" name="Rounded Rectangle 14"/>
          <p:cNvSpPr/>
          <p:nvPr/>
        </p:nvSpPr>
        <p:spPr>
          <a:xfrm>
            <a:off x="640080" y="2194560"/>
            <a:ext cx="5166360" cy="82296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2194560"/>
            <a:ext cx="73152" cy="82296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2331720"/>
            <a:ext cx="4800600" cy="320040"/>
          </a:xfrm>
          <a:prstGeom prst="rect">
            <a:avLst/>
          </a:prstGeom>
          <a:noFill/>
        </p:spPr>
        <p:txBody>
          <a:bodyPr wrap="square" lIns="27432" tIns="27432" rIns="27432" bIns="27432" anchor="t">
            <a:spAutoFit/>
          </a:bodyPr>
          <a:lstStyle/>
          <a:p>
            <a:pPr algn="l"/>
            <a:r>
              <a:rPr sz="1500" b="1">
                <a:solidFill>
                  <a:srgbClr val="122A42"/>
                </a:solidFill>
                <a:latin typeface="Aptos"/>
              </a:rPr>
              <a:t>3. Remote work</a:t>
            </a:r>
          </a:p>
        </p:txBody>
      </p:sp>
      <p:sp>
        <p:nvSpPr>
          <p:cNvPr id="18" name="TextBox 17"/>
          <p:cNvSpPr txBox="1"/>
          <p:nvPr/>
        </p:nvSpPr>
        <p:spPr>
          <a:xfrm>
            <a:off x="841247" y="2724912"/>
            <a:ext cx="4800600" cy="164592"/>
          </a:xfrm>
          <a:prstGeom prst="rect">
            <a:avLst/>
          </a:prstGeom>
          <a:noFill/>
        </p:spPr>
        <p:txBody>
          <a:bodyPr wrap="square" lIns="27432" tIns="27432" rIns="27432" bIns="27432" anchor="t">
            <a:spAutoFit/>
          </a:bodyPr>
          <a:lstStyle/>
          <a:p>
            <a:pPr algn="l"/>
            <a:endParaRPr/>
          </a:p>
        </p:txBody>
      </p:sp>
      <p:sp>
        <p:nvSpPr>
          <p:cNvPr id="19" name="Rounded Rectangle 18"/>
          <p:cNvSpPr/>
          <p:nvPr/>
        </p:nvSpPr>
        <p:spPr>
          <a:xfrm>
            <a:off x="6217920" y="2194560"/>
            <a:ext cx="5166360" cy="82296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2194560"/>
            <a:ext cx="73152" cy="82296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19088" y="2331720"/>
            <a:ext cx="4800600" cy="320040"/>
          </a:xfrm>
          <a:prstGeom prst="rect">
            <a:avLst/>
          </a:prstGeom>
          <a:noFill/>
        </p:spPr>
        <p:txBody>
          <a:bodyPr wrap="square" lIns="27432" tIns="27432" rIns="27432" bIns="27432" anchor="t">
            <a:spAutoFit/>
          </a:bodyPr>
          <a:lstStyle/>
          <a:p>
            <a:pPr algn="l"/>
            <a:r>
              <a:rPr sz="1500" b="1">
                <a:solidFill>
                  <a:srgbClr val="122A42"/>
                </a:solidFill>
                <a:latin typeface="Aptos"/>
              </a:rPr>
              <a:t>4. Cashless payment</a:t>
            </a:r>
          </a:p>
        </p:txBody>
      </p:sp>
      <p:sp>
        <p:nvSpPr>
          <p:cNvPr id="22" name="TextBox 21"/>
          <p:cNvSpPr txBox="1"/>
          <p:nvPr/>
        </p:nvSpPr>
        <p:spPr>
          <a:xfrm>
            <a:off x="6419088" y="2724912"/>
            <a:ext cx="4800600" cy="164592"/>
          </a:xfrm>
          <a:prstGeom prst="rect">
            <a:avLst/>
          </a:prstGeom>
          <a:noFill/>
        </p:spPr>
        <p:txBody>
          <a:bodyPr wrap="square" lIns="27432" tIns="27432" rIns="27432" bIns="27432" anchor="t">
            <a:spAutoFit/>
          </a:bodyPr>
          <a:lstStyle/>
          <a:p>
            <a:pPr algn="l"/>
            <a:endParaRPr/>
          </a:p>
        </p:txBody>
      </p:sp>
      <p:sp>
        <p:nvSpPr>
          <p:cNvPr id="23" name="Rounded Rectangle 22"/>
          <p:cNvSpPr/>
          <p:nvPr/>
        </p:nvSpPr>
        <p:spPr>
          <a:xfrm>
            <a:off x="640080" y="3246120"/>
            <a:ext cx="5166360" cy="82296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0080" y="3246120"/>
            <a:ext cx="73152" cy="82296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1247" y="3383279"/>
            <a:ext cx="4800600" cy="320040"/>
          </a:xfrm>
          <a:prstGeom prst="rect">
            <a:avLst/>
          </a:prstGeom>
          <a:noFill/>
        </p:spPr>
        <p:txBody>
          <a:bodyPr wrap="square" lIns="27432" tIns="27432" rIns="27432" bIns="27432" anchor="t">
            <a:spAutoFit/>
          </a:bodyPr>
          <a:lstStyle/>
          <a:p>
            <a:pPr algn="l"/>
            <a:r>
              <a:rPr sz="1500" b="1">
                <a:solidFill>
                  <a:srgbClr val="122A42"/>
                </a:solidFill>
                <a:latin typeface="Aptos"/>
              </a:rPr>
              <a:t>5. Autonomous driving</a:t>
            </a:r>
          </a:p>
        </p:txBody>
      </p:sp>
      <p:sp>
        <p:nvSpPr>
          <p:cNvPr id="26" name="TextBox 25"/>
          <p:cNvSpPr txBox="1"/>
          <p:nvPr/>
        </p:nvSpPr>
        <p:spPr>
          <a:xfrm>
            <a:off x="841247" y="3776472"/>
            <a:ext cx="4800600" cy="164592"/>
          </a:xfrm>
          <a:prstGeom prst="rect">
            <a:avLst/>
          </a:prstGeom>
          <a:noFill/>
        </p:spPr>
        <p:txBody>
          <a:bodyPr wrap="square" lIns="27432" tIns="27432" rIns="27432" bIns="27432" anchor="t">
            <a:spAutoFit/>
          </a:bodyPr>
          <a:lstStyle/>
          <a:p>
            <a:pPr algn="l"/>
            <a:endParaRPr/>
          </a:p>
        </p:txBody>
      </p:sp>
      <p:sp>
        <p:nvSpPr>
          <p:cNvPr id="27" name="TextBox 26"/>
          <p:cNvSpPr txBox="1"/>
          <p:nvPr/>
        </p:nvSpPr>
        <p:spPr>
          <a:xfrm>
            <a:off x="685800" y="5440680"/>
            <a:ext cx="10607040" cy="640080"/>
          </a:xfrm>
          <a:prstGeom prst="rect">
            <a:avLst/>
          </a:prstGeom>
          <a:noFill/>
        </p:spPr>
        <p:txBody>
          <a:bodyPr wrap="square" lIns="27432" tIns="27432" rIns="27432" bIns="27432" anchor="t">
            <a:spAutoFit/>
          </a:bodyPr>
          <a:lstStyle/>
          <a:p>
            <a:pPr algn="ctr"/>
            <a:r>
              <a:rPr sz="1900" b="1">
                <a:solidFill>
                  <a:srgbClr val="122A42"/>
                </a:solidFill>
                <a:latin typeface="Aptos"/>
              </a:rPr>
              <a:t>Exam habit: identify the definition first, then match it to the key term.</a:t>
            </a:r>
          </a:p>
        </p:txBody>
      </p:sp>
      <p:sp>
        <p:nvSpPr>
          <p:cNvPr id="28" name="TextBox 27"/>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Question practice: mixed exam style</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1-1 • TRY</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15</a:t>
            </a:r>
          </a:p>
        </p:txBody>
      </p:sp>
      <p:sp>
        <p:nvSpPr>
          <p:cNvPr id="7" name="Rounded Rectangle 6"/>
          <p:cNvSpPr/>
          <p:nvPr/>
        </p:nvSpPr>
        <p:spPr>
          <a:xfrm>
            <a:off x="548640" y="932688"/>
            <a:ext cx="1600200" cy="347472"/>
          </a:xfrm>
          <a:prstGeom prst="roundRect">
            <a:avLst/>
          </a:prstGeom>
          <a:solidFill>
            <a:srgbClr val="FDF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969264"/>
            <a:ext cx="1453896" cy="237744"/>
          </a:xfrm>
          <a:prstGeom prst="rect">
            <a:avLst/>
          </a:prstGeom>
          <a:noFill/>
        </p:spPr>
        <p:txBody>
          <a:bodyPr wrap="square" lIns="27432" tIns="27432" rIns="27432" bIns="27432" anchor="ctr">
            <a:spAutoFit/>
          </a:bodyPr>
          <a:lstStyle/>
          <a:p>
            <a:pPr algn="ctr"/>
            <a:r>
              <a:rPr sz="1000" b="1">
                <a:solidFill>
                  <a:srgbClr val="EE8C2A"/>
                </a:solidFill>
                <a:latin typeface="Aptos"/>
              </a:rPr>
              <a:t>BOOK QUESTION</a:t>
            </a:r>
          </a:p>
        </p:txBody>
      </p:sp>
      <p:sp>
        <p:nvSpPr>
          <p:cNvPr id="9" name="TextBox 8"/>
          <p:cNvSpPr txBox="1"/>
          <p:nvPr/>
        </p:nvSpPr>
        <p:spPr>
          <a:xfrm>
            <a:off x="548640" y="1417320"/>
            <a:ext cx="10972800" cy="731520"/>
          </a:xfrm>
          <a:prstGeom prst="rect">
            <a:avLst/>
          </a:prstGeom>
          <a:noFill/>
        </p:spPr>
        <p:txBody>
          <a:bodyPr wrap="square" lIns="27432" tIns="27432" rIns="27432" bIns="27432" anchor="t">
            <a:spAutoFit/>
          </a:bodyPr>
          <a:lstStyle/>
          <a:p>
            <a:pPr algn="l"/>
            <a:r>
              <a:rPr sz="2200" b="1">
                <a:solidFill>
                  <a:srgbClr val="122A42"/>
                </a:solidFill>
                <a:latin typeface="Aptos"/>
              </a:rPr>
              <a:t>Which statement is NOT correct?</a:t>
            </a:r>
          </a:p>
        </p:txBody>
      </p:sp>
      <p:sp>
        <p:nvSpPr>
          <p:cNvPr id="10" name="Rounded Rectangle 9"/>
          <p:cNvSpPr/>
          <p:nvPr/>
        </p:nvSpPr>
        <p:spPr>
          <a:xfrm>
            <a:off x="685800" y="2331720"/>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414015"/>
            <a:ext cx="411480" cy="320040"/>
          </a:xfrm>
          <a:prstGeom prst="rect">
            <a:avLst/>
          </a:prstGeom>
          <a:noFill/>
        </p:spPr>
        <p:txBody>
          <a:bodyPr wrap="square" lIns="27432" tIns="27432" rIns="27432" bIns="27432" anchor="t">
            <a:spAutoFit/>
          </a:bodyPr>
          <a:lstStyle/>
          <a:p>
            <a:pPr algn="ctr"/>
            <a:r>
              <a:rPr sz="1400" b="1">
                <a:solidFill>
                  <a:srgbClr val="EE8C2A"/>
                </a:solidFill>
                <a:latin typeface="Aptos"/>
              </a:rPr>
              <a:t>A</a:t>
            </a:r>
          </a:p>
        </p:txBody>
      </p:sp>
      <p:sp>
        <p:nvSpPr>
          <p:cNvPr id="12" name="TextBox 11"/>
          <p:cNvSpPr txBox="1"/>
          <p:nvPr/>
        </p:nvSpPr>
        <p:spPr>
          <a:xfrm>
            <a:off x="1417320" y="2386584"/>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A  Autonomous driving uses AI to drive without human operation.</a:t>
            </a:r>
          </a:p>
        </p:txBody>
      </p:sp>
      <p:sp>
        <p:nvSpPr>
          <p:cNvPr id="13" name="Rounded Rectangle 12"/>
          <p:cNvSpPr/>
          <p:nvPr/>
        </p:nvSpPr>
        <p:spPr>
          <a:xfrm>
            <a:off x="685800" y="2990087"/>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072383"/>
            <a:ext cx="411480" cy="320040"/>
          </a:xfrm>
          <a:prstGeom prst="rect">
            <a:avLst/>
          </a:prstGeom>
          <a:noFill/>
        </p:spPr>
        <p:txBody>
          <a:bodyPr wrap="square" lIns="27432" tIns="27432" rIns="27432" bIns="27432" anchor="t">
            <a:spAutoFit/>
          </a:bodyPr>
          <a:lstStyle/>
          <a:p>
            <a:pPr algn="ctr"/>
            <a:r>
              <a:rPr sz="1400" b="1">
                <a:solidFill>
                  <a:srgbClr val="EE8C2A"/>
                </a:solidFill>
                <a:latin typeface="Aptos"/>
              </a:rPr>
              <a:t>B</a:t>
            </a:r>
          </a:p>
        </p:txBody>
      </p:sp>
      <p:sp>
        <p:nvSpPr>
          <p:cNvPr id="15" name="TextBox 14"/>
          <p:cNvSpPr txBox="1"/>
          <p:nvPr/>
        </p:nvSpPr>
        <p:spPr>
          <a:xfrm>
            <a:off x="1417320" y="3044951"/>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B  AR overlays digital information on real-world images.</a:t>
            </a:r>
          </a:p>
        </p:txBody>
      </p:sp>
      <p:sp>
        <p:nvSpPr>
          <p:cNvPr id="16" name="Rounded Rectangle 15"/>
          <p:cNvSpPr/>
          <p:nvPr/>
        </p:nvSpPr>
        <p:spPr>
          <a:xfrm>
            <a:off x="685800" y="3648455"/>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3730751"/>
            <a:ext cx="411480" cy="320040"/>
          </a:xfrm>
          <a:prstGeom prst="rect">
            <a:avLst/>
          </a:prstGeom>
          <a:noFill/>
        </p:spPr>
        <p:txBody>
          <a:bodyPr wrap="square" lIns="27432" tIns="27432" rIns="27432" bIns="27432" anchor="t">
            <a:spAutoFit/>
          </a:bodyPr>
          <a:lstStyle/>
          <a:p>
            <a:pPr algn="ctr"/>
            <a:r>
              <a:rPr sz="1400" b="1">
                <a:solidFill>
                  <a:srgbClr val="EE8C2A"/>
                </a:solidFill>
                <a:latin typeface="Aptos"/>
              </a:rPr>
              <a:t>C</a:t>
            </a:r>
          </a:p>
        </p:txBody>
      </p:sp>
      <p:sp>
        <p:nvSpPr>
          <p:cNvPr id="18" name="TextBox 17"/>
          <p:cNvSpPr txBox="1"/>
          <p:nvPr/>
        </p:nvSpPr>
        <p:spPr>
          <a:xfrm>
            <a:off x="1417320" y="3703319"/>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C  VR dramatically improves the processing speed of a computer.</a:t>
            </a:r>
          </a:p>
        </p:txBody>
      </p:sp>
      <p:sp>
        <p:nvSpPr>
          <p:cNvPr id="19" name="Rounded Rectangle 18"/>
          <p:cNvSpPr/>
          <p:nvPr/>
        </p:nvSpPr>
        <p:spPr>
          <a:xfrm>
            <a:off x="685800" y="4306823"/>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389119"/>
            <a:ext cx="411480" cy="320040"/>
          </a:xfrm>
          <a:prstGeom prst="rect">
            <a:avLst/>
          </a:prstGeom>
          <a:noFill/>
        </p:spPr>
        <p:txBody>
          <a:bodyPr wrap="square" lIns="27432" tIns="27432" rIns="27432" bIns="27432" anchor="t">
            <a:spAutoFit/>
          </a:bodyPr>
          <a:lstStyle/>
          <a:p>
            <a:pPr algn="ctr"/>
            <a:r>
              <a:rPr sz="1400" b="1">
                <a:solidFill>
                  <a:srgbClr val="EE8C2A"/>
                </a:solidFill>
                <a:latin typeface="Aptos"/>
              </a:rPr>
              <a:t>D</a:t>
            </a:r>
          </a:p>
        </p:txBody>
      </p:sp>
      <p:sp>
        <p:nvSpPr>
          <p:cNvPr id="21" name="TextBox 20"/>
          <p:cNvSpPr txBox="1"/>
          <p:nvPr/>
        </p:nvSpPr>
        <p:spPr>
          <a:xfrm>
            <a:off x="1417320" y="4361687"/>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D  Quantum computing may speed up computations that are difficult for traditional computers.</a:t>
            </a:r>
          </a:p>
        </p:txBody>
      </p:sp>
      <p:sp>
        <p:nvSpPr>
          <p:cNvPr id="22" name="TextBox 21"/>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Answer: spot the wrong definition</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1-1 • TRY</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16</a:t>
            </a:r>
          </a:p>
        </p:txBody>
      </p:sp>
      <p:sp>
        <p:nvSpPr>
          <p:cNvPr id="7" name="Rounded Rectangle 6"/>
          <p:cNvSpPr/>
          <p:nvPr/>
        </p:nvSpPr>
        <p:spPr>
          <a:xfrm>
            <a:off x="548640" y="932688"/>
            <a:ext cx="1417320" cy="347472"/>
          </a:xfrm>
          <a:prstGeom prst="roundRect">
            <a:avLst/>
          </a:prstGeom>
          <a:solidFill>
            <a:srgbClr val="E5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969264"/>
            <a:ext cx="1271016" cy="237744"/>
          </a:xfrm>
          <a:prstGeom prst="rect">
            <a:avLst/>
          </a:prstGeom>
          <a:noFill/>
        </p:spPr>
        <p:txBody>
          <a:bodyPr wrap="square" lIns="27432" tIns="27432" rIns="27432" bIns="27432" anchor="ctr">
            <a:spAutoFit/>
          </a:bodyPr>
          <a:lstStyle/>
          <a:p>
            <a:pPr algn="ctr"/>
            <a:r>
              <a:rPr sz="1000" b="1">
                <a:solidFill>
                  <a:srgbClr val="398B5B"/>
                </a:solidFill>
                <a:latin typeface="Aptos"/>
              </a:rPr>
              <a:t>ANSWER</a:t>
            </a:r>
          </a:p>
        </p:txBody>
      </p:sp>
      <p:sp>
        <p:nvSpPr>
          <p:cNvPr id="9" name="TextBox 8"/>
          <p:cNvSpPr txBox="1"/>
          <p:nvPr/>
        </p:nvSpPr>
        <p:spPr>
          <a:xfrm>
            <a:off x="548640" y="1417320"/>
            <a:ext cx="10972800" cy="411480"/>
          </a:xfrm>
          <a:prstGeom prst="rect">
            <a:avLst/>
          </a:prstGeom>
          <a:noFill/>
        </p:spPr>
        <p:txBody>
          <a:bodyPr wrap="square" lIns="27432" tIns="27432" rIns="27432" bIns="27432" anchor="t">
            <a:spAutoFit/>
          </a:bodyPr>
          <a:lstStyle/>
          <a:p>
            <a:pPr algn="l"/>
            <a:r>
              <a:rPr sz="2500" b="1">
                <a:solidFill>
                  <a:srgbClr val="122A42"/>
                </a:solidFill>
                <a:latin typeface="Aptos"/>
              </a:rPr>
              <a:t>C is NOT correct.</a:t>
            </a:r>
          </a:p>
        </p:txBody>
      </p:sp>
      <p:sp>
        <p:nvSpPr>
          <p:cNvPr id="10" name="Rounded Rectangle 9"/>
          <p:cNvSpPr/>
          <p:nvPr/>
        </p:nvSpPr>
        <p:spPr>
          <a:xfrm>
            <a:off x="685800" y="2057400"/>
            <a:ext cx="10698480" cy="182880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2057400"/>
            <a:ext cx="73152" cy="182880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 y="2194560"/>
            <a:ext cx="10332719" cy="320040"/>
          </a:xfrm>
          <a:prstGeom prst="rect">
            <a:avLst/>
          </a:prstGeom>
          <a:noFill/>
        </p:spPr>
        <p:txBody>
          <a:bodyPr wrap="square" lIns="27432" tIns="27432" rIns="27432" bIns="27432" anchor="t">
            <a:spAutoFit/>
          </a:bodyPr>
          <a:lstStyle/>
          <a:p>
            <a:pPr algn="l"/>
            <a:r>
              <a:rPr sz="1600" b="1">
                <a:solidFill>
                  <a:srgbClr val="122A42"/>
                </a:solidFill>
                <a:latin typeface="Aptos"/>
              </a:rPr>
              <a:t>Why?</a:t>
            </a:r>
          </a:p>
        </p:txBody>
      </p:sp>
      <p:sp>
        <p:nvSpPr>
          <p:cNvPr id="13" name="TextBox 12"/>
          <p:cNvSpPr txBox="1"/>
          <p:nvPr/>
        </p:nvSpPr>
        <p:spPr>
          <a:xfrm>
            <a:off x="886968" y="2587752"/>
            <a:ext cx="10332719" cy="1170432"/>
          </a:xfrm>
          <a:prstGeom prst="rect">
            <a:avLst/>
          </a:prstGeom>
          <a:noFill/>
        </p:spPr>
        <p:txBody>
          <a:bodyPr wrap="square" lIns="27432" tIns="27432" rIns="27432" bIns="27432" anchor="t">
            <a:spAutoFit/>
          </a:bodyPr>
          <a:lstStyle/>
          <a:p>
            <a:pPr algn="l"/>
            <a:r>
              <a:rPr sz="1700" b="0">
                <a:solidFill>
                  <a:srgbClr val="26303A"/>
                </a:solidFill>
                <a:latin typeface="Aptos"/>
              </a:rPr>
              <a:t>VR is about immersion in a virtual space. The statement about dramatically improving processing speed is not the textbook definition of VR.</a:t>
            </a:r>
          </a:p>
        </p:txBody>
      </p:sp>
      <p:sp>
        <p:nvSpPr>
          <p:cNvPr id="14" name="TextBox 13"/>
          <p:cNvSpPr txBox="1"/>
          <p:nvPr/>
        </p:nvSpPr>
        <p:spPr>
          <a:xfrm>
            <a:off x="731520" y="4251960"/>
            <a:ext cx="10424160" cy="1097280"/>
          </a:xfrm>
          <a:prstGeom prst="rect">
            <a:avLst/>
          </a:prstGeom>
          <a:noFill/>
        </p:spPr>
        <p:txBody>
          <a:bodyPr wrap="square" lIns="27432" tIns="27432" rIns="27432" bIns="27432" anchor="t">
            <a:spAutoFit/>
          </a:bodyPr>
          <a:lstStyle/>
          <a:p>
            <a:pPr algn="l"/>
            <a:r>
              <a:rPr sz="1500" b="0">
                <a:solidFill>
                  <a:srgbClr val="66737E"/>
                </a:solidFill>
                <a:latin typeface="Aptos"/>
              </a:rPr>
              <a:t>Teaching move: ask students to explain the clue in the question that led them to the answer.</a:t>
            </a:r>
          </a:p>
        </p:txBody>
      </p:sp>
      <p:sp>
        <p:nvSpPr>
          <p:cNvPr id="15" name="TextBox 14"/>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Class activity: should we go fully cashless?</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1-1 • THINK AS AN ENGINEER</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17</a:t>
            </a:r>
          </a:p>
        </p:txBody>
      </p:sp>
      <p:sp>
        <p:nvSpPr>
          <p:cNvPr id="7" name="Rounded Rectangle 6"/>
          <p:cNvSpPr/>
          <p:nvPr/>
        </p:nvSpPr>
        <p:spPr>
          <a:xfrm>
            <a:off x="640080" y="1097280"/>
            <a:ext cx="3337560" cy="1828800"/>
          </a:xfrm>
          <a:prstGeom prst="roundRect">
            <a:avLst/>
          </a:prstGeom>
          <a:solidFill>
            <a:srgbClr val="E7F1F8"/>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097280"/>
            <a:ext cx="73152" cy="1828800"/>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234439"/>
            <a:ext cx="2971800" cy="320040"/>
          </a:xfrm>
          <a:prstGeom prst="rect">
            <a:avLst/>
          </a:prstGeom>
          <a:noFill/>
        </p:spPr>
        <p:txBody>
          <a:bodyPr wrap="square" lIns="27432" tIns="27432" rIns="27432" bIns="27432" anchor="t">
            <a:spAutoFit/>
          </a:bodyPr>
          <a:lstStyle/>
          <a:p>
            <a:pPr algn="l"/>
            <a:r>
              <a:rPr sz="1600" b="1">
                <a:solidFill>
                  <a:srgbClr val="122A42"/>
                </a:solidFill>
                <a:latin typeface="Aptos"/>
              </a:rPr>
              <a:t>Step 1 • Collect</a:t>
            </a:r>
          </a:p>
        </p:txBody>
      </p:sp>
      <p:sp>
        <p:nvSpPr>
          <p:cNvPr id="10" name="TextBox 9"/>
          <p:cNvSpPr txBox="1"/>
          <p:nvPr/>
        </p:nvSpPr>
        <p:spPr>
          <a:xfrm>
            <a:off x="841247" y="1627631"/>
            <a:ext cx="2971800" cy="1170432"/>
          </a:xfrm>
          <a:prstGeom prst="rect">
            <a:avLst/>
          </a:prstGeom>
          <a:noFill/>
        </p:spPr>
        <p:txBody>
          <a:bodyPr wrap="square" lIns="27432" tIns="27432" rIns="27432" bIns="27432" anchor="t">
            <a:spAutoFit/>
          </a:bodyPr>
          <a:lstStyle/>
          <a:p>
            <a:pPr algn="l"/>
            <a:r>
              <a:rPr sz="1400" b="0">
                <a:solidFill>
                  <a:srgbClr val="26303A"/>
                </a:solidFill>
                <a:latin typeface="Aptos"/>
              </a:rPr>
              <a:t>Survey 10 classmates:
Cash or cashless?</a:t>
            </a:r>
          </a:p>
        </p:txBody>
      </p:sp>
      <p:sp>
        <p:nvSpPr>
          <p:cNvPr id="11" name="Rounded Rectangle 10"/>
          <p:cNvSpPr/>
          <p:nvPr/>
        </p:nvSpPr>
        <p:spPr>
          <a:xfrm>
            <a:off x="4389120" y="1097280"/>
            <a:ext cx="3337560" cy="182880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097280"/>
            <a:ext cx="73152" cy="18288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0288" y="1234439"/>
            <a:ext cx="2971800" cy="320040"/>
          </a:xfrm>
          <a:prstGeom prst="rect">
            <a:avLst/>
          </a:prstGeom>
          <a:noFill/>
        </p:spPr>
        <p:txBody>
          <a:bodyPr wrap="square" lIns="27432" tIns="27432" rIns="27432" bIns="27432" anchor="t">
            <a:spAutoFit/>
          </a:bodyPr>
          <a:lstStyle/>
          <a:p>
            <a:pPr algn="l"/>
            <a:r>
              <a:rPr sz="1600" b="1">
                <a:solidFill>
                  <a:srgbClr val="122A42"/>
                </a:solidFill>
                <a:latin typeface="Aptos"/>
              </a:rPr>
              <a:t>Step 2 • Compare</a:t>
            </a:r>
          </a:p>
        </p:txBody>
      </p:sp>
      <p:sp>
        <p:nvSpPr>
          <p:cNvPr id="14" name="TextBox 13"/>
          <p:cNvSpPr txBox="1"/>
          <p:nvPr/>
        </p:nvSpPr>
        <p:spPr>
          <a:xfrm>
            <a:off x="4590288" y="1627631"/>
            <a:ext cx="2971800" cy="1170432"/>
          </a:xfrm>
          <a:prstGeom prst="rect">
            <a:avLst/>
          </a:prstGeom>
          <a:noFill/>
        </p:spPr>
        <p:txBody>
          <a:bodyPr wrap="square" lIns="27432" tIns="27432" rIns="27432" bIns="27432" anchor="t">
            <a:spAutoFit/>
          </a:bodyPr>
          <a:lstStyle/>
          <a:p>
            <a:pPr algn="l"/>
            <a:r>
              <a:rPr sz="1300" b="0">
                <a:solidFill>
                  <a:srgbClr val="26303A"/>
                </a:solidFill>
                <a:latin typeface="Aptos"/>
              </a:rPr>
              <a:t>For each group, write one benefit + one drawback:
customer • shop • person without card/phone</a:t>
            </a:r>
          </a:p>
        </p:txBody>
      </p:sp>
      <p:sp>
        <p:nvSpPr>
          <p:cNvPr id="15" name="Rounded Rectangle 14"/>
          <p:cNvSpPr/>
          <p:nvPr/>
        </p:nvSpPr>
        <p:spPr>
          <a:xfrm>
            <a:off x="8138160" y="1097280"/>
            <a:ext cx="3337560" cy="1828800"/>
          </a:xfrm>
          <a:prstGeom prst="roundRect">
            <a:avLst/>
          </a:prstGeom>
          <a:solidFill>
            <a:srgbClr val="FDF1E1"/>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097280"/>
            <a:ext cx="73152" cy="1828800"/>
          </a:xfrm>
          <a:prstGeom prst="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8" y="1234439"/>
            <a:ext cx="2971800" cy="320040"/>
          </a:xfrm>
          <a:prstGeom prst="rect">
            <a:avLst/>
          </a:prstGeom>
          <a:noFill/>
        </p:spPr>
        <p:txBody>
          <a:bodyPr wrap="square" lIns="27432" tIns="27432" rIns="27432" bIns="27432" anchor="t">
            <a:spAutoFit/>
          </a:bodyPr>
          <a:lstStyle/>
          <a:p>
            <a:pPr algn="l"/>
            <a:r>
              <a:rPr sz="1600" b="1">
                <a:solidFill>
                  <a:srgbClr val="122A42"/>
                </a:solidFill>
                <a:latin typeface="Aptos"/>
              </a:rPr>
              <a:t>Step 3 • Decide</a:t>
            </a:r>
          </a:p>
        </p:txBody>
      </p:sp>
      <p:sp>
        <p:nvSpPr>
          <p:cNvPr id="18" name="TextBox 17"/>
          <p:cNvSpPr txBox="1"/>
          <p:nvPr/>
        </p:nvSpPr>
        <p:spPr>
          <a:xfrm>
            <a:off x="8339328" y="1627631"/>
            <a:ext cx="2971800" cy="1170432"/>
          </a:xfrm>
          <a:prstGeom prst="rect">
            <a:avLst/>
          </a:prstGeom>
          <a:noFill/>
        </p:spPr>
        <p:txBody>
          <a:bodyPr wrap="square" lIns="27432" tIns="27432" rIns="27432" bIns="27432" anchor="t">
            <a:spAutoFit/>
          </a:bodyPr>
          <a:lstStyle/>
          <a:p>
            <a:pPr algn="l"/>
            <a:r>
              <a:rPr sz="1400" b="0">
                <a:solidFill>
                  <a:srgbClr val="26303A"/>
                </a:solidFill>
                <a:latin typeface="Aptos"/>
              </a:rPr>
              <a:t>Should the community move toward cashless payment?
Give one step + two reasons.</a:t>
            </a:r>
          </a:p>
        </p:txBody>
      </p:sp>
      <p:sp>
        <p:nvSpPr>
          <p:cNvPr id="19" name="TextBox 18"/>
          <p:cNvSpPr txBox="1"/>
          <p:nvPr/>
        </p:nvSpPr>
        <p:spPr>
          <a:xfrm>
            <a:off x="685800" y="3657600"/>
            <a:ext cx="10607040" cy="411480"/>
          </a:xfrm>
          <a:prstGeom prst="rect">
            <a:avLst/>
          </a:prstGeom>
          <a:noFill/>
        </p:spPr>
        <p:txBody>
          <a:bodyPr wrap="square" lIns="27432" tIns="27432" rIns="27432" bIns="27432" anchor="t">
            <a:spAutoFit/>
          </a:bodyPr>
          <a:lstStyle/>
          <a:p>
            <a:pPr algn="l"/>
            <a:r>
              <a:rPr sz="1700" b="1">
                <a:solidFill>
                  <a:srgbClr val="122A42"/>
                </a:solidFill>
                <a:latin typeface="Aptos"/>
              </a:rPr>
              <a:t>New context question</a:t>
            </a:r>
          </a:p>
        </p:txBody>
      </p:sp>
      <p:sp>
        <p:nvSpPr>
          <p:cNvPr id="20" name="TextBox 19"/>
          <p:cNvSpPr txBox="1"/>
          <p:nvPr/>
        </p:nvSpPr>
        <p:spPr>
          <a:xfrm>
            <a:off x="685800" y="4160520"/>
            <a:ext cx="10424160" cy="1097280"/>
          </a:xfrm>
          <a:prstGeom prst="rect">
            <a:avLst/>
          </a:prstGeom>
          <a:noFill/>
        </p:spPr>
        <p:txBody>
          <a:bodyPr wrap="square" lIns="27432" tIns="27432" rIns="27432" bIns="27432" anchor="t">
            <a:spAutoFit/>
          </a:bodyPr>
          <a:lstStyle/>
          <a:p>
            <a:pPr algn="l"/>
            <a:r>
              <a:rPr sz="2000" b="0">
                <a:solidFill>
                  <a:srgbClr val="26303A"/>
                </a:solidFill>
                <a:latin typeface="Aptos"/>
              </a:rPr>
              <a:t>A village gets high-speed Internet and cashless payment for the first time. Predict two changes in daily life and one new problem.</a:t>
            </a:r>
          </a:p>
        </p:txBody>
      </p:sp>
      <p:sp>
        <p:nvSpPr>
          <p:cNvPr id="21" name="Rounded Rectangle 20"/>
          <p:cNvSpPr/>
          <p:nvPr/>
        </p:nvSpPr>
        <p:spPr>
          <a:xfrm>
            <a:off x="731520" y="5623560"/>
            <a:ext cx="2926080" cy="347472"/>
          </a:xfrm>
          <a:prstGeom prst="roundRect">
            <a:avLst/>
          </a:prstGeom>
          <a:solidFill>
            <a:srgbClr val="F1E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672" y="5660136"/>
            <a:ext cx="2779776" cy="237744"/>
          </a:xfrm>
          <a:prstGeom prst="rect">
            <a:avLst/>
          </a:prstGeom>
          <a:noFill/>
        </p:spPr>
        <p:txBody>
          <a:bodyPr wrap="square" lIns="27432" tIns="27432" rIns="27432" bIns="27432" anchor="ctr">
            <a:spAutoFit/>
          </a:bodyPr>
          <a:lstStyle/>
          <a:p>
            <a:pPr algn="ctr"/>
            <a:r>
              <a:rPr sz="1000" b="1">
                <a:solidFill>
                  <a:srgbClr val="6F57A0"/>
                </a:solidFill>
                <a:latin typeface="Aptos"/>
              </a:rPr>
              <a:t>THERE CAN BE MORE THAN ONE GOOD ANSWER</a:t>
            </a:r>
          </a:p>
        </p:txBody>
      </p:sp>
      <p:sp>
        <p:nvSpPr>
          <p:cNvPr id="23" name="TextBox 22"/>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686800" y="-731520"/>
            <a:ext cx="4297680" cy="4297680"/>
          </a:xfrm>
          <a:prstGeom prst="ellipse">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3474720"/>
            <a:ext cx="2743200" cy="2743200"/>
          </a:xfrm>
          <a:prstGeom prst="ellipse">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51560"/>
            <a:ext cx="1097280" cy="502920"/>
          </a:xfrm>
          <a:prstGeom prst="rect">
            <a:avLst/>
          </a:prstGeom>
          <a:noFill/>
        </p:spPr>
        <p:txBody>
          <a:bodyPr wrap="square" lIns="27432" tIns="27432" rIns="27432" bIns="27432" anchor="t">
            <a:spAutoFit/>
          </a:bodyPr>
          <a:lstStyle/>
          <a:p>
            <a:pPr algn="l"/>
            <a:r>
              <a:rPr sz="3000" b="1">
                <a:solidFill>
                  <a:srgbClr val="008591"/>
                </a:solidFill>
                <a:latin typeface="Aptos"/>
              </a:rPr>
              <a:t>1-2</a:t>
            </a:r>
          </a:p>
        </p:txBody>
      </p:sp>
      <p:sp>
        <p:nvSpPr>
          <p:cNvPr id="6" name="TextBox 5"/>
          <p:cNvSpPr txBox="1"/>
          <p:nvPr/>
        </p:nvSpPr>
        <p:spPr>
          <a:xfrm>
            <a:off x="640080" y="1691640"/>
            <a:ext cx="7863840" cy="1143000"/>
          </a:xfrm>
          <a:prstGeom prst="rect">
            <a:avLst/>
          </a:prstGeom>
          <a:noFill/>
        </p:spPr>
        <p:txBody>
          <a:bodyPr wrap="square" lIns="27432" tIns="27432" rIns="27432" bIns="27432" anchor="t">
            <a:spAutoFit/>
          </a:bodyPr>
          <a:lstStyle/>
          <a:p>
            <a:pPr algn="l"/>
            <a:r>
              <a:rPr sz="3800" b="1">
                <a:solidFill>
                  <a:srgbClr val="FFFFFF"/>
                </a:solidFill>
                <a:latin typeface="Aptos Display"/>
              </a:rPr>
              <a:t>How AI Works</a:t>
            </a:r>
          </a:p>
        </p:txBody>
      </p:sp>
      <p:sp>
        <p:nvSpPr>
          <p:cNvPr id="7" name="TextBox 6"/>
          <p:cNvSpPr txBox="1"/>
          <p:nvPr/>
        </p:nvSpPr>
        <p:spPr>
          <a:xfrm>
            <a:off x="658368" y="2971800"/>
            <a:ext cx="6858000" cy="731520"/>
          </a:xfrm>
          <a:prstGeom prst="rect">
            <a:avLst/>
          </a:prstGeom>
          <a:noFill/>
        </p:spPr>
        <p:txBody>
          <a:bodyPr wrap="square" lIns="27432" tIns="27432" rIns="27432" bIns="27432" anchor="t">
            <a:spAutoFit/>
          </a:bodyPr>
          <a:lstStyle/>
          <a:p>
            <a:pPr algn="l"/>
            <a:r>
              <a:rPr sz="1900" b="0">
                <a:solidFill>
                  <a:srgbClr val="DCE6EE"/>
                </a:solidFill>
                <a:latin typeface="Aptos"/>
              </a:rPr>
              <a:t>AI is the broad field; machine learning, deep learning and generative AI are nested inside it.</a:t>
            </a:r>
          </a:p>
        </p:txBody>
      </p:sp>
      <p:sp>
        <p:nvSpPr>
          <p:cNvPr id="8" name="Rounded Rectangle 7"/>
          <p:cNvSpPr/>
          <p:nvPr/>
        </p:nvSpPr>
        <p:spPr>
          <a:xfrm>
            <a:off x="658368" y="5074920"/>
            <a:ext cx="2377440" cy="347472"/>
          </a:xfrm>
          <a:prstGeom prst="round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19" y="5111496"/>
            <a:ext cx="2231136" cy="237744"/>
          </a:xfrm>
          <a:prstGeom prst="rect">
            <a:avLst/>
          </a:prstGeom>
          <a:noFill/>
        </p:spPr>
        <p:txBody>
          <a:bodyPr wrap="square" lIns="27432" tIns="27432" rIns="27432" bIns="27432" anchor="ctr">
            <a:spAutoFit/>
          </a:bodyPr>
          <a:lstStyle/>
          <a:p>
            <a:pPr algn="ctr"/>
            <a:r>
              <a:rPr sz="1000" b="1">
                <a:solidFill>
                  <a:srgbClr val="FFFFFF"/>
                </a:solidFill>
                <a:latin typeface="Aptos"/>
              </a:rPr>
              <a:t>TEACH • DISCUSS • PRACTISE</a:t>
            </a:r>
          </a:p>
        </p:txBody>
      </p:sp>
      <p:sp>
        <p:nvSpPr>
          <p:cNvPr id="10" name="TextBox 9"/>
          <p:cNvSpPr txBox="1"/>
          <p:nvPr/>
        </p:nvSpPr>
        <p:spPr>
          <a:xfrm>
            <a:off x="658368" y="5989320"/>
            <a:ext cx="7315200" cy="320040"/>
          </a:xfrm>
          <a:prstGeom prst="rect">
            <a:avLst/>
          </a:prstGeom>
          <a:noFill/>
        </p:spPr>
        <p:txBody>
          <a:bodyPr wrap="square" lIns="27432" tIns="27432" rIns="27432" bIns="27432" anchor="t">
            <a:spAutoFit/>
          </a:bodyPr>
          <a:lstStyle/>
          <a:p>
            <a:pPr algn="l"/>
            <a:r>
              <a:rPr sz="1000" b="0">
                <a:solidFill>
                  <a:srgbClr val="B4C3D0"/>
                </a:solidFill>
                <a:latin typeface="Aptos"/>
              </a:rPr>
              <a:t>Chapter 1 • Information Technology and Society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What is Artificial Intelligence?</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1-2 • AI BASICS</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19</a:t>
            </a:r>
          </a:p>
        </p:txBody>
      </p:sp>
      <p:sp>
        <p:nvSpPr>
          <p:cNvPr id="7" name="Rounded Rectangle 6"/>
          <p:cNvSpPr/>
          <p:nvPr/>
        </p:nvSpPr>
        <p:spPr>
          <a:xfrm>
            <a:off x="640080" y="1143000"/>
            <a:ext cx="5486400" cy="356616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143000"/>
            <a:ext cx="73152" cy="356616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280160"/>
            <a:ext cx="5120640" cy="320040"/>
          </a:xfrm>
          <a:prstGeom prst="rect">
            <a:avLst/>
          </a:prstGeom>
          <a:noFill/>
        </p:spPr>
        <p:txBody>
          <a:bodyPr wrap="square" lIns="27432" tIns="27432" rIns="27432" bIns="27432" anchor="t">
            <a:spAutoFit/>
          </a:bodyPr>
          <a:lstStyle/>
          <a:p>
            <a:pPr algn="l"/>
            <a:r>
              <a:rPr sz="2100" b="1">
                <a:solidFill>
                  <a:srgbClr val="122A42"/>
                </a:solidFill>
                <a:latin typeface="Aptos"/>
              </a:rPr>
              <a:t>AI = the broad idea</a:t>
            </a:r>
          </a:p>
        </p:txBody>
      </p:sp>
      <p:sp>
        <p:nvSpPr>
          <p:cNvPr id="10" name="TextBox 9"/>
          <p:cNvSpPr txBox="1"/>
          <p:nvPr/>
        </p:nvSpPr>
        <p:spPr>
          <a:xfrm>
            <a:off x="841247" y="1673352"/>
            <a:ext cx="5120640" cy="2907791"/>
          </a:xfrm>
          <a:prstGeom prst="rect">
            <a:avLst/>
          </a:prstGeom>
          <a:noFill/>
        </p:spPr>
        <p:txBody>
          <a:bodyPr wrap="square" lIns="27432" tIns="27432" rIns="27432" bIns="27432" anchor="t">
            <a:spAutoFit/>
          </a:bodyPr>
          <a:lstStyle/>
          <a:p>
            <a:pPr algn="l"/>
            <a:r>
              <a:rPr sz="2000" b="0">
                <a:solidFill>
                  <a:srgbClr val="26303A"/>
                </a:solidFill>
                <a:latin typeface="Aptos"/>
              </a:rPr>
              <a:t>Technologies that reproduce or perform intelligent human behavior on a computer — such as learning, reasoning and judgment.</a:t>
            </a:r>
          </a:p>
        </p:txBody>
      </p:sp>
      <p:sp>
        <p:nvSpPr>
          <p:cNvPr id="11" name="TextBox 10"/>
          <p:cNvSpPr txBox="1"/>
          <p:nvPr/>
        </p:nvSpPr>
        <p:spPr>
          <a:xfrm>
            <a:off x="6492240" y="1280160"/>
            <a:ext cx="4389120" cy="365760"/>
          </a:xfrm>
          <a:prstGeom prst="rect">
            <a:avLst/>
          </a:prstGeom>
          <a:noFill/>
        </p:spPr>
        <p:txBody>
          <a:bodyPr wrap="square" lIns="27432" tIns="27432" rIns="27432" bIns="27432" anchor="t">
            <a:spAutoFit/>
          </a:bodyPr>
          <a:lstStyle/>
          <a:p>
            <a:pPr algn="l"/>
            <a:r>
              <a:rPr sz="1700" b="1">
                <a:solidFill>
                  <a:srgbClr val="122A42"/>
                </a:solidFill>
                <a:latin typeface="Aptos"/>
              </a:rPr>
              <a:t>Everyday examples</a:t>
            </a:r>
          </a:p>
        </p:txBody>
      </p:sp>
      <p:sp>
        <p:nvSpPr>
          <p:cNvPr id="12" name="TextBox 11"/>
          <p:cNvSpPr txBox="1"/>
          <p:nvPr/>
        </p:nvSpPr>
        <p:spPr>
          <a:xfrm>
            <a:off x="6537960" y="1783080"/>
            <a:ext cx="4389120" cy="2468880"/>
          </a:xfrm>
          <a:prstGeom prst="rect">
            <a:avLst/>
          </a:prstGeom>
          <a:noFill/>
        </p:spPr>
        <p:txBody>
          <a:bodyPr wrap="square" lIns="36576" tIns="27432" rIns="36576" bIns="27432">
            <a:spAutoFit/>
          </a:bodyPr>
          <a:lstStyle/>
          <a:p>
            <a:pPr>
              <a:spcAft>
                <a:spcPts val="800"/>
              </a:spcAft>
              <a:defRPr sz="1700">
                <a:solidFill>
                  <a:srgbClr val="26303A"/>
                </a:solidFill>
                <a:latin typeface="Aptos"/>
              </a:defRPr>
            </a:pPr>
            <a:r>
              <a:t>• Speech recognition</a:t>
            </a:r>
          </a:p>
          <a:p>
            <a:pPr>
              <a:spcAft>
                <a:spcPts val="800"/>
              </a:spcAft>
              <a:defRPr sz="1700">
                <a:solidFill>
                  <a:srgbClr val="26303A"/>
                </a:solidFill>
                <a:latin typeface="Aptos"/>
              </a:defRPr>
            </a:pPr>
            <a:r>
              <a:t>• Image recognition</a:t>
            </a:r>
          </a:p>
          <a:p>
            <a:pPr>
              <a:spcAft>
                <a:spcPts val="800"/>
              </a:spcAft>
              <a:defRPr sz="1700">
                <a:solidFill>
                  <a:srgbClr val="26303A"/>
                </a:solidFill>
                <a:latin typeface="Aptos"/>
              </a:defRPr>
            </a:pPr>
            <a:r>
              <a:t>• Translation</a:t>
            </a:r>
          </a:p>
          <a:p>
            <a:pPr>
              <a:spcAft>
                <a:spcPts val="800"/>
              </a:spcAft>
              <a:defRPr sz="1700">
                <a:solidFill>
                  <a:srgbClr val="26303A"/>
                </a:solidFill>
                <a:latin typeface="Aptos"/>
              </a:defRPr>
            </a:pPr>
            <a:r>
              <a:t>• Spam filtering</a:t>
            </a:r>
          </a:p>
          <a:p>
            <a:pPr>
              <a:spcAft>
                <a:spcPts val="800"/>
              </a:spcAft>
              <a:defRPr sz="1700">
                <a:solidFill>
                  <a:srgbClr val="26303A"/>
                </a:solidFill>
                <a:latin typeface="Aptos"/>
              </a:defRPr>
            </a:pPr>
            <a:r>
              <a:t>• Product recommendations</a:t>
            </a:r>
          </a:p>
        </p:txBody>
      </p:sp>
      <p:sp>
        <p:nvSpPr>
          <p:cNvPr id="13" name="Rounded Rectangle 12"/>
          <p:cNvSpPr/>
          <p:nvPr/>
        </p:nvSpPr>
        <p:spPr>
          <a:xfrm>
            <a:off x="6537960" y="4572000"/>
            <a:ext cx="2926080" cy="34747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11112" y="4608576"/>
            <a:ext cx="2779776" cy="237744"/>
          </a:xfrm>
          <a:prstGeom prst="rect">
            <a:avLst/>
          </a:prstGeom>
          <a:noFill/>
        </p:spPr>
        <p:txBody>
          <a:bodyPr wrap="square" lIns="27432" tIns="27432" rIns="27432" bIns="27432" anchor="ctr">
            <a:spAutoFit/>
          </a:bodyPr>
          <a:lstStyle/>
          <a:p>
            <a:pPr algn="ctr"/>
            <a:r>
              <a:rPr sz="1000" b="1">
                <a:solidFill>
                  <a:srgbClr val="1B5D8C"/>
                </a:solidFill>
                <a:latin typeface="Aptos"/>
              </a:rPr>
              <a:t>Today’s AI is usually narrow</a:t>
            </a:r>
          </a:p>
        </p:txBody>
      </p:sp>
      <p:sp>
        <p:nvSpPr>
          <p:cNvPr id="15" name="TextBox 14"/>
          <p:cNvSpPr txBox="1"/>
          <p:nvPr/>
        </p:nvSpPr>
        <p:spPr>
          <a:xfrm>
            <a:off x="6537960" y="5074920"/>
            <a:ext cx="4480560" cy="594360"/>
          </a:xfrm>
          <a:prstGeom prst="rect">
            <a:avLst/>
          </a:prstGeom>
          <a:noFill/>
        </p:spPr>
        <p:txBody>
          <a:bodyPr wrap="square" lIns="27432" tIns="27432" rIns="27432" bIns="27432" anchor="t">
            <a:spAutoFit/>
          </a:bodyPr>
          <a:lstStyle/>
          <a:p>
            <a:pPr algn="l"/>
            <a:r>
              <a:rPr sz="1400" b="0">
                <a:solidFill>
                  <a:srgbClr val="66737E"/>
                </a:solidFill>
                <a:latin typeface="Aptos"/>
              </a:rPr>
              <a:t>Good at a particular task rather than “being human” in every way.</a:t>
            </a:r>
          </a:p>
        </p:txBody>
      </p:sp>
      <p:sp>
        <p:nvSpPr>
          <p:cNvPr id="16" name="TextBox 15"/>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The AI family: nested categories</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1-2 • KEY RELATIONSHIP</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20</a:t>
            </a:r>
          </a:p>
        </p:txBody>
      </p:sp>
      <p:sp>
        <p:nvSpPr>
          <p:cNvPr id="7" name="Rounded Rectangle 6"/>
          <p:cNvSpPr/>
          <p:nvPr/>
        </p:nvSpPr>
        <p:spPr>
          <a:xfrm>
            <a:off x="914400" y="1051560"/>
            <a:ext cx="10332720" cy="4480560"/>
          </a:xfrm>
          <a:prstGeom prst="roundRect">
            <a:avLst/>
          </a:prstGeom>
          <a:solidFill>
            <a:srgbClr val="FFFFFF"/>
          </a:solidFill>
          <a:ln w="38100">
            <a:solidFill>
              <a:srgbClr val="1B5D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78992" y="1161288"/>
            <a:ext cx="10003536" cy="365760"/>
          </a:xfrm>
          <a:prstGeom prst="rect">
            <a:avLst/>
          </a:prstGeom>
          <a:noFill/>
        </p:spPr>
        <p:txBody>
          <a:bodyPr wrap="square" lIns="27432" tIns="27432" rIns="27432" bIns="27432" anchor="t">
            <a:spAutoFit/>
          </a:bodyPr>
          <a:lstStyle/>
          <a:p>
            <a:pPr algn="l"/>
            <a:r>
              <a:rPr sz="1800" b="1">
                <a:solidFill>
                  <a:srgbClr val="1B5D8C"/>
                </a:solidFill>
                <a:latin typeface="Aptos"/>
              </a:rPr>
              <a:t>AI</a:t>
            </a:r>
          </a:p>
        </p:txBody>
      </p:sp>
      <p:sp>
        <p:nvSpPr>
          <p:cNvPr id="9" name="Rounded Rectangle 8"/>
          <p:cNvSpPr/>
          <p:nvPr/>
        </p:nvSpPr>
        <p:spPr>
          <a:xfrm>
            <a:off x="1828800" y="1737360"/>
            <a:ext cx="8503920" cy="3383280"/>
          </a:xfrm>
          <a:prstGeom prst="roundRect">
            <a:avLst/>
          </a:prstGeom>
          <a:solidFill>
            <a:srgbClr val="FFFFFF"/>
          </a:solidFill>
          <a:ln w="38100">
            <a:solidFill>
              <a:srgbClr val="0085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993392" y="1847088"/>
            <a:ext cx="8174736" cy="365760"/>
          </a:xfrm>
          <a:prstGeom prst="rect">
            <a:avLst/>
          </a:prstGeom>
          <a:noFill/>
        </p:spPr>
        <p:txBody>
          <a:bodyPr wrap="square" lIns="27432" tIns="27432" rIns="27432" bIns="27432" anchor="t">
            <a:spAutoFit/>
          </a:bodyPr>
          <a:lstStyle/>
          <a:p>
            <a:pPr algn="l"/>
            <a:r>
              <a:rPr sz="1800" b="1">
                <a:solidFill>
                  <a:srgbClr val="008591"/>
                </a:solidFill>
                <a:latin typeface="Aptos"/>
              </a:rPr>
              <a:t>Machine Learning</a:t>
            </a:r>
          </a:p>
        </p:txBody>
      </p:sp>
      <p:sp>
        <p:nvSpPr>
          <p:cNvPr id="11" name="Rounded Rectangle 10"/>
          <p:cNvSpPr/>
          <p:nvPr/>
        </p:nvSpPr>
        <p:spPr>
          <a:xfrm>
            <a:off x="2834640" y="2423160"/>
            <a:ext cx="6492240" cy="2286000"/>
          </a:xfrm>
          <a:prstGeom prst="roundRect">
            <a:avLst/>
          </a:prstGeom>
          <a:solidFill>
            <a:srgbClr val="FFFFFF"/>
          </a:solidFill>
          <a:ln w="38100">
            <a:solidFill>
              <a:srgbClr val="6F5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99232" y="2532888"/>
            <a:ext cx="6163055" cy="365760"/>
          </a:xfrm>
          <a:prstGeom prst="rect">
            <a:avLst/>
          </a:prstGeom>
          <a:noFill/>
        </p:spPr>
        <p:txBody>
          <a:bodyPr wrap="square" lIns="27432" tIns="27432" rIns="27432" bIns="27432" anchor="t">
            <a:spAutoFit/>
          </a:bodyPr>
          <a:lstStyle/>
          <a:p>
            <a:pPr algn="l"/>
            <a:r>
              <a:rPr sz="1800" b="1">
                <a:solidFill>
                  <a:srgbClr val="6F57A0"/>
                </a:solidFill>
                <a:latin typeface="Aptos"/>
              </a:rPr>
              <a:t>Deep Learning</a:t>
            </a:r>
          </a:p>
        </p:txBody>
      </p:sp>
      <p:sp>
        <p:nvSpPr>
          <p:cNvPr id="13" name="Rounded Rectangle 12"/>
          <p:cNvSpPr/>
          <p:nvPr/>
        </p:nvSpPr>
        <p:spPr>
          <a:xfrm>
            <a:off x="3931920" y="3063240"/>
            <a:ext cx="4297680" cy="1097280"/>
          </a:xfrm>
          <a:prstGeom prst="roundRect">
            <a:avLst/>
          </a:prstGeom>
          <a:solidFill>
            <a:srgbClr val="FFFFFF"/>
          </a:solidFill>
          <a:ln w="38100">
            <a:solidFill>
              <a:srgbClr val="EE8C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96511" y="3172968"/>
            <a:ext cx="3968496" cy="365760"/>
          </a:xfrm>
          <a:prstGeom prst="rect">
            <a:avLst/>
          </a:prstGeom>
          <a:noFill/>
        </p:spPr>
        <p:txBody>
          <a:bodyPr wrap="square" lIns="27432" tIns="27432" rIns="27432" bIns="27432" anchor="t">
            <a:spAutoFit/>
          </a:bodyPr>
          <a:lstStyle/>
          <a:p>
            <a:pPr algn="l"/>
            <a:r>
              <a:rPr sz="1800" b="1">
                <a:solidFill>
                  <a:srgbClr val="EE8C2A"/>
                </a:solidFill>
                <a:latin typeface="Aptos"/>
              </a:rPr>
              <a:t>Generative AI</a:t>
            </a:r>
          </a:p>
        </p:txBody>
      </p:sp>
      <p:sp>
        <p:nvSpPr>
          <p:cNvPr id="15" name="TextBox 14"/>
          <p:cNvSpPr txBox="1"/>
          <p:nvPr/>
        </p:nvSpPr>
        <p:spPr>
          <a:xfrm>
            <a:off x="4206240" y="3703320"/>
            <a:ext cx="3657600" cy="411480"/>
          </a:xfrm>
          <a:prstGeom prst="rect">
            <a:avLst/>
          </a:prstGeom>
          <a:noFill/>
        </p:spPr>
        <p:txBody>
          <a:bodyPr wrap="square" lIns="27432" tIns="27432" rIns="27432" bIns="27432" anchor="t">
            <a:spAutoFit/>
          </a:bodyPr>
          <a:lstStyle/>
          <a:p>
            <a:pPr algn="ctr"/>
            <a:r>
              <a:rPr sz="1300" b="1">
                <a:solidFill>
                  <a:srgbClr val="26303A"/>
                </a:solidFill>
                <a:latin typeface="Aptos"/>
              </a:rPr>
              <a:t>Creates new text, images, audio, programs</a:t>
            </a:r>
          </a:p>
        </p:txBody>
      </p:sp>
      <p:sp>
        <p:nvSpPr>
          <p:cNvPr id="16" name="TextBox 15"/>
          <p:cNvSpPr txBox="1"/>
          <p:nvPr/>
        </p:nvSpPr>
        <p:spPr>
          <a:xfrm>
            <a:off x="1005840" y="5806440"/>
            <a:ext cx="10058400" cy="411480"/>
          </a:xfrm>
          <a:prstGeom prst="rect">
            <a:avLst/>
          </a:prstGeom>
          <a:noFill/>
        </p:spPr>
        <p:txBody>
          <a:bodyPr wrap="square" lIns="27432" tIns="27432" rIns="27432" bIns="27432" anchor="t">
            <a:spAutoFit/>
          </a:bodyPr>
          <a:lstStyle/>
          <a:p>
            <a:pPr algn="ctr"/>
            <a:r>
              <a:rPr sz="1800" b="1">
                <a:solidFill>
                  <a:srgbClr val="122A42"/>
                </a:solidFill>
                <a:latin typeface="Aptos"/>
              </a:rPr>
              <a:t>Think: broadest → most specialized.</a:t>
            </a:r>
          </a:p>
        </p:txBody>
      </p:sp>
      <p:sp>
        <p:nvSpPr>
          <p:cNvPr id="17" name="TextBox 16"/>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Machine learning → deep learning → generative AI</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1-2 • HOW THE PIECES WORK</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21</a:t>
            </a:r>
          </a:p>
        </p:txBody>
      </p:sp>
      <p:sp>
        <p:nvSpPr>
          <p:cNvPr id="7" name="Rounded Rectangle 6"/>
          <p:cNvSpPr/>
          <p:nvPr/>
        </p:nvSpPr>
        <p:spPr>
          <a:xfrm>
            <a:off x="594360" y="1143000"/>
            <a:ext cx="2606040" cy="3886200"/>
          </a:xfrm>
          <a:prstGeom prst="roundRect">
            <a:avLst/>
          </a:prstGeom>
          <a:solidFill>
            <a:srgbClr val="E7F1F8"/>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143000"/>
            <a:ext cx="73152" cy="3886200"/>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1280160"/>
            <a:ext cx="2240280" cy="320040"/>
          </a:xfrm>
          <a:prstGeom prst="rect">
            <a:avLst/>
          </a:prstGeom>
          <a:noFill/>
        </p:spPr>
        <p:txBody>
          <a:bodyPr wrap="square" lIns="27432" tIns="27432" rIns="27432" bIns="27432" anchor="t">
            <a:spAutoFit/>
          </a:bodyPr>
          <a:lstStyle/>
          <a:p>
            <a:pPr algn="l"/>
            <a:r>
              <a:rPr sz="1700" b="1">
                <a:solidFill>
                  <a:srgbClr val="122A42"/>
                </a:solidFill>
                <a:latin typeface="Aptos"/>
              </a:rPr>
              <a:t>Machine learning</a:t>
            </a:r>
          </a:p>
        </p:txBody>
      </p:sp>
      <p:sp>
        <p:nvSpPr>
          <p:cNvPr id="10" name="TextBox 9"/>
          <p:cNvSpPr txBox="1"/>
          <p:nvPr/>
        </p:nvSpPr>
        <p:spPr>
          <a:xfrm>
            <a:off x="795528" y="1673352"/>
            <a:ext cx="2240280" cy="3227832"/>
          </a:xfrm>
          <a:prstGeom prst="rect">
            <a:avLst/>
          </a:prstGeom>
          <a:noFill/>
        </p:spPr>
        <p:txBody>
          <a:bodyPr wrap="square" lIns="27432" tIns="27432" rIns="27432" bIns="27432" anchor="t">
            <a:spAutoFit/>
          </a:bodyPr>
          <a:lstStyle/>
          <a:p>
            <a:pPr algn="l"/>
            <a:r>
              <a:rPr sz="1500" b="0">
                <a:solidFill>
                  <a:srgbClr val="26303A"/>
                </a:solidFill>
                <a:latin typeface="Aptos"/>
              </a:rPr>
              <a:t>Learns patterns from data to make predictions and judgments.
Examples: spam filters, product recommendations.</a:t>
            </a:r>
          </a:p>
        </p:txBody>
      </p:sp>
      <p:sp>
        <p:nvSpPr>
          <p:cNvPr id="11" name="TextBox 10"/>
          <p:cNvSpPr txBox="1"/>
          <p:nvPr/>
        </p:nvSpPr>
        <p:spPr>
          <a:xfrm>
            <a:off x="3246120" y="2743200"/>
            <a:ext cx="502920" cy="457200"/>
          </a:xfrm>
          <a:prstGeom prst="rect">
            <a:avLst/>
          </a:prstGeom>
          <a:noFill/>
        </p:spPr>
        <p:txBody>
          <a:bodyPr wrap="square" lIns="27432" tIns="27432" rIns="27432" bIns="27432" anchor="t">
            <a:spAutoFit/>
          </a:bodyPr>
          <a:lstStyle/>
          <a:p>
            <a:pPr algn="ctr"/>
            <a:r>
              <a:rPr sz="2400" b="1">
                <a:solidFill>
                  <a:srgbClr val="66737E"/>
                </a:solidFill>
                <a:latin typeface="Aptos"/>
              </a:rPr>
              <a:t>→</a:t>
            </a:r>
          </a:p>
        </p:txBody>
      </p:sp>
      <p:sp>
        <p:nvSpPr>
          <p:cNvPr id="12" name="Rounded Rectangle 11"/>
          <p:cNvSpPr/>
          <p:nvPr/>
        </p:nvSpPr>
        <p:spPr>
          <a:xfrm>
            <a:off x="3749039" y="1143000"/>
            <a:ext cx="2606040" cy="3886200"/>
          </a:xfrm>
          <a:prstGeom prst="roundRect">
            <a:avLst/>
          </a:prstGeom>
          <a:solidFill>
            <a:srgbClr val="F1EDF9"/>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749039" y="1143000"/>
            <a:ext cx="73152" cy="3886200"/>
          </a:xfrm>
          <a:prstGeom prst="rect">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950207" y="1280160"/>
            <a:ext cx="2240280" cy="320040"/>
          </a:xfrm>
          <a:prstGeom prst="rect">
            <a:avLst/>
          </a:prstGeom>
          <a:noFill/>
        </p:spPr>
        <p:txBody>
          <a:bodyPr wrap="square" lIns="27432" tIns="27432" rIns="27432" bIns="27432" anchor="t">
            <a:spAutoFit/>
          </a:bodyPr>
          <a:lstStyle/>
          <a:p>
            <a:pPr algn="l"/>
            <a:r>
              <a:rPr sz="1700" b="1">
                <a:solidFill>
                  <a:srgbClr val="122A42"/>
                </a:solidFill>
                <a:latin typeface="Aptos"/>
              </a:rPr>
              <a:t>Deep learning</a:t>
            </a:r>
          </a:p>
        </p:txBody>
      </p:sp>
      <p:sp>
        <p:nvSpPr>
          <p:cNvPr id="15" name="TextBox 14"/>
          <p:cNvSpPr txBox="1"/>
          <p:nvPr/>
        </p:nvSpPr>
        <p:spPr>
          <a:xfrm>
            <a:off x="3950207" y="1673352"/>
            <a:ext cx="2240280" cy="3227832"/>
          </a:xfrm>
          <a:prstGeom prst="rect">
            <a:avLst/>
          </a:prstGeom>
          <a:noFill/>
        </p:spPr>
        <p:txBody>
          <a:bodyPr wrap="square" lIns="27432" tIns="27432" rIns="27432" bIns="27432" anchor="t">
            <a:spAutoFit/>
          </a:bodyPr>
          <a:lstStyle/>
          <a:p>
            <a:pPr algn="l"/>
            <a:r>
              <a:rPr sz="1500" b="0">
                <a:solidFill>
                  <a:srgbClr val="26303A"/>
                </a:solidFill>
                <a:latin typeface="Aptos"/>
              </a:rPr>
              <a:t>A type of machine learning that uses neural networks and large-scale data to learn complex patterns.</a:t>
            </a:r>
          </a:p>
        </p:txBody>
      </p:sp>
      <p:sp>
        <p:nvSpPr>
          <p:cNvPr id="16" name="TextBox 15"/>
          <p:cNvSpPr txBox="1"/>
          <p:nvPr/>
        </p:nvSpPr>
        <p:spPr>
          <a:xfrm>
            <a:off x="6400800" y="2743200"/>
            <a:ext cx="502920" cy="457200"/>
          </a:xfrm>
          <a:prstGeom prst="rect">
            <a:avLst/>
          </a:prstGeom>
          <a:noFill/>
        </p:spPr>
        <p:txBody>
          <a:bodyPr wrap="square" lIns="27432" tIns="27432" rIns="27432" bIns="27432" anchor="t">
            <a:spAutoFit/>
          </a:bodyPr>
          <a:lstStyle/>
          <a:p>
            <a:pPr algn="ctr"/>
            <a:r>
              <a:rPr sz="2400" b="1">
                <a:solidFill>
                  <a:srgbClr val="66737E"/>
                </a:solidFill>
                <a:latin typeface="Aptos"/>
              </a:rPr>
              <a:t>→</a:t>
            </a:r>
          </a:p>
        </p:txBody>
      </p:sp>
      <p:sp>
        <p:nvSpPr>
          <p:cNvPr id="17" name="Rounded Rectangle 16"/>
          <p:cNvSpPr/>
          <p:nvPr/>
        </p:nvSpPr>
        <p:spPr>
          <a:xfrm>
            <a:off x="6903720" y="1143000"/>
            <a:ext cx="2606040" cy="3886200"/>
          </a:xfrm>
          <a:prstGeom prst="roundRect">
            <a:avLst/>
          </a:prstGeom>
          <a:solidFill>
            <a:srgbClr val="FDF1E1"/>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903720" y="1143000"/>
            <a:ext cx="73152" cy="3886200"/>
          </a:xfrm>
          <a:prstGeom prst="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04888" y="1280160"/>
            <a:ext cx="2240280" cy="320040"/>
          </a:xfrm>
          <a:prstGeom prst="rect">
            <a:avLst/>
          </a:prstGeom>
          <a:noFill/>
        </p:spPr>
        <p:txBody>
          <a:bodyPr wrap="square" lIns="27432" tIns="27432" rIns="27432" bIns="27432" anchor="t">
            <a:spAutoFit/>
          </a:bodyPr>
          <a:lstStyle/>
          <a:p>
            <a:pPr algn="l"/>
            <a:r>
              <a:rPr sz="1700" b="1">
                <a:solidFill>
                  <a:srgbClr val="122A42"/>
                </a:solidFill>
                <a:latin typeface="Aptos"/>
              </a:rPr>
              <a:t>Generative AI</a:t>
            </a:r>
          </a:p>
        </p:txBody>
      </p:sp>
      <p:sp>
        <p:nvSpPr>
          <p:cNvPr id="20" name="TextBox 19"/>
          <p:cNvSpPr txBox="1"/>
          <p:nvPr/>
        </p:nvSpPr>
        <p:spPr>
          <a:xfrm>
            <a:off x="7104888" y="1673352"/>
            <a:ext cx="2240280" cy="3227832"/>
          </a:xfrm>
          <a:prstGeom prst="rect">
            <a:avLst/>
          </a:prstGeom>
          <a:noFill/>
        </p:spPr>
        <p:txBody>
          <a:bodyPr wrap="square" lIns="27432" tIns="27432" rIns="27432" bIns="27432" anchor="t">
            <a:spAutoFit/>
          </a:bodyPr>
          <a:lstStyle/>
          <a:p>
            <a:pPr algn="l"/>
            <a:r>
              <a:rPr sz="1500" b="0">
                <a:solidFill>
                  <a:srgbClr val="26303A"/>
                </a:solidFill>
                <a:latin typeface="Aptos"/>
              </a:rPr>
              <a:t>Uses deep learning to generate new data such as text, images, audio and programs.</a:t>
            </a:r>
          </a:p>
        </p:txBody>
      </p:sp>
      <p:sp>
        <p:nvSpPr>
          <p:cNvPr id="21" name="Rounded Rectangle 20"/>
          <p:cNvSpPr/>
          <p:nvPr/>
        </p:nvSpPr>
        <p:spPr>
          <a:xfrm>
            <a:off x="9692640" y="1143000"/>
            <a:ext cx="1874519" cy="388620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692640" y="1143000"/>
            <a:ext cx="73152" cy="38862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893808" y="1280160"/>
            <a:ext cx="1508760" cy="320040"/>
          </a:xfrm>
          <a:prstGeom prst="rect">
            <a:avLst/>
          </a:prstGeom>
          <a:noFill/>
        </p:spPr>
        <p:txBody>
          <a:bodyPr wrap="square" lIns="27432" tIns="27432" rIns="27432" bIns="27432" anchor="t">
            <a:spAutoFit/>
          </a:bodyPr>
          <a:lstStyle/>
          <a:p>
            <a:pPr algn="l"/>
            <a:r>
              <a:rPr sz="1500" b="1">
                <a:solidFill>
                  <a:srgbClr val="122A42"/>
                </a:solidFill>
                <a:latin typeface="Aptos"/>
              </a:rPr>
              <a:t>Neural network</a:t>
            </a:r>
          </a:p>
        </p:txBody>
      </p:sp>
      <p:sp>
        <p:nvSpPr>
          <p:cNvPr id="24" name="TextBox 23"/>
          <p:cNvSpPr txBox="1"/>
          <p:nvPr/>
        </p:nvSpPr>
        <p:spPr>
          <a:xfrm>
            <a:off x="9893808" y="1673352"/>
            <a:ext cx="1508760" cy="3227832"/>
          </a:xfrm>
          <a:prstGeom prst="rect">
            <a:avLst/>
          </a:prstGeom>
          <a:noFill/>
        </p:spPr>
        <p:txBody>
          <a:bodyPr wrap="square" lIns="27432" tIns="27432" rIns="27432" bIns="27432" anchor="t">
            <a:spAutoFit/>
          </a:bodyPr>
          <a:lstStyle/>
          <a:p>
            <a:pPr algn="l"/>
            <a:r>
              <a:rPr sz="1300" b="0">
                <a:solidFill>
                  <a:srgbClr val="26303A"/>
                </a:solidFill>
                <a:latin typeface="Aptos"/>
              </a:rPr>
              <a:t>A system modeled after neurons, made of many connected components that learn from data.</a:t>
            </a:r>
          </a:p>
        </p:txBody>
      </p:sp>
      <p:sp>
        <p:nvSpPr>
          <p:cNvPr id="25" name="TextBox 24"/>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AI can learn patterns — but data matters</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1-2 • THINK IT THROUGH</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22</a:t>
            </a:r>
          </a:p>
        </p:txBody>
      </p:sp>
      <p:sp>
        <p:nvSpPr>
          <p:cNvPr id="7" name="Rounded Rectangle 6"/>
          <p:cNvSpPr/>
          <p:nvPr/>
        </p:nvSpPr>
        <p:spPr>
          <a:xfrm>
            <a:off x="685800" y="1143000"/>
            <a:ext cx="5029200" cy="1828800"/>
          </a:xfrm>
          <a:prstGeom prst="roundRect">
            <a:avLst/>
          </a:prstGeom>
          <a:solidFill>
            <a:srgbClr val="FDF1E1"/>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143000"/>
            <a:ext cx="73152" cy="1828800"/>
          </a:xfrm>
          <a:prstGeom prst="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280160"/>
            <a:ext cx="4663440" cy="320040"/>
          </a:xfrm>
          <a:prstGeom prst="rect">
            <a:avLst/>
          </a:prstGeom>
          <a:noFill/>
        </p:spPr>
        <p:txBody>
          <a:bodyPr wrap="square" lIns="27432" tIns="27432" rIns="27432" bIns="27432" anchor="t">
            <a:spAutoFit/>
          </a:bodyPr>
          <a:lstStyle/>
          <a:p>
            <a:pPr algn="l"/>
            <a:r>
              <a:rPr sz="1800" b="1">
                <a:solidFill>
                  <a:srgbClr val="122A42"/>
                </a:solidFill>
                <a:latin typeface="Aptos"/>
              </a:rPr>
              <a:t>If an AI rarely sees something…</a:t>
            </a:r>
          </a:p>
        </p:txBody>
      </p:sp>
      <p:sp>
        <p:nvSpPr>
          <p:cNvPr id="10" name="TextBox 9"/>
          <p:cNvSpPr txBox="1"/>
          <p:nvPr/>
        </p:nvSpPr>
        <p:spPr>
          <a:xfrm>
            <a:off x="886968" y="1673352"/>
            <a:ext cx="4663440" cy="1170432"/>
          </a:xfrm>
          <a:prstGeom prst="rect">
            <a:avLst/>
          </a:prstGeom>
          <a:noFill/>
        </p:spPr>
        <p:txBody>
          <a:bodyPr wrap="square" lIns="27432" tIns="27432" rIns="27432" bIns="27432" anchor="t">
            <a:spAutoFit/>
          </a:bodyPr>
          <a:lstStyle/>
          <a:p>
            <a:pPr algn="l"/>
            <a:r>
              <a:rPr sz="1600" b="0">
                <a:solidFill>
                  <a:srgbClr val="26303A"/>
                </a:solidFill>
                <a:latin typeface="Aptos"/>
              </a:rPr>
              <a:t>it may struggle because the learned patterns do not cover that situation well.</a:t>
            </a:r>
          </a:p>
        </p:txBody>
      </p:sp>
      <p:sp>
        <p:nvSpPr>
          <p:cNvPr id="11" name="Rounded Rectangle 10"/>
          <p:cNvSpPr/>
          <p:nvPr/>
        </p:nvSpPr>
        <p:spPr>
          <a:xfrm>
            <a:off x="685800" y="3246120"/>
            <a:ext cx="5029200" cy="1828800"/>
          </a:xfrm>
          <a:prstGeom prst="roundRect">
            <a:avLst/>
          </a:prstGeom>
          <a:solidFill>
            <a:srgbClr val="FAEBEB"/>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800" y="3246120"/>
            <a:ext cx="73152" cy="1828800"/>
          </a:xfrm>
          <a:prstGeom prst="rect">
            <a:avLst/>
          </a:prstGeom>
          <a:solidFill>
            <a:srgbClr val="BE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86968" y="3383279"/>
            <a:ext cx="4663440" cy="320040"/>
          </a:xfrm>
          <a:prstGeom prst="rect">
            <a:avLst/>
          </a:prstGeom>
          <a:noFill/>
        </p:spPr>
        <p:txBody>
          <a:bodyPr wrap="square" lIns="27432" tIns="27432" rIns="27432" bIns="27432" anchor="t">
            <a:spAutoFit/>
          </a:bodyPr>
          <a:lstStyle/>
          <a:p>
            <a:pPr algn="l"/>
            <a:r>
              <a:rPr sz="1800" b="1">
                <a:solidFill>
                  <a:srgbClr val="122A42"/>
                </a:solidFill>
                <a:latin typeface="Aptos"/>
              </a:rPr>
              <a:t>Generative AI can hallucinate</a:t>
            </a:r>
          </a:p>
        </p:txBody>
      </p:sp>
      <p:sp>
        <p:nvSpPr>
          <p:cNvPr id="14" name="TextBox 13"/>
          <p:cNvSpPr txBox="1"/>
          <p:nvPr/>
        </p:nvSpPr>
        <p:spPr>
          <a:xfrm>
            <a:off x="886968" y="3776472"/>
            <a:ext cx="4663440" cy="1170432"/>
          </a:xfrm>
          <a:prstGeom prst="rect">
            <a:avLst/>
          </a:prstGeom>
          <a:noFill/>
        </p:spPr>
        <p:txBody>
          <a:bodyPr wrap="square" lIns="27432" tIns="27432" rIns="27432" bIns="27432" anchor="t">
            <a:spAutoFit/>
          </a:bodyPr>
          <a:lstStyle/>
          <a:p>
            <a:pPr algn="l"/>
            <a:r>
              <a:rPr sz="1600" b="0">
                <a:solidFill>
                  <a:srgbClr val="26303A"/>
                </a:solidFill>
                <a:latin typeface="Aptos"/>
              </a:rPr>
              <a:t>It can produce text that sounds plausible but is factually wrong.</a:t>
            </a:r>
          </a:p>
        </p:txBody>
      </p:sp>
      <p:sp>
        <p:nvSpPr>
          <p:cNvPr id="15" name="Rounded Rectangle 14"/>
          <p:cNvSpPr/>
          <p:nvPr/>
        </p:nvSpPr>
        <p:spPr>
          <a:xfrm>
            <a:off x="6172200" y="1143000"/>
            <a:ext cx="5029200" cy="393192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72200" y="1143000"/>
            <a:ext cx="73152" cy="393192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73368" y="1280160"/>
            <a:ext cx="4663440" cy="320040"/>
          </a:xfrm>
          <a:prstGeom prst="rect">
            <a:avLst/>
          </a:prstGeom>
          <a:noFill/>
        </p:spPr>
        <p:txBody>
          <a:bodyPr wrap="square" lIns="27432" tIns="27432" rIns="27432" bIns="27432" anchor="t">
            <a:spAutoFit/>
          </a:bodyPr>
          <a:lstStyle/>
          <a:p>
            <a:pPr algn="l"/>
            <a:r>
              <a:rPr sz="1900" b="1">
                <a:solidFill>
                  <a:srgbClr val="122A42"/>
                </a:solidFill>
                <a:latin typeface="Aptos"/>
              </a:rPr>
              <a:t>Student rule: NEVER trust “sounds right”</a:t>
            </a:r>
          </a:p>
        </p:txBody>
      </p:sp>
      <p:sp>
        <p:nvSpPr>
          <p:cNvPr id="18" name="TextBox 17"/>
          <p:cNvSpPr txBox="1"/>
          <p:nvPr/>
        </p:nvSpPr>
        <p:spPr>
          <a:xfrm>
            <a:off x="6373368" y="1673352"/>
            <a:ext cx="4663440" cy="3273552"/>
          </a:xfrm>
          <a:prstGeom prst="rect">
            <a:avLst/>
          </a:prstGeom>
          <a:noFill/>
        </p:spPr>
        <p:txBody>
          <a:bodyPr wrap="square" lIns="27432" tIns="27432" rIns="27432" bIns="27432" anchor="t">
            <a:spAutoFit/>
          </a:bodyPr>
          <a:lstStyle/>
          <a:p>
            <a:pPr algn="l"/>
            <a:r>
              <a:rPr sz="1700" b="0">
                <a:solidFill>
                  <a:srgbClr val="26303A"/>
                </a:solidFill>
                <a:latin typeface="Aptos"/>
              </a:rPr>
              <a:t>For a school report:
1. Check important facts.
2. Use reliable sources.
3. Do not submit AI output as-is when you have not verified it.</a:t>
            </a:r>
          </a:p>
        </p:txBody>
      </p:sp>
      <p:sp>
        <p:nvSpPr>
          <p:cNvPr id="19" name="TextBox 18"/>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Question practice: True or False?</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1-2 • WORKED EXAMPLE</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23</a:t>
            </a:r>
          </a:p>
        </p:txBody>
      </p:sp>
      <p:sp>
        <p:nvSpPr>
          <p:cNvPr id="7" name="Rounded Rectangle 6"/>
          <p:cNvSpPr/>
          <p:nvPr/>
        </p:nvSpPr>
        <p:spPr>
          <a:xfrm>
            <a:off x="548640" y="932688"/>
            <a:ext cx="1600200" cy="347472"/>
          </a:xfrm>
          <a:prstGeom prst="roundRect">
            <a:avLst/>
          </a:prstGeom>
          <a:solidFill>
            <a:srgbClr val="FDF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969264"/>
            <a:ext cx="1453896" cy="237744"/>
          </a:xfrm>
          <a:prstGeom prst="rect">
            <a:avLst/>
          </a:prstGeom>
          <a:noFill/>
        </p:spPr>
        <p:txBody>
          <a:bodyPr wrap="square" lIns="27432" tIns="27432" rIns="27432" bIns="27432" anchor="ctr">
            <a:spAutoFit/>
          </a:bodyPr>
          <a:lstStyle/>
          <a:p>
            <a:pPr algn="ctr"/>
            <a:r>
              <a:rPr sz="1000" b="1">
                <a:solidFill>
                  <a:srgbClr val="EE8C2A"/>
                </a:solidFill>
                <a:latin typeface="Aptos"/>
              </a:rPr>
              <a:t>BOOK QUESTION</a:t>
            </a:r>
          </a:p>
        </p:txBody>
      </p:sp>
      <p:sp>
        <p:nvSpPr>
          <p:cNvPr id="9" name="TextBox 8"/>
          <p:cNvSpPr txBox="1"/>
          <p:nvPr/>
        </p:nvSpPr>
        <p:spPr>
          <a:xfrm>
            <a:off x="548640" y="1417320"/>
            <a:ext cx="10972800" cy="731520"/>
          </a:xfrm>
          <a:prstGeom prst="rect">
            <a:avLst/>
          </a:prstGeom>
          <a:noFill/>
        </p:spPr>
        <p:txBody>
          <a:bodyPr wrap="square" lIns="27432" tIns="27432" rIns="27432" bIns="27432" anchor="t">
            <a:spAutoFit/>
          </a:bodyPr>
          <a:lstStyle/>
          <a:p>
            <a:pPr algn="l"/>
            <a:r>
              <a:rPr sz="2200" b="1">
                <a:solidFill>
                  <a:srgbClr val="122A42"/>
                </a:solidFill>
                <a:latin typeface="Aptos"/>
              </a:rPr>
              <a:t>Mark each statement ○ (true) or × (false).</a:t>
            </a:r>
          </a:p>
        </p:txBody>
      </p:sp>
      <p:sp>
        <p:nvSpPr>
          <p:cNvPr id="10" name="Rounded Rectangle 9"/>
          <p:cNvSpPr/>
          <p:nvPr/>
        </p:nvSpPr>
        <p:spPr>
          <a:xfrm>
            <a:off x="685800" y="2331720"/>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414015"/>
            <a:ext cx="411480" cy="320040"/>
          </a:xfrm>
          <a:prstGeom prst="rect">
            <a:avLst/>
          </a:prstGeom>
          <a:noFill/>
        </p:spPr>
        <p:txBody>
          <a:bodyPr wrap="square" lIns="27432" tIns="27432" rIns="27432" bIns="27432" anchor="t">
            <a:spAutoFit/>
          </a:bodyPr>
          <a:lstStyle/>
          <a:p>
            <a:pPr algn="ctr"/>
            <a:r>
              <a:rPr sz="1400" b="1">
                <a:solidFill>
                  <a:srgbClr val="EE8C2A"/>
                </a:solidFill>
                <a:latin typeface="Aptos"/>
              </a:rPr>
              <a:t>A</a:t>
            </a:r>
          </a:p>
        </p:txBody>
      </p:sp>
      <p:sp>
        <p:nvSpPr>
          <p:cNvPr id="12" name="TextBox 11"/>
          <p:cNvSpPr txBox="1"/>
          <p:nvPr/>
        </p:nvSpPr>
        <p:spPr>
          <a:xfrm>
            <a:off x="1417320" y="2386584"/>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A  Machine learning is one of the technologies that makes AI work.</a:t>
            </a:r>
          </a:p>
        </p:txBody>
      </p:sp>
      <p:sp>
        <p:nvSpPr>
          <p:cNvPr id="13" name="Rounded Rectangle 12"/>
          <p:cNvSpPr/>
          <p:nvPr/>
        </p:nvSpPr>
        <p:spPr>
          <a:xfrm>
            <a:off x="685800" y="2990087"/>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072383"/>
            <a:ext cx="411480" cy="320040"/>
          </a:xfrm>
          <a:prstGeom prst="rect">
            <a:avLst/>
          </a:prstGeom>
          <a:noFill/>
        </p:spPr>
        <p:txBody>
          <a:bodyPr wrap="square" lIns="27432" tIns="27432" rIns="27432" bIns="27432" anchor="t">
            <a:spAutoFit/>
          </a:bodyPr>
          <a:lstStyle/>
          <a:p>
            <a:pPr algn="ctr"/>
            <a:r>
              <a:rPr sz="1400" b="1">
                <a:solidFill>
                  <a:srgbClr val="EE8C2A"/>
                </a:solidFill>
                <a:latin typeface="Aptos"/>
              </a:rPr>
              <a:t>B</a:t>
            </a:r>
          </a:p>
        </p:txBody>
      </p:sp>
      <p:sp>
        <p:nvSpPr>
          <p:cNvPr id="15" name="TextBox 14"/>
          <p:cNvSpPr txBox="1"/>
          <p:nvPr/>
        </p:nvSpPr>
        <p:spPr>
          <a:xfrm>
            <a:off x="1417320" y="3044951"/>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B  Deep learning is completely different from machine learning.</a:t>
            </a:r>
          </a:p>
        </p:txBody>
      </p:sp>
      <p:sp>
        <p:nvSpPr>
          <p:cNvPr id="16" name="Rounded Rectangle 15"/>
          <p:cNvSpPr/>
          <p:nvPr/>
        </p:nvSpPr>
        <p:spPr>
          <a:xfrm>
            <a:off x="685800" y="3648455"/>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3730751"/>
            <a:ext cx="411480" cy="320040"/>
          </a:xfrm>
          <a:prstGeom prst="rect">
            <a:avLst/>
          </a:prstGeom>
          <a:noFill/>
        </p:spPr>
        <p:txBody>
          <a:bodyPr wrap="square" lIns="27432" tIns="27432" rIns="27432" bIns="27432" anchor="t">
            <a:spAutoFit/>
          </a:bodyPr>
          <a:lstStyle/>
          <a:p>
            <a:pPr algn="ctr"/>
            <a:r>
              <a:rPr sz="1400" b="1">
                <a:solidFill>
                  <a:srgbClr val="EE8C2A"/>
                </a:solidFill>
                <a:latin typeface="Aptos"/>
              </a:rPr>
              <a:t>C</a:t>
            </a:r>
          </a:p>
        </p:txBody>
      </p:sp>
      <p:sp>
        <p:nvSpPr>
          <p:cNvPr id="18" name="TextBox 17"/>
          <p:cNvSpPr txBox="1"/>
          <p:nvPr/>
        </p:nvSpPr>
        <p:spPr>
          <a:xfrm>
            <a:off x="1417320" y="3703319"/>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C  Generative AI uses deep learning to generate new data.</a:t>
            </a:r>
          </a:p>
        </p:txBody>
      </p:sp>
      <p:sp>
        <p:nvSpPr>
          <p:cNvPr id="19" name="Rounded Rectangle 18"/>
          <p:cNvSpPr/>
          <p:nvPr/>
        </p:nvSpPr>
        <p:spPr>
          <a:xfrm>
            <a:off x="685800" y="4306823"/>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389119"/>
            <a:ext cx="411480" cy="320040"/>
          </a:xfrm>
          <a:prstGeom prst="rect">
            <a:avLst/>
          </a:prstGeom>
          <a:noFill/>
        </p:spPr>
        <p:txBody>
          <a:bodyPr wrap="square" lIns="27432" tIns="27432" rIns="27432" bIns="27432" anchor="t">
            <a:spAutoFit/>
          </a:bodyPr>
          <a:lstStyle/>
          <a:p>
            <a:pPr algn="ctr"/>
            <a:r>
              <a:rPr sz="1400" b="1">
                <a:solidFill>
                  <a:srgbClr val="EE8C2A"/>
                </a:solidFill>
                <a:latin typeface="Aptos"/>
              </a:rPr>
              <a:t>D</a:t>
            </a:r>
          </a:p>
        </p:txBody>
      </p:sp>
      <p:sp>
        <p:nvSpPr>
          <p:cNvPr id="21" name="TextBox 20"/>
          <p:cNvSpPr txBox="1"/>
          <p:nvPr/>
        </p:nvSpPr>
        <p:spPr>
          <a:xfrm>
            <a:off x="1417320" y="4361687"/>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D  AI and machine learning have the same meaning.</a:t>
            </a:r>
          </a:p>
        </p:txBody>
      </p:sp>
      <p:sp>
        <p:nvSpPr>
          <p:cNvPr id="22" name="TextBox 21"/>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Answer: True / False</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1-2 • WORKED EXAMPLE</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24</a:t>
            </a:r>
          </a:p>
        </p:txBody>
      </p:sp>
      <p:sp>
        <p:nvSpPr>
          <p:cNvPr id="7" name="Rounded Rectangle 6"/>
          <p:cNvSpPr/>
          <p:nvPr/>
        </p:nvSpPr>
        <p:spPr>
          <a:xfrm>
            <a:off x="685800" y="1143000"/>
            <a:ext cx="5074920" cy="356616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143000"/>
            <a:ext cx="73152" cy="356616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280160"/>
            <a:ext cx="4709159" cy="320040"/>
          </a:xfrm>
          <a:prstGeom prst="rect">
            <a:avLst/>
          </a:prstGeom>
          <a:noFill/>
        </p:spPr>
        <p:txBody>
          <a:bodyPr wrap="square" lIns="27432" tIns="27432" rIns="27432" bIns="27432" anchor="t">
            <a:spAutoFit/>
          </a:bodyPr>
          <a:lstStyle/>
          <a:p>
            <a:pPr algn="l"/>
            <a:r>
              <a:rPr sz="1800" b="1">
                <a:solidFill>
                  <a:srgbClr val="122A42"/>
                </a:solidFill>
                <a:latin typeface="Aptos"/>
              </a:rPr>
              <a:t>A ✓</a:t>
            </a:r>
          </a:p>
        </p:txBody>
      </p:sp>
      <p:sp>
        <p:nvSpPr>
          <p:cNvPr id="10" name="TextBox 9"/>
          <p:cNvSpPr txBox="1"/>
          <p:nvPr/>
        </p:nvSpPr>
        <p:spPr>
          <a:xfrm>
            <a:off x="886968" y="1673352"/>
            <a:ext cx="4709159" cy="2907791"/>
          </a:xfrm>
          <a:prstGeom prst="rect">
            <a:avLst/>
          </a:prstGeom>
          <a:noFill/>
        </p:spPr>
        <p:txBody>
          <a:bodyPr wrap="square" lIns="27432" tIns="27432" rIns="27432" bIns="27432" anchor="t">
            <a:spAutoFit/>
          </a:bodyPr>
          <a:lstStyle/>
          <a:p>
            <a:pPr algn="l"/>
            <a:r>
              <a:rPr sz="1700" b="0">
                <a:solidFill>
                  <a:srgbClr val="26303A"/>
                </a:solidFill>
                <a:latin typeface="Aptos"/>
              </a:rPr>
              <a:t>Machine learning is within the broader field of AI.</a:t>
            </a:r>
          </a:p>
        </p:txBody>
      </p:sp>
      <p:sp>
        <p:nvSpPr>
          <p:cNvPr id="11" name="Rounded Rectangle 10"/>
          <p:cNvSpPr/>
          <p:nvPr/>
        </p:nvSpPr>
        <p:spPr>
          <a:xfrm>
            <a:off x="6217920" y="1143000"/>
            <a:ext cx="5074920" cy="3566160"/>
          </a:xfrm>
          <a:prstGeom prst="roundRect">
            <a:avLst/>
          </a:prstGeom>
          <a:solidFill>
            <a:srgbClr val="FAEBEB"/>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143000"/>
            <a:ext cx="73152" cy="3566160"/>
          </a:xfrm>
          <a:prstGeom prst="rect">
            <a:avLst/>
          </a:prstGeom>
          <a:solidFill>
            <a:srgbClr val="BE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19088" y="1280160"/>
            <a:ext cx="4709159" cy="320040"/>
          </a:xfrm>
          <a:prstGeom prst="rect">
            <a:avLst/>
          </a:prstGeom>
          <a:noFill/>
        </p:spPr>
        <p:txBody>
          <a:bodyPr wrap="square" lIns="27432" tIns="27432" rIns="27432" bIns="27432" anchor="t">
            <a:spAutoFit/>
          </a:bodyPr>
          <a:lstStyle/>
          <a:p>
            <a:pPr algn="l"/>
            <a:r>
              <a:rPr sz="1800" b="1">
                <a:solidFill>
                  <a:srgbClr val="122A42"/>
                </a:solidFill>
                <a:latin typeface="Aptos"/>
              </a:rPr>
              <a:t>B ✗</a:t>
            </a:r>
          </a:p>
        </p:txBody>
      </p:sp>
      <p:sp>
        <p:nvSpPr>
          <p:cNvPr id="14" name="TextBox 13"/>
          <p:cNvSpPr txBox="1"/>
          <p:nvPr/>
        </p:nvSpPr>
        <p:spPr>
          <a:xfrm>
            <a:off x="6419088" y="1673352"/>
            <a:ext cx="4709159" cy="2907791"/>
          </a:xfrm>
          <a:prstGeom prst="rect">
            <a:avLst/>
          </a:prstGeom>
          <a:noFill/>
        </p:spPr>
        <p:txBody>
          <a:bodyPr wrap="square" lIns="27432" tIns="27432" rIns="27432" bIns="27432" anchor="t">
            <a:spAutoFit/>
          </a:bodyPr>
          <a:lstStyle/>
          <a:p>
            <a:pPr algn="l"/>
            <a:r>
              <a:rPr sz="1700" b="0">
                <a:solidFill>
                  <a:srgbClr val="26303A"/>
                </a:solidFill>
                <a:latin typeface="Aptos"/>
              </a:rPr>
              <a:t>Deep learning is an advanced technology within machine learning.</a:t>
            </a:r>
          </a:p>
        </p:txBody>
      </p:sp>
      <p:sp>
        <p:nvSpPr>
          <p:cNvPr id="15" name="Rounded Rectangle 14"/>
          <p:cNvSpPr/>
          <p:nvPr/>
        </p:nvSpPr>
        <p:spPr>
          <a:xfrm>
            <a:off x="685800" y="4892040"/>
            <a:ext cx="5074920" cy="91440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85800" y="4892040"/>
            <a:ext cx="73152" cy="91440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6968" y="5029200"/>
            <a:ext cx="4709159" cy="320040"/>
          </a:xfrm>
          <a:prstGeom prst="rect">
            <a:avLst/>
          </a:prstGeom>
          <a:noFill/>
        </p:spPr>
        <p:txBody>
          <a:bodyPr wrap="square" lIns="27432" tIns="27432" rIns="27432" bIns="27432" anchor="t">
            <a:spAutoFit/>
          </a:bodyPr>
          <a:lstStyle/>
          <a:p>
            <a:pPr algn="l"/>
            <a:r>
              <a:rPr sz="1500" b="1">
                <a:solidFill>
                  <a:srgbClr val="122A42"/>
                </a:solidFill>
                <a:latin typeface="Aptos"/>
              </a:rPr>
              <a:t>C ✓</a:t>
            </a:r>
          </a:p>
        </p:txBody>
      </p:sp>
      <p:sp>
        <p:nvSpPr>
          <p:cNvPr id="18" name="TextBox 17"/>
          <p:cNvSpPr txBox="1"/>
          <p:nvPr/>
        </p:nvSpPr>
        <p:spPr>
          <a:xfrm>
            <a:off x="886968" y="5422392"/>
            <a:ext cx="4709159" cy="256032"/>
          </a:xfrm>
          <a:prstGeom prst="rect">
            <a:avLst/>
          </a:prstGeom>
          <a:noFill/>
        </p:spPr>
        <p:txBody>
          <a:bodyPr wrap="square" lIns="27432" tIns="27432" rIns="27432" bIns="27432" anchor="t">
            <a:spAutoFit/>
          </a:bodyPr>
          <a:lstStyle/>
          <a:p>
            <a:pPr algn="l"/>
            <a:r>
              <a:rPr sz="1300" b="0">
                <a:solidFill>
                  <a:srgbClr val="26303A"/>
                </a:solidFill>
                <a:latin typeface="Aptos"/>
              </a:rPr>
              <a:t>Generative AI uses deep learning.</a:t>
            </a:r>
          </a:p>
        </p:txBody>
      </p:sp>
      <p:sp>
        <p:nvSpPr>
          <p:cNvPr id="19" name="Rounded Rectangle 18"/>
          <p:cNvSpPr/>
          <p:nvPr/>
        </p:nvSpPr>
        <p:spPr>
          <a:xfrm>
            <a:off x="6217920" y="4892040"/>
            <a:ext cx="5074920" cy="914400"/>
          </a:xfrm>
          <a:prstGeom prst="roundRect">
            <a:avLst/>
          </a:prstGeom>
          <a:solidFill>
            <a:srgbClr val="FAEBEB"/>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4892040"/>
            <a:ext cx="73152" cy="914400"/>
          </a:xfrm>
          <a:prstGeom prst="rect">
            <a:avLst/>
          </a:prstGeom>
          <a:solidFill>
            <a:srgbClr val="BE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19088" y="5029200"/>
            <a:ext cx="4709159" cy="320040"/>
          </a:xfrm>
          <a:prstGeom prst="rect">
            <a:avLst/>
          </a:prstGeom>
          <a:noFill/>
        </p:spPr>
        <p:txBody>
          <a:bodyPr wrap="square" lIns="27432" tIns="27432" rIns="27432" bIns="27432" anchor="t">
            <a:spAutoFit/>
          </a:bodyPr>
          <a:lstStyle/>
          <a:p>
            <a:pPr algn="l"/>
            <a:r>
              <a:rPr sz="1500" b="1">
                <a:solidFill>
                  <a:srgbClr val="122A42"/>
                </a:solidFill>
                <a:latin typeface="Aptos"/>
              </a:rPr>
              <a:t>D ✗</a:t>
            </a:r>
          </a:p>
        </p:txBody>
      </p:sp>
      <p:sp>
        <p:nvSpPr>
          <p:cNvPr id="22" name="TextBox 21"/>
          <p:cNvSpPr txBox="1"/>
          <p:nvPr/>
        </p:nvSpPr>
        <p:spPr>
          <a:xfrm>
            <a:off x="6419088" y="5422392"/>
            <a:ext cx="4709159" cy="256032"/>
          </a:xfrm>
          <a:prstGeom prst="rect">
            <a:avLst/>
          </a:prstGeom>
          <a:noFill/>
        </p:spPr>
        <p:txBody>
          <a:bodyPr wrap="square" lIns="27432" tIns="27432" rIns="27432" bIns="27432" anchor="t">
            <a:spAutoFit/>
          </a:bodyPr>
          <a:lstStyle/>
          <a:p>
            <a:pPr algn="l"/>
            <a:r>
              <a:rPr sz="1300" b="0">
                <a:solidFill>
                  <a:srgbClr val="26303A"/>
                </a:solidFill>
                <a:latin typeface="Aptos"/>
              </a:rPr>
              <a:t>AI is broader than machine learning.</a:t>
            </a:r>
          </a:p>
        </p:txBody>
      </p:sp>
      <p:sp>
        <p:nvSpPr>
          <p:cNvPr id="23" name="TextBox 22"/>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Question practice: identify the AI level</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1-2 • TRY</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25</a:t>
            </a:r>
          </a:p>
        </p:txBody>
      </p:sp>
      <p:sp>
        <p:nvSpPr>
          <p:cNvPr id="7" name="Rounded Rectangle 6"/>
          <p:cNvSpPr/>
          <p:nvPr/>
        </p:nvSpPr>
        <p:spPr>
          <a:xfrm>
            <a:off x="548640" y="932688"/>
            <a:ext cx="1600200" cy="347472"/>
          </a:xfrm>
          <a:prstGeom prst="roundRect">
            <a:avLst/>
          </a:prstGeom>
          <a:solidFill>
            <a:srgbClr val="FDF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969264"/>
            <a:ext cx="1453896" cy="237744"/>
          </a:xfrm>
          <a:prstGeom prst="rect">
            <a:avLst/>
          </a:prstGeom>
          <a:noFill/>
        </p:spPr>
        <p:txBody>
          <a:bodyPr wrap="square" lIns="27432" tIns="27432" rIns="27432" bIns="27432" anchor="ctr">
            <a:spAutoFit/>
          </a:bodyPr>
          <a:lstStyle/>
          <a:p>
            <a:pPr algn="ctr"/>
            <a:r>
              <a:rPr sz="1000" b="1">
                <a:solidFill>
                  <a:srgbClr val="EE8C2A"/>
                </a:solidFill>
                <a:latin typeface="Aptos"/>
              </a:rPr>
              <a:t>BOOK QUESTION</a:t>
            </a:r>
          </a:p>
        </p:txBody>
      </p:sp>
      <p:sp>
        <p:nvSpPr>
          <p:cNvPr id="9" name="TextBox 8"/>
          <p:cNvSpPr txBox="1"/>
          <p:nvPr/>
        </p:nvSpPr>
        <p:spPr>
          <a:xfrm>
            <a:off x="548640" y="1417320"/>
            <a:ext cx="10972800" cy="731520"/>
          </a:xfrm>
          <a:prstGeom prst="rect">
            <a:avLst/>
          </a:prstGeom>
          <a:noFill/>
        </p:spPr>
        <p:txBody>
          <a:bodyPr wrap="square" lIns="27432" tIns="27432" rIns="27432" bIns="27432" anchor="t">
            <a:spAutoFit/>
          </a:bodyPr>
          <a:lstStyle/>
          <a:p>
            <a:pPr algn="l"/>
            <a:r>
              <a:rPr sz="2200" b="1">
                <a:solidFill>
                  <a:srgbClr val="122A42"/>
                </a:solidFill>
                <a:latin typeface="Aptos"/>
              </a:rPr>
              <a:t>Match each description with the best term.</a:t>
            </a:r>
          </a:p>
        </p:txBody>
      </p:sp>
      <p:sp>
        <p:nvSpPr>
          <p:cNvPr id="10" name="Rounded Rectangle 9"/>
          <p:cNvSpPr/>
          <p:nvPr/>
        </p:nvSpPr>
        <p:spPr>
          <a:xfrm>
            <a:off x="685800" y="2331720"/>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386584"/>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a  Learns patterns from data to make predictions and judgments.</a:t>
            </a:r>
          </a:p>
        </p:txBody>
      </p:sp>
      <p:sp>
        <p:nvSpPr>
          <p:cNvPr id="12" name="Rounded Rectangle 11"/>
          <p:cNvSpPr/>
          <p:nvPr/>
        </p:nvSpPr>
        <p:spPr>
          <a:xfrm>
            <a:off x="685800" y="2990087"/>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044951"/>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b  Uses neural networks to learn complex patterns.</a:t>
            </a:r>
          </a:p>
        </p:txBody>
      </p:sp>
      <p:sp>
        <p:nvSpPr>
          <p:cNvPr id="14" name="Rounded Rectangle 13"/>
          <p:cNvSpPr/>
          <p:nvPr/>
        </p:nvSpPr>
        <p:spPr>
          <a:xfrm>
            <a:off x="685800" y="3648455"/>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703319"/>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c  Generates new data such as text and images.</a:t>
            </a:r>
          </a:p>
        </p:txBody>
      </p:sp>
      <p:sp>
        <p:nvSpPr>
          <p:cNvPr id="16" name="Rounded Rectangle 15"/>
          <p:cNvSpPr/>
          <p:nvPr/>
        </p:nvSpPr>
        <p:spPr>
          <a:xfrm>
            <a:off x="685800" y="4306823"/>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361687"/>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Choices: A Machine Learning   B Deep Learning   C Generative AI</a:t>
            </a:r>
          </a:p>
        </p:txBody>
      </p:sp>
      <p:sp>
        <p:nvSpPr>
          <p:cNvPr id="18" name="TextBox 17"/>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Answer: identify the AI level</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1-2 • TRY</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26</a:t>
            </a:r>
          </a:p>
        </p:txBody>
      </p:sp>
      <p:sp>
        <p:nvSpPr>
          <p:cNvPr id="7" name="Rounded Rectangle 6"/>
          <p:cNvSpPr/>
          <p:nvPr/>
        </p:nvSpPr>
        <p:spPr>
          <a:xfrm>
            <a:off x="548640" y="932688"/>
            <a:ext cx="1417320" cy="347472"/>
          </a:xfrm>
          <a:prstGeom prst="roundRect">
            <a:avLst/>
          </a:prstGeom>
          <a:solidFill>
            <a:srgbClr val="E5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969264"/>
            <a:ext cx="1271016" cy="237744"/>
          </a:xfrm>
          <a:prstGeom prst="rect">
            <a:avLst/>
          </a:prstGeom>
          <a:noFill/>
        </p:spPr>
        <p:txBody>
          <a:bodyPr wrap="square" lIns="27432" tIns="27432" rIns="27432" bIns="27432" anchor="ctr">
            <a:spAutoFit/>
          </a:bodyPr>
          <a:lstStyle/>
          <a:p>
            <a:pPr algn="ctr"/>
            <a:r>
              <a:rPr sz="1000" b="1">
                <a:solidFill>
                  <a:srgbClr val="398B5B"/>
                </a:solidFill>
                <a:latin typeface="Aptos"/>
              </a:rPr>
              <a:t>ANSWER</a:t>
            </a:r>
          </a:p>
        </p:txBody>
      </p:sp>
      <p:sp>
        <p:nvSpPr>
          <p:cNvPr id="9" name="TextBox 8"/>
          <p:cNvSpPr txBox="1"/>
          <p:nvPr/>
        </p:nvSpPr>
        <p:spPr>
          <a:xfrm>
            <a:off x="548640" y="1417320"/>
            <a:ext cx="10972800" cy="411480"/>
          </a:xfrm>
          <a:prstGeom prst="rect">
            <a:avLst/>
          </a:prstGeom>
          <a:noFill/>
        </p:spPr>
        <p:txBody>
          <a:bodyPr wrap="square" lIns="27432" tIns="27432" rIns="27432" bIns="27432" anchor="t">
            <a:spAutoFit/>
          </a:bodyPr>
          <a:lstStyle/>
          <a:p>
            <a:pPr algn="l"/>
            <a:r>
              <a:rPr sz="2500" b="1">
                <a:solidFill>
                  <a:srgbClr val="122A42"/>
                </a:solidFill>
                <a:latin typeface="Aptos"/>
              </a:rPr>
              <a:t>a → A • b → B • c → C</a:t>
            </a:r>
          </a:p>
        </p:txBody>
      </p:sp>
      <p:sp>
        <p:nvSpPr>
          <p:cNvPr id="10" name="Rounded Rectangle 9"/>
          <p:cNvSpPr/>
          <p:nvPr/>
        </p:nvSpPr>
        <p:spPr>
          <a:xfrm>
            <a:off x="685800" y="2057400"/>
            <a:ext cx="10698480" cy="182880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2057400"/>
            <a:ext cx="73152" cy="182880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 y="2194560"/>
            <a:ext cx="10332719" cy="320040"/>
          </a:xfrm>
          <a:prstGeom prst="rect">
            <a:avLst/>
          </a:prstGeom>
          <a:noFill/>
        </p:spPr>
        <p:txBody>
          <a:bodyPr wrap="square" lIns="27432" tIns="27432" rIns="27432" bIns="27432" anchor="t">
            <a:spAutoFit/>
          </a:bodyPr>
          <a:lstStyle/>
          <a:p>
            <a:pPr algn="l"/>
            <a:r>
              <a:rPr sz="1600" b="1">
                <a:solidFill>
                  <a:srgbClr val="122A42"/>
                </a:solidFill>
                <a:latin typeface="Aptos"/>
              </a:rPr>
              <a:t>Why?</a:t>
            </a:r>
          </a:p>
        </p:txBody>
      </p:sp>
      <p:sp>
        <p:nvSpPr>
          <p:cNvPr id="13" name="TextBox 12"/>
          <p:cNvSpPr txBox="1"/>
          <p:nvPr/>
        </p:nvSpPr>
        <p:spPr>
          <a:xfrm>
            <a:off x="886968" y="2587752"/>
            <a:ext cx="10332719" cy="1170432"/>
          </a:xfrm>
          <a:prstGeom prst="rect">
            <a:avLst/>
          </a:prstGeom>
          <a:noFill/>
        </p:spPr>
        <p:txBody>
          <a:bodyPr wrap="square" lIns="27432" tIns="27432" rIns="27432" bIns="27432" anchor="t">
            <a:spAutoFit/>
          </a:bodyPr>
          <a:lstStyle/>
          <a:p>
            <a:pPr algn="l"/>
            <a:r>
              <a:rPr sz="1700" b="0">
                <a:solidFill>
                  <a:srgbClr val="26303A"/>
                </a:solidFill>
                <a:latin typeface="Aptos"/>
              </a:rPr>
              <a:t>“Learns patterns” points to machine learning; “neural networks” points to deep learning; “generates new data” points to generative AI.</a:t>
            </a:r>
          </a:p>
        </p:txBody>
      </p:sp>
      <p:sp>
        <p:nvSpPr>
          <p:cNvPr id="14" name="TextBox 13"/>
          <p:cNvSpPr txBox="1"/>
          <p:nvPr/>
        </p:nvSpPr>
        <p:spPr>
          <a:xfrm>
            <a:off x="731520" y="4251960"/>
            <a:ext cx="10424160" cy="1097280"/>
          </a:xfrm>
          <a:prstGeom prst="rect">
            <a:avLst/>
          </a:prstGeom>
          <a:noFill/>
        </p:spPr>
        <p:txBody>
          <a:bodyPr wrap="square" lIns="27432" tIns="27432" rIns="27432" bIns="27432" anchor="t">
            <a:spAutoFit/>
          </a:bodyPr>
          <a:lstStyle/>
          <a:p>
            <a:pPr algn="l"/>
            <a:r>
              <a:rPr sz="1500" b="0">
                <a:solidFill>
                  <a:srgbClr val="66737E"/>
                </a:solidFill>
                <a:latin typeface="Aptos"/>
              </a:rPr>
              <a:t>Teaching move: ask students to explain the clue in the question that led them to the answer.</a:t>
            </a:r>
          </a:p>
        </p:txBody>
      </p:sp>
      <p:sp>
        <p:nvSpPr>
          <p:cNvPr id="15" name="TextBox 14"/>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Exam-style question: explain the relationship</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1-2 • 6 MARKS</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27</a:t>
            </a:r>
          </a:p>
        </p:txBody>
      </p:sp>
      <p:sp>
        <p:nvSpPr>
          <p:cNvPr id="7" name="Rounded Rectangle 6"/>
          <p:cNvSpPr/>
          <p:nvPr/>
        </p:nvSpPr>
        <p:spPr>
          <a:xfrm>
            <a:off x="594360" y="932688"/>
            <a:ext cx="1691640" cy="347472"/>
          </a:xfrm>
          <a:prstGeom prst="roundRect">
            <a:avLst/>
          </a:prstGeom>
          <a:solidFill>
            <a:srgbClr val="FDF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969264"/>
            <a:ext cx="1545336" cy="237744"/>
          </a:xfrm>
          <a:prstGeom prst="rect">
            <a:avLst/>
          </a:prstGeom>
          <a:noFill/>
        </p:spPr>
        <p:txBody>
          <a:bodyPr wrap="square" lIns="27432" tIns="27432" rIns="27432" bIns="27432" anchor="ctr">
            <a:spAutoFit/>
          </a:bodyPr>
          <a:lstStyle/>
          <a:p>
            <a:pPr algn="ctr"/>
            <a:r>
              <a:rPr sz="1000" b="1">
                <a:solidFill>
                  <a:srgbClr val="EE8C2A"/>
                </a:solidFill>
                <a:latin typeface="Aptos"/>
              </a:rPr>
              <a:t>6-MARK QUESTION</a:t>
            </a:r>
          </a:p>
        </p:txBody>
      </p:sp>
      <p:sp>
        <p:nvSpPr>
          <p:cNvPr id="9" name="TextBox 8"/>
          <p:cNvSpPr txBox="1"/>
          <p:nvPr/>
        </p:nvSpPr>
        <p:spPr>
          <a:xfrm>
            <a:off x="594360" y="1417320"/>
            <a:ext cx="10698480" cy="502920"/>
          </a:xfrm>
          <a:prstGeom prst="rect">
            <a:avLst/>
          </a:prstGeom>
          <a:noFill/>
        </p:spPr>
        <p:txBody>
          <a:bodyPr wrap="square" lIns="27432" tIns="27432" rIns="27432" bIns="27432" anchor="t">
            <a:spAutoFit/>
          </a:bodyPr>
          <a:lstStyle/>
          <a:p>
            <a:pPr algn="l"/>
            <a:r>
              <a:rPr sz="2300" b="1">
                <a:solidFill>
                  <a:srgbClr val="122A42"/>
                </a:solidFill>
                <a:latin typeface="Aptos"/>
              </a:rPr>
              <a:t>Analyze the relationship between AI, machine learning, deep learning and generative AI.</a:t>
            </a:r>
          </a:p>
        </p:txBody>
      </p:sp>
      <p:sp>
        <p:nvSpPr>
          <p:cNvPr id="10" name="Rounded Rectangle 9"/>
          <p:cNvSpPr/>
          <p:nvPr/>
        </p:nvSpPr>
        <p:spPr>
          <a:xfrm>
            <a:off x="685800" y="2148840"/>
            <a:ext cx="10652760" cy="2423160"/>
          </a:xfrm>
          <a:prstGeom prst="roundRect">
            <a:avLst/>
          </a:prstGeom>
          <a:solidFill>
            <a:srgbClr val="FDF1E1"/>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2148840"/>
            <a:ext cx="73152" cy="2423160"/>
          </a:xfrm>
          <a:prstGeom prst="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 y="2286000"/>
            <a:ext cx="10287000" cy="320040"/>
          </a:xfrm>
          <a:prstGeom prst="rect">
            <a:avLst/>
          </a:prstGeom>
          <a:noFill/>
        </p:spPr>
        <p:txBody>
          <a:bodyPr wrap="square" lIns="27432" tIns="27432" rIns="27432" bIns="27432" anchor="t">
            <a:spAutoFit/>
          </a:bodyPr>
          <a:lstStyle/>
          <a:p>
            <a:pPr algn="l"/>
            <a:r>
              <a:rPr sz="1800" b="1">
                <a:solidFill>
                  <a:srgbClr val="122A42"/>
                </a:solidFill>
                <a:latin typeface="Aptos"/>
              </a:rPr>
              <a:t>What the examiner wants</a:t>
            </a:r>
          </a:p>
        </p:txBody>
      </p:sp>
      <p:sp>
        <p:nvSpPr>
          <p:cNvPr id="13" name="TextBox 12"/>
          <p:cNvSpPr txBox="1"/>
          <p:nvPr/>
        </p:nvSpPr>
        <p:spPr>
          <a:xfrm>
            <a:off x="886968" y="2679192"/>
            <a:ext cx="10287000" cy="1764792"/>
          </a:xfrm>
          <a:prstGeom prst="rect">
            <a:avLst/>
          </a:prstGeom>
          <a:noFill/>
        </p:spPr>
        <p:txBody>
          <a:bodyPr wrap="square" lIns="27432" tIns="27432" rIns="27432" bIns="27432" anchor="t">
            <a:spAutoFit/>
          </a:bodyPr>
          <a:lstStyle/>
          <a:p>
            <a:pPr algn="l"/>
            <a:r>
              <a:rPr sz="1700" b="0">
                <a:solidFill>
                  <a:srgbClr val="26303A"/>
                </a:solidFill>
                <a:latin typeface="Aptos"/>
              </a:rPr>
              <a:t>• Use the idea of nested categories.
• Explain the order from broadest to most specialized.
• Give one example of each.
• Do not treat the four terms as four unrelated technologies.</a:t>
            </a:r>
          </a:p>
        </p:txBody>
      </p:sp>
      <p:sp>
        <p:nvSpPr>
          <p:cNvPr id="14" name="TextBox 13"/>
          <p:cNvSpPr txBox="1"/>
          <p:nvPr/>
        </p:nvSpPr>
        <p:spPr>
          <a:xfrm>
            <a:off x="731520" y="4892040"/>
            <a:ext cx="10424160" cy="640080"/>
          </a:xfrm>
          <a:prstGeom prst="rect">
            <a:avLst/>
          </a:prstGeom>
          <a:noFill/>
        </p:spPr>
        <p:txBody>
          <a:bodyPr wrap="square" lIns="27432" tIns="27432" rIns="27432" bIns="27432" anchor="t">
            <a:spAutoFit/>
          </a:bodyPr>
          <a:lstStyle/>
          <a:p>
            <a:pPr algn="ctr"/>
            <a:r>
              <a:rPr sz="1700" b="1">
                <a:solidFill>
                  <a:srgbClr val="122A42"/>
                </a:solidFill>
                <a:latin typeface="Aptos"/>
              </a:rPr>
              <a:t>Writing frame: “AI is the broad field. Within it is … Within that is … Generative AI …”</a:t>
            </a:r>
          </a:p>
        </p:txBody>
      </p:sp>
      <p:sp>
        <p:nvSpPr>
          <p:cNvPr id="15" name="TextBox 14"/>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A strong 6-mark answer</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1-2 • MODEL ANSWER</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28</a:t>
            </a:r>
          </a:p>
        </p:txBody>
      </p:sp>
      <p:sp>
        <p:nvSpPr>
          <p:cNvPr id="7" name="TextBox 6"/>
          <p:cNvSpPr txBox="1"/>
          <p:nvPr/>
        </p:nvSpPr>
        <p:spPr>
          <a:xfrm>
            <a:off x="685800" y="1143000"/>
            <a:ext cx="10698480" cy="3566160"/>
          </a:xfrm>
          <a:prstGeom prst="rect">
            <a:avLst/>
          </a:prstGeom>
          <a:noFill/>
        </p:spPr>
        <p:txBody>
          <a:bodyPr wrap="square" lIns="27432" tIns="27432" rIns="27432" bIns="27432" anchor="t">
            <a:spAutoFit/>
          </a:bodyPr>
          <a:lstStyle/>
          <a:p>
            <a:pPr algn="l"/>
            <a:r>
              <a:rPr sz="1800" b="0">
                <a:solidFill>
                  <a:srgbClr val="26303A"/>
                </a:solidFill>
                <a:latin typeface="Aptos"/>
              </a:rPr>
              <a:t>AI is the broad field of technologies that perform intelligent human behavior. Machine learning is a type of AI that learns patterns from data. Deep learning is an advanced type of machine learning that uses neural networks and large-scale data. Generative AI uses deep learning to create new data such as text, images and audio. So the relationship is nested: AI → machine learning → deep learning → generative AI.</a:t>
            </a:r>
          </a:p>
        </p:txBody>
      </p:sp>
      <p:sp>
        <p:nvSpPr>
          <p:cNvPr id="8" name="Rounded Rectangle 7"/>
          <p:cNvSpPr/>
          <p:nvPr/>
        </p:nvSpPr>
        <p:spPr>
          <a:xfrm>
            <a:off x="731520" y="5120640"/>
            <a:ext cx="2468880" cy="347472"/>
          </a:xfrm>
          <a:prstGeom prst="roundRect">
            <a:avLst/>
          </a:prstGeom>
          <a:solidFill>
            <a:srgbClr val="E5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5157216"/>
            <a:ext cx="2322576" cy="237744"/>
          </a:xfrm>
          <a:prstGeom prst="rect">
            <a:avLst/>
          </a:prstGeom>
          <a:noFill/>
        </p:spPr>
        <p:txBody>
          <a:bodyPr wrap="square" lIns="27432" tIns="27432" rIns="27432" bIns="27432" anchor="ctr">
            <a:spAutoFit/>
          </a:bodyPr>
          <a:lstStyle/>
          <a:p>
            <a:pPr algn="ctr"/>
            <a:r>
              <a:rPr sz="1000" b="1">
                <a:solidFill>
                  <a:srgbClr val="008591"/>
                </a:solidFill>
                <a:latin typeface="Aptos"/>
              </a:rPr>
              <a:t>KEY PHRASE: NESTED CATEGORIES</a:t>
            </a:r>
          </a:p>
        </p:txBody>
      </p:sp>
      <p:sp>
        <p:nvSpPr>
          <p:cNvPr id="10" name="TextBox 9"/>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686800" y="-731520"/>
            <a:ext cx="4297680" cy="4297680"/>
          </a:xfrm>
          <a:prstGeom prst="ellipse">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3474720"/>
            <a:ext cx="2743200" cy="2743200"/>
          </a:xfrm>
          <a:prstGeom prst="ellipse">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51560"/>
            <a:ext cx="1097280" cy="502920"/>
          </a:xfrm>
          <a:prstGeom prst="rect">
            <a:avLst/>
          </a:prstGeom>
          <a:noFill/>
        </p:spPr>
        <p:txBody>
          <a:bodyPr wrap="square" lIns="27432" tIns="27432" rIns="27432" bIns="27432" anchor="t">
            <a:spAutoFit/>
          </a:bodyPr>
          <a:lstStyle/>
          <a:p>
            <a:pPr algn="l"/>
            <a:r>
              <a:rPr sz="3000" b="1">
                <a:solidFill>
                  <a:srgbClr val="EE8C2A"/>
                </a:solidFill>
                <a:latin typeface="Aptos"/>
              </a:rPr>
              <a:t>1-3</a:t>
            </a:r>
          </a:p>
        </p:txBody>
      </p:sp>
      <p:sp>
        <p:nvSpPr>
          <p:cNvPr id="6" name="TextBox 5"/>
          <p:cNvSpPr txBox="1"/>
          <p:nvPr/>
        </p:nvSpPr>
        <p:spPr>
          <a:xfrm>
            <a:off x="640080" y="1691640"/>
            <a:ext cx="7863840" cy="1143000"/>
          </a:xfrm>
          <a:prstGeom prst="rect">
            <a:avLst/>
          </a:prstGeom>
          <a:noFill/>
        </p:spPr>
        <p:txBody>
          <a:bodyPr wrap="square" lIns="27432" tIns="27432" rIns="27432" bIns="27432" anchor="t">
            <a:spAutoFit/>
          </a:bodyPr>
          <a:lstStyle/>
          <a:p>
            <a:pPr algn="l"/>
            <a:r>
              <a:rPr sz="3800" b="1">
                <a:solidFill>
                  <a:srgbClr val="FFFFFF"/>
                </a:solidFill>
                <a:latin typeface="Aptos Display"/>
              </a:rPr>
              <a:t>AI in Daily Life and Industry</a:t>
            </a:r>
          </a:p>
        </p:txBody>
      </p:sp>
      <p:sp>
        <p:nvSpPr>
          <p:cNvPr id="7" name="TextBox 6"/>
          <p:cNvSpPr txBox="1"/>
          <p:nvPr/>
        </p:nvSpPr>
        <p:spPr>
          <a:xfrm>
            <a:off x="658368" y="2971800"/>
            <a:ext cx="6858000" cy="731520"/>
          </a:xfrm>
          <a:prstGeom prst="rect">
            <a:avLst/>
          </a:prstGeom>
          <a:noFill/>
        </p:spPr>
        <p:txBody>
          <a:bodyPr wrap="square" lIns="27432" tIns="27432" rIns="27432" bIns="27432" anchor="t">
            <a:spAutoFit/>
          </a:bodyPr>
          <a:lstStyle/>
          <a:p>
            <a:pPr algn="l"/>
            <a:r>
              <a:rPr sz="1900" b="0">
                <a:solidFill>
                  <a:srgbClr val="DCE6EE"/>
                </a:solidFill>
                <a:latin typeface="Aptos"/>
              </a:rPr>
              <a:t>AI is already around us — but it is strongest at patterns, prediction and recognition.</a:t>
            </a:r>
          </a:p>
        </p:txBody>
      </p:sp>
      <p:sp>
        <p:nvSpPr>
          <p:cNvPr id="8" name="Rounded Rectangle 7"/>
          <p:cNvSpPr/>
          <p:nvPr/>
        </p:nvSpPr>
        <p:spPr>
          <a:xfrm>
            <a:off x="658368" y="5074920"/>
            <a:ext cx="2377440" cy="347472"/>
          </a:xfrm>
          <a:prstGeom prst="round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19" y="5111496"/>
            <a:ext cx="2231136" cy="237744"/>
          </a:xfrm>
          <a:prstGeom prst="rect">
            <a:avLst/>
          </a:prstGeom>
          <a:noFill/>
        </p:spPr>
        <p:txBody>
          <a:bodyPr wrap="square" lIns="27432" tIns="27432" rIns="27432" bIns="27432" anchor="ctr">
            <a:spAutoFit/>
          </a:bodyPr>
          <a:lstStyle/>
          <a:p>
            <a:pPr algn="ctr"/>
            <a:r>
              <a:rPr sz="1000" b="1">
                <a:solidFill>
                  <a:srgbClr val="FFFFFF"/>
                </a:solidFill>
                <a:latin typeface="Aptos"/>
              </a:rPr>
              <a:t>TEACH • DISCUSS • PRACTISE</a:t>
            </a:r>
          </a:p>
        </p:txBody>
      </p:sp>
      <p:sp>
        <p:nvSpPr>
          <p:cNvPr id="10" name="TextBox 9"/>
          <p:cNvSpPr txBox="1"/>
          <p:nvPr/>
        </p:nvSpPr>
        <p:spPr>
          <a:xfrm>
            <a:off x="658368" y="5989320"/>
            <a:ext cx="7315200" cy="320040"/>
          </a:xfrm>
          <a:prstGeom prst="rect">
            <a:avLst/>
          </a:prstGeom>
          <a:noFill/>
        </p:spPr>
        <p:txBody>
          <a:bodyPr wrap="square" lIns="27432" tIns="27432" rIns="27432" bIns="27432" anchor="t">
            <a:spAutoFit/>
          </a:bodyPr>
          <a:lstStyle/>
          <a:p>
            <a:pPr algn="l"/>
            <a:r>
              <a:rPr sz="1000" b="0">
                <a:solidFill>
                  <a:srgbClr val="B4C3D0"/>
                </a:solidFill>
                <a:latin typeface="Aptos"/>
              </a:rPr>
              <a:t>Chapter 1 • Information Technology and Society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AI you probably use every day</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1-3 • DAILY LIFE</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30</a:t>
            </a:r>
          </a:p>
        </p:txBody>
      </p:sp>
      <p:sp>
        <p:nvSpPr>
          <p:cNvPr id="7" name="Rounded Rectangle 6"/>
          <p:cNvSpPr/>
          <p:nvPr/>
        </p:nvSpPr>
        <p:spPr>
          <a:xfrm>
            <a:off x="640080" y="1143000"/>
            <a:ext cx="5166360" cy="178308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143000"/>
            <a:ext cx="73152" cy="1783080"/>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280160"/>
            <a:ext cx="4800600" cy="320040"/>
          </a:xfrm>
          <a:prstGeom prst="rect">
            <a:avLst/>
          </a:prstGeom>
          <a:noFill/>
        </p:spPr>
        <p:txBody>
          <a:bodyPr wrap="square" lIns="27432" tIns="27432" rIns="27432" bIns="27432" anchor="t">
            <a:spAutoFit/>
          </a:bodyPr>
          <a:lstStyle/>
          <a:p>
            <a:pPr algn="l"/>
            <a:r>
              <a:rPr sz="1700" b="1">
                <a:solidFill>
                  <a:srgbClr val="122A42"/>
                </a:solidFill>
                <a:latin typeface="Aptos"/>
              </a:rPr>
              <a:t>Recommendation systems</a:t>
            </a:r>
          </a:p>
        </p:txBody>
      </p:sp>
      <p:sp>
        <p:nvSpPr>
          <p:cNvPr id="10" name="TextBox 9"/>
          <p:cNvSpPr txBox="1"/>
          <p:nvPr/>
        </p:nvSpPr>
        <p:spPr>
          <a:xfrm>
            <a:off x="841247" y="1673352"/>
            <a:ext cx="4800600" cy="1124712"/>
          </a:xfrm>
          <a:prstGeom prst="rect">
            <a:avLst/>
          </a:prstGeom>
          <a:noFill/>
        </p:spPr>
        <p:txBody>
          <a:bodyPr wrap="square" lIns="27432" tIns="27432" rIns="27432" bIns="27432" anchor="t">
            <a:spAutoFit/>
          </a:bodyPr>
          <a:lstStyle/>
          <a:p>
            <a:pPr algn="l"/>
            <a:r>
              <a:rPr sz="1500" b="0">
                <a:solidFill>
                  <a:srgbClr val="26303A"/>
                </a:solidFill>
                <a:latin typeface="Aptos"/>
              </a:rPr>
              <a:t>Suggest videos, products or music from past behavior.</a:t>
            </a:r>
          </a:p>
        </p:txBody>
      </p:sp>
      <p:sp>
        <p:nvSpPr>
          <p:cNvPr id="11" name="Rounded Rectangle 10"/>
          <p:cNvSpPr/>
          <p:nvPr/>
        </p:nvSpPr>
        <p:spPr>
          <a:xfrm>
            <a:off x="6263640" y="1143000"/>
            <a:ext cx="5166360" cy="178308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1143000"/>
            <a:ext cx="73152" cy="178308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64808" y="1280160"/>
            <a:ext cx="4800600" cy="320040"/>
          </a:xfrm>
          <a:prstGeom prst="rect">
            <a:avLst/>
          </a:prstGeom>
          <a:noFill/>
        </p:spPr>
        <p:txBody>
          <a:bodyPr wrap="square" lIns="27432" tIns="27432" rIns="27432" bIns="27432" anchor="t">
            <a:spAutoFit/>
          </a:bodyPr>
          <a:lstStyle/>
          <a:p>
            <a:pPr algn="l"/>
            <a:r>
              <a:rPr sz="1700" b="1">
                <a:solidFill>
                  <a:srgbClr val="122A42"/>
                </a:solidFill>
                <a:latin typeface="Aptos"/>
              </a:rPr>
              <a:t>Voice assistants</a:t>
            </a:r>
          </a:p>
        </p:txBody>
      </p:sp>
      <p:sp>
        <p:nvSpPr>
          <p:cNvPr id="14" name="TextBox 13"/>
          <p:cNvSpPr txBox="1"/>
          <p:nvPr/>
        </p:nvSpPr>
        <p:spPr>
          <a:xfrm>
            <a:off x="6464808" y="1673352"/>
            <a:ext cx="4800600" cy="1124712"/>
          </a:xfrm>
          <a:prstGeom prst="rect">
            <a:avLst/>
          </a:prstGeom>
          <a:noFill/>
        </p:spPr>
        <p:txBody>
          <a:bodyPr wrap="square" lIns="27432" tIns="27432" rIns="27432" bIns="27432" anchor="t">
            <a:spAutoFit/>
          </a:bodyPr>
          <a:lstStyle/>
          <a:p>
            <a:pPr algn="l"/>
            <a:r>
              <a:rPr sz="1500" b="0">
                <a:solidFill>
                  <a:srgbClr val="26303A"/>
                </a:solidFill>
                <a:latin typeface="Aptos"/>
              </a:rPr>
              <a:t>Recognize voice, understand commands, execute them.</a:t>
            </a:r>
          </a:p>
        </p:txBody>
      </p:sp>
      <p:sp>
        <p:nvSpPr>
          <p:cNvPr id="15" name="Rounded Rectangle 14"/>
          <p:cNvSpPr/>
          <p:nvPr/>
        </p:nvSpPr>
        <p:spPr>
          <a:xfrm>
            <a:off x="640080" y="3291840"/>
            <a:ext cx="5166360" cy="178308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3291840"/>
            <a:ext cx="73152" cy="1783080"/>
          </a:xfrm>
          <a:prstGeom prst="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3429000"/>
            <a:ext cx="4800600" cy="320040"/>
          </a:xfrm>
          <a:prstGeom prst="rect">
            <a:avLst/>
          </a:prstGeom>
          <a:noFill/>
        </p:spPr>
        <p:txBody>
          <a:bodyPr wrap="square" lIns="27432" tIns="27432" rIns="27432" bIns="27432" anchor="t">
            <a:spAutoFit/>
          </a:bodyPr>
          <a:lstStyle/>
          <a:p>
            <a:pPr algn="l"/>
            <a:r>
              <a:rPr sz="1700" b="1">
                <a:solidFill>
                  <a:srgbClr val="122A42"/>
                </a:solidFill>
                <a:latin typeface="Aptos"/>
              </a:rPr>
              <a:t>Machine translation</a:t>
            </a:r>
          </a:p>
        </p:txBody>
      </p:sp>
      <p:sp>
        <p:nvSpPr>
          <p:cNvPr id="18" name="TextBox 17"/>
          <p:cNvSpPr txBox="1"/>
          <p:nvPr/>
        </p:nvSpPr>
        <p:spPr>
          <a:xfrm>
            <a:off x="841247" y="3822191"/>
            <a:ext cx="4800600" cy="1124712"/>
          </a:xfrm>
          <a:prstGeom prst="rect">
            <a:avLst/>
          </a:prstGeom>
          <a:noFill/>
        </p:spPr>
        <p:txBody>
          <a:bodyPr wrap="square" lIns="27432" tIns="27432" rIns="27432" bIns="27432" anchor="t">
            <a:spAutoFit/>
          </a:bodyPr>
          <a:lstStyle/>
          <a:p>
            <a:pPr algn="l"/>
            <a:r>
              <a:rPr sz="1500" b="0">
                <a:solidFill>
                  <a:srgbClr val="26303A"/>
                </a:solidFill>
                <a:latin typeface="Aptos"/>
              </a:rPr>
              <a:t>Automatically translates text between languages.</a:t>
            </a:r>
          </a:p>
        </p:txBody>
      </p:sp>
      <p:sp>
        <p:nvSpPr>
          <p:cNvPr id="19" name="Rounded Rectangle 18"/>
          <p:cNvSpPr/>
          <p:nvPr/>
        </p:nvSpPr>
        <p:spPr>
          <a:xfrm>
            <a:off x="6263640" y="3291840"/>
            <a:ext cx="5166360" cy="178308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63640" y="3291840"/>
            <a:ext cx="73152" cy="1783080"/>
          </a:xfrm>
          <a:prstGeom prst="rect">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64808" y="3429000"/>
            <a:ext cx="4800600" cy="320040"/>
          </a:xfrm>
          <a:prstGeom prst="rect">
            <a:avLst/>
          </a:prstGeom>
          <a:noFill/>
        </p:spPr>
        <p:txBody>
          <a:bodyPr wrap="square" lIns="27432" tIns="27432" rIns="27432" bIns="27432" anchor="t">
            <a:spAutoFit/>
          </a:bodyPr>
          <a:lstStyle/>
          <a:p>
            <a:pPr algn="l"/>
            <a:r>
              <a:rPr sz="1700" b="1">
                <a:solidFill>
                  <a:srgbClr val="122A42"/>
                </a:solidFill>
                <a:latin typeface="Aptos"/>
              </a:rPr>
              <a:t>Face recognition</a:t>
            </a:r>
          </a:p>
        </p:txBody>
      </p:sp>
      <p:sp>
        <p:nvSpPr>
          <p:cNvPr id="22" name="TextBox 21"/>
          <p:cNvSpPr txBox="1"/>
          <p:nvPr/>
        </p:nvSpPr>
        <p:spPr>
          <a:xfrm>
            <a:off x="6464808" y="3822191"/>
            <a:ext cx="4800600" cy="1124712"/>
          </a:xfrm>
          <a:prstGeom prst="rect">
            <a:avLst/>
          </a:prstGeom>
          <a:noFill/>
        </p:spPr>
        <p:txBody>
          <a:bodyPr wrap="square" lIns="27432" tIns="27432" rIns="27432" bIns="27432" anchor="t">
            <a:spAutoFit/>
          </a:bodyPr>
          <a:lstStyle/>
          <a:p>
            <a:pPr algn="l"/>
            <a:r>
              <a:rPr sz="1500" b="0">
                <a:solidFill>
                  <a:srgbClr val="26303A"/>
                </a:solidFill>
                <a:latin typeface="Aptos"/>
              </a:rPr>
              <a:t>Detects and identifies faces in images; e.g. phone unlocking.</a:t>
            </a:r>
          </a:p>
        </p:txBody>
      </p:sp>
      <p:sp>
        <p:nvSpPr>
          <p:cNvPr id="23" name="TextBox 22"/>
          <p:cNvSpPr txBox="1"/>
          <p:nvPr/>
        </p:nvSpPr>
        <p:spPr>
          <a:xfrm>
            <a:off x="685800" y="5715000"/>
            <a:ext cx="10607040" cy="411480"/>
          </a:xfrm>
          <a:prstGeom prst="rect">
            <a:avLst/>
          </a:prstGeom>
          <a:noFill/>
        </p:spPr>
        <p:txBody>
          <a:bodyPr wrap="square" lIns="27432" tIns="27432" rIns="27432" bIns="27432" anchor="t">
            <a:spAutoFit/>
          </a:bodyPr>
          <a:lstStyle/>
          <a:p>
            <a:pPr algn="ctr"/>
            <a:r>
              <a:rPr sz="1800" b="1">
                <a:solidFill>
                  <a:srgbClr val="122A42"/>
                </a:solidFill>
                <a:latin typeface="Aptos"/>
              </a:rPr>
              <a:t>Ask students: “Where did you use one of these this week?”</a:t>
            </a:r>
          </a:p>
        </p:txBody>
      </p:sp>
      <p:sp>
        <p:nvSpPr>
          <p:cNvPr id="24" name="TextBox 23"/>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AI in industry</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1-3 • REAL APPLICATIONS</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31</a:t>
            </a:r>
          </a:p>
        </p:txBody>
      </p:sp>
      <p:sp>
        <p:nvSpPr>
          <p:cNvPr id="7" name="Rounded Rectangle 6"/>
          <p:cNvSpPr/>
          <p:nvPr/>
        </p:nvSpPr>
        <p:spPr>
          <a:xfrm>
            <a:off x="640080" y="1417320"/>
            <a:ext cx="2514600" cy="301752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417320"/>
            <a:ext cx="73152" cy="3017520"/>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554480"/>
            <a:ext cx="2148840" cy="320040"/>
          </a:xfrm>
          <a:prstGeom prst="rect">
            <a:avLst/>
          </a:prstGeom>
          <a:noFill/>
        </p:spPr>
        <p:txBody>
          <a:bodyPr wrap="square" lIns="27432" tIns="27432" rIns="27432" bIns="27432" anchor="t">
            <a:spAutoFit/>
          </a:bodyPr>
          <a:lstStyle/>
          <a:p>
            <a:pPr algn="l"/>
            <a:r>
              <a:rPr sz="1600" b="1">
                <a:solidFill>
                  <a:srgbClr val="122A42"/>
                </a:solidFill>
                <a:latin typeface="Aptos"/>
              </a:rPr>
              <a:t>Healthcare</a:t>
            </a:r>
          </a:p>
        </p:txBody>
      </p:sp>
      <p:sp>
        <p:nvSpPr>
          <p:cNvPr id="10" name="TextBox 9"/>
          <p:cNvSpPr txBox="1"/>
          <p:nvPr/>
        </p:nvSpPr>
        <p:spPr>
          <a:xfrm>
            <a:off x="841247" y="1947672"/>
            <a:ext cx="2148840" cy="2359152"/>
          </a:xfrm>
          <a:prstGeom prst="rect">
            <a:avLst/>
          </a:prstGeom>
          <a:noFill/>
        </p:spPr>
        <p:txBody>
          <a:bodyPr wrap="square" lIns="27432" tIns="27432" rIns="27432" bIns="27432" anchor="t">
            <a:spAutoFit/>
          </a:bodyPr>
          <a:lstStyle/>
          <a:p>
            <a:pPr algn="l"/>
            <a:r>
              <a:rPr sz="1400" b="0">
                <a:solidFill>
                  <a:srgbClr val="26303A"/>
                </a:solidFill>
                <a:latin typeface="Aptos"/>
              </a:rPr>
              <a:t>X-ray/CT image diagnosis; drug-discovery support</a:t>
            </a:r>
          </a:p>
        </p:txBody>
      </p:sp>
      <p:sp>
        <p:nvSpPr>
          <p:cNvPr id="11" name="Rounded Rectangle 10"/>
          <p:cNvSpPr/>
          <p:nvPr/>
        </p:nvSpPr>
        <p:spPr>
          <a:xfrm>
            <a:off x="3429000" y="1417320"/>
            <a:ext cx="2514600" cy="301752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29000" y="1417320"/>
            <a:ext cx="73152" cy="301752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30168" y="1554480"/>
            <a:ext cx="2148840" cy="320040"/>
          </a:xfrm>
          <a:prstGeom prst="rect">
            <a:avLst/>
          </a:prstGeom>
          <a:noFill/>
        </p:spPr>
        <p:txBody>
          <a:bodyPr wrap="square" lIns="27432" tIns="27432" rIns="27432" bIns="27432" anchor="t">
            <a:spAutoFit/>
          </a:bodyPr>
          <a:lstStyle/>
          <a:p>
            <a:pPr algn="l"/>
            <a:r>
              <a:rPr sz="1600" b="1">
                <a:solidFill>
                  <a:srgbClr val="122A42"/>
                </a:solidFill>
                <a:latin typeface="Aptos"/>
              </a:rPr>
              <a:t>Agriculture</a:t>
            </a:r>
          </a:p>
        </p:txBody>
      </p:sp>
      <p:sp>
        <p:nvSpPr>
          <p:cNvPr id="14" name="TextBox 13"/>
          <p:cNvSpPr txBox="1"/>
          <p:nvPr/>
        </p:nvSpPr>
        <p:spPr>
          <a:xfrm>
            <a:off x="3630168" y="1947672"/>
            <a:ext cx="2148840" cy="2359152"/>
          </a:xfrm>
          <a:prstGeom prst="rect">
            <a:avLst/>
          </a:prstGeom>
          <a:noFill/>
        </p:spPr>
        <p:txBody>
          <a:bodyPr wrap="square" lIns="27432" tIns="27432" rIns="27432" bIns="27432" anchor="t">
            <a:spAutoFit/>
          </a:bodyPr>
          <a:lstStyle/>
          <a:p>
            <a:pPr algn="l"/>
            <a:r>
              <a:rPr sz="1400" b="0">
                <a:solidFill>
                  <a:srgbClr val="26303A"/>
                </a:solidFill>
                <a:latin typeface="Aptos"/>
              </a:rPr>
              <a:t>Predict harvest timing; detect pests and diseases</a:t>
            </a:r>
          </a:p>
        </p:txBody>
      </p:sp>
      <p:sp>
        <p:nvSpPr>
          <p:cNvPr id="15" name="Rounded Rectangle 14"/>
          <p:cNvSpPr/>
          <p:nvPr/>
        </p:nvSpPr>
        <p:spPr>
          <a:xfrm>
            <a:off x="6217920" y="1417320"/>
            <a:ext cx="2514600" cy="301752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417320"/>
            <a:ext cx="73152" cy="3017520"/>
          </a:xfrm>
          <a:prstGeom prst="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1554480"/>
            <a:ext cx="2148840" cy="320040"/>
          </a:xfrm>
          <a:prstGeom prst="rect">
            <a:avLst/>
          </a:prstGeom>
          <a:noFill/>
        </p:spPr>
        <p:txBody>
          <a:bodyPr wrap="square" lIns="27432" tIns="27432" rIns="27432" bIns="27432" anchor="t">
            <a:spAutoFit/>
          </a:bodyPr>
          <a:lstStyle/>
          <a:p>
            <a:pPr algn="l"/>
            <a:r>
              <a:rPr sz="1600" b="1">
                <a:solidFill>
                  <a:srgbClr val="122A42"/>
                </a:solidFill>
                <a:latin typeface="Aptos"/>
              </a:rPr>
              <a:t>Manufacturing</a:t>
            </a:r>
          </a:p>
        </p:txBody>
      </p:sp>
      <p:sp>
        <p:nvSpPr>
          <p:cNvPr id="18" name="TextBox 17"/>
          <p:cNvSpPr txBox="1"/>
          <p:nvPr/>
        </p:nvSpPr>
        <p:spPr>
          <a:xfrm>
            <a:off x="6419088" y="1947672"/>
            <a:ext cx="2148840" cy="2359152"/>
          </a:xfrm>
          <a:prstGeom prst="rect">
            <a:avLst/>
          </a:prstGeom>
          <a:noFill/>
        </p:spPr>
        <p:txBody>
          <a:bodyPr wrap="square" lIns="27432" tIns="27432" rIns="27432" bIns="27432" anchor="t">
            <a:spAutoFit/>
          </a:bodyPr>
          <a:lstStyle/>
          <a:p>
            <a:pPr algn="l"/>
            <a:r>
              <a:rPr sz="1400" b="0">
                <a:solidFill>
                  <a:srgbClr val="26303A"/>
                </a:solidFill>
                <a:latin typeface="Aptos"/>
              </a:rPr>
              <a:t>Quality inspection; predictive maintenance</a:t>
            </a:r>
          </a:p>
        </p:txBody>
      </p:sp>
      <p:sp>
        <p:nvSpPr>
          <p:cNvPr id="19" name="Rounded Rectangle 18"/>
          <p:cNvSpPr/>
          <p:nvPr/>
        </p:nvSpPr>
        <p:spPr>
          <a:xfrm>
            <a:off x="9006839" y="1417320"/>
            <a:ext cx="2514600" cy="301752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006839" y="1417320"/>
            <a:ext cx="73152" cy="3017520"/>
          </a:xfrm>
          <a:prstGeom prst="rect">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08007" y="1554480"/>
            <a:ext cx="2148840" cy="320040"/>
          </a:xfrm>
          <a:prstGeom prst="rect">
            <a:avLst/>
          </a:prstGeom>
          <a:noFill/>
        </p:spPr>
        <p:txBody>
          <a:bodyPr wrap="square" lIns="27432" tIns="27432" rIns="27432" bIns="27432" anchor="t">
            <a:spAutoFit/>
          </a:bodyPr>
          <a:lstStyle/>
          <a:p>
            <a:pPr algn="l"/>
            <a:r>
              <a:rPr sz="1600" b="1">
                <a:solidFill>
                  <a:srgbClr val="122A42"/>
                </a:solidFill>
                <a:latin typeface="Aptos"/>
              </a:rPr>
              <a:t>Logistics</a:t>
            </a:r>
          </a:p>
        </p:txBody>
      </p:sp>
      <p:sp>
        <p:nvSpPr>
          <p:cNvPr id="22" name="TextBox 21"/>
          <p:cNvSpPr txBox="1"/>
          <p:nvPr/>
        </p:nvSpPr>
        <p:spPr>
          <a:xfrm>
            <a:off x="9208007" y="1947672"/>
            <a:ext cx="2148840" cy="2359152"/>
          </a:xfrm>
          <a:prstGeom prst="rect">
            <a:avLst/>
          </a:prstGeom>
          <a:noFill/>
        </p:spPr>
        <p:txBody>
          <a:bodyPr wrap="square" lIns="27432" tIns="27432" rIns="27432" bIns="27432" anchor="t">
            <a:spAutoFit/>
          </a:bodyPr>
          <a:lstStyle/>
          <a:p>
            <a:pPr algn="l"/>
            <a:r>
              <a:rPr sz="1400" b="0">
                <a:solidFill>
                  <a:srgbClr val="26303A"/>
                </a:solidFill>
                <a:latin typeface="Aptos"/>
              </a:rPr>
              <a:t>Optimize delivery routes</a:t>
            </a:r>
          </a:p>
        </p:txBody>
      </p:sp>
      <p:sp>
        <p:nvSpPr>
          <p:cNvPr id="23" name="TextBox 22"/>
          <p:cNvSpPr txBox="1"/>
          <p:nvPr/>
        </p:nvSpPr>
        <p:spPr>
          <a:xfrm>
            <a:off x="731520" y="4892040"/>
            <a:ext cx="10515600" cy="731520"/>
          </a:xfrm>
          <a:prstGeom prst="rect">
            <a:avLst/>
          </a:prstGeom>
          <a:noFill/>
        </p:spPr>
        <p:txBody>
          <a:bodyPr wrap="square" lIns="27432" tIns="27432" rIns="27432" bIns="27432" anchor="t">
            <a:spAutoFit/>
          </a:bodyPr>
          <a:lstStyle/>
          <a:p>
            <a:pPr algn="ctr"/>
            <a:r>
              <a:rPr sz="1900" b="1">
                <a:solidFill>
                  <a:srgbClr val="122A42"/>
                </a:solidFill>
                <a:latin typeface="Aptos"/>
              </a:rPr>
              <a:t>Key idea: AI can flag patterns humans might miss — but a human may still need to make the final decision.</a:t>
            </a:r>
          </a:p>
        </p:txBody>
      </p:sp>
      <p:sp>
        <p:nvSpPr>
          <p:cNvPr id="24" name="TextBox 23"/>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What AI is good at — and where to be careful</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1-3 • KEY CONCEPT</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32</a:t>
            </a:r>
          </a:p>
        </p:txBody>
      </p:sp>
      <p:sp>
        <p:nvSpPr>
          <p:cNvPr id="7" name="Rounded Rectangle 6"/>
          <p:cNvSpPr/>
          <p:nvPr/>
        </p:nvSpPr>
        <p:spPr>
          <a:xfrm>
            <a:off x="640080" y="1097280"/>
            <a:ext cx="5303520" cy="425196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097280"/>
            <a:ext cx="73152" cy="425196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234439"/>
            <a:ext cx="4937759" cy="320040"/>
          </a:xfrm>
          <a:prstGeom prst="rect">
            <a:avLst/>
          </a:prstGeom>
          <a:noFill/>
        </p:spPr>
        <p:txBody>
          <a:bodyPr wrap="square" lIns="27432" tIns="27432" rIns="27432" bIns="27432" anchor="t">
            <a:spAutoFit/>
          </a:bodyPr>
          <a:lstStyle/>
          <a:p>
            <a:pPr algn="l"/>
            <a:r>
              <a:rPr sz="1900" b="1">
                <a:solidFill>
                  <a:srgbClr val="122A42"/>
                </a:solidFill>
                <a:latin typeface="Aptos"/>
              </a:rPr>
              <a:t>AI is good at</a:t>
            </a:r>
          </a:p>
        </p:txBody>
      </p:sp>
      <p:sp>
        <p:nvSpPr>
          <p:cNvPr id="10" name="TextBox 9"/>
          <p:cNvSpPr txBox="1"/>
          <p:nvPr/>
        </p:nvSpPr>
        <p:spPr>
          <a:xfrm>
            <a:off x="841247" y="1627631"/>
            <a:ext cx="4937759" cy="3593592"/>
          </a:xfrm>
          <a:prstGeom prst="rect">
            <a:avLst/>
          </a:prstGeom>
          <a:noFill/>
        </p:spPr>
        <p:txBody>
          <a:bodyPr wrap="square" lIns="27432" tIns="27432" rIns="27432" bIns="27432" anchor="t">
            <a:spAutoFit/>
          </a:bodyPr>
          <a:lstStyle/>
          <a:p>
            <a:pPr algn="l"/>
            <a:r>
              <a:rPr sz="1700" b="0">
                <a:solidFill>
                  <a:srgbClr val="26303A"/>
                </a:solidFill>
                <a:latin typeface="Aptos"/>
              </a:rPr>
              <a:t>• Finding &amp; classifying patterns in images/text
• Recognizing &amp; generating images, audio, text
• Probabilistic reasoning and prediction from data</a:t>
            </a:r>
          </a:p>
        </p:txBody>
      </p:sp>
      <p:sp>
        <p:nvSpPr>
          <p:cNvPr id="11" name="Rounded Rectangle 10"/>
          <p:cNvSpPr/>
          <p:nvPr/>
        </p:nvSpPr>
        <p:spPr>
          <a:xfrm>
            <a:off x="6263640" y="1097280"/>
            <a:ext cx="5303520" cy="4251960"/>
          </a:xfrm>
          <a:prstGeom prst="roundRect">
            <a:avLst/>
          </a:prstGeom>
          <a:solidFill>
            <a:srgbClr val="FAEBEB"/>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1097280"/>
            <a:ext cx="73152" cy="4251960"/>
          </a:xfrm>
          <a:prstGeom prst="rect">
            <a:avLst/>
          </a:prstGeom>
          <a:solidFill>
            <a:srgbClr val="BE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64807" y="1234439"/>
            <a:ext cx="4937759" cy="320040"/>
          </a:xfrm>
          <a:prstGeom prst="rect">
            <a:avLst/>
          </a:prstGeom>
          <a:noFill/>
        </p:spPr>
        <p:txBody>
          <a:bodyPr wrap="square" lIns="27432" tIns="27432" rIns="27432" bIns="27432" anchor="t">
            <a:spAutoFit/>
          </a:bodyPr>
          <a:lstStyle/>
          <a:p>
            <a:pPr algn="l"/>
            <a:r>
              <a:rPr sz="1900" b="1">
                <a:solidFill>
                  <a:srgbClr val="122A42"/>
                </a:solidFill>
                <a:latin typeface="Aptos"/>
              </a:rPr>
              <a:t>Use caution with</a:t>
            </a:r>
          </a:p>
        </p:txBody>
      </p:sp>
      <p:sp>
        <p:nvSpPr>
          <p:cNvPr id="14" name="TextBox 13"/>
          <p:cNvSpPr txBox="1"/>
          <p:nvPr/>
        </p:nvSpPr>
        <p:spPr>
          <a:xfrm>
            <a:off x="6464807" y="1627631"/>
            <a:ext cx="4937759" cy="3593592"/>
          </a:xfrm>
          <a:prstGeom prst="rect">
            <a:avLst/>
          </a:prstGeom>
          <a:noFill/>
        </p:spPr>
        <p:txBody>
          <a:bodyPr wrap="square" lIns="27432" tIns="27432" rIns="27432" bIns="27432" anchor="t">
            <a:spAutoFit/>
          </a:bodyPr>
          <a:lstStyle/>
          <a:p>
            <a:pPr algn="l"/>
            <a:r>
              <a:rPr sz="1500" b="0">
                <a:solidFill>
                  <a:srgbClr val="26303A"/>
                </a:solidFill>
                <a:latin typeface="Aptos"/>
              </a:rPr>
              <a:t>• Ethical judgments
• Personal information &amp; privacy
• Final decisions &amp; responsibility
• Biased training data
• Hallucinations
• Copyright/right issues
• Black-box decisions</a:t>
            </a:r>
          </a:p>
        </p:txBody>
      </p:sp>
      <p:sp>
        <p:nvSpPr>
          <p:cNvPr id="15" name="TextBox 14"/>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Question practice: match the service</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1-3 • WORKED EXAMPLE</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33</a:t>
            </a:r>
          </a:p>
        </p:txBody>
      </p:sp>
      <p:sp>
        <p:nvSpPr>
          <p:cNvPr id="7" name="Rounded Rectangle 6"/>
          <p:cNvSpPr/>
          <p:nvPr/>
        </p:nvSpPr>
        <p:spPr>
          <a:xfrm>
            <a:off x="548640" y="932688"/>
            <a:ext cx="1600200" cy="347472"/>
          </a:xfrm>
          <a:prstGeom prst="roundRect">
            <a:avLst/>
          </a:prstGeom>
          <a:solidFill>
            <a:srgbClr val="FDF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969264"/>
            <a:ext cx="1453896" cy="237744"/>
          </a:xfrm>
          <a:prstGeom prst="rect">
            <a:avLst/>
          </a:prstGeom>
          <a:noFill/>
        </p:spPr>
        <p:txBody>
          <a:bodyPr wrap="square" lIns="27432" tIns="27432" rIns="27432" bIns="27432" anchor="ctr">
            <a:spAutoFit/>
          </a:bodyPr>
          <a:lstStyle/>
          <a:p>
            <a:pPr algn="ctr"/>
            <a:r>
              <a:rPr sz="1000" b="1">
                <a:solidFill>
                  <a:srgbClr val="EE8C2A"/>
                </a:solidFill>
                <a:latin typeface="Aptos"/>
              </a:rPr>
              <a:t>BOOK QUESTION</a:t>
            </a:r>
          </a:p>
        </p:txBody>
      </p:sp>
      <p:sp>
        <p:nvSpPr>
          <p:cNvPr id="9" name="TextBox 8"/>
          <p:cNvSpPr txBox="1"/>
          <p:nvPr/>
        </p:nvSpPr>
        <p:spPr>
          <a:xfrm>
            <a:off x="548640" y="1417320"/>
            <a:ext cx="10972800" cy="731520"/>
          </a:xfrm>
          <a:prstGeom prst="rect">
            <a:avLst/>
          </a:prstGeom>
          <a:noFill/>
        </p:spPr>
        <p:txBody>
          <a:bodyPr wrap="square" lIns="27432" tIns="27432" rIns="27432" bIns="27432" anchor="t">
            <a:spAutoFit/>
          </a:bodyPr>
          <a:lstStyle/>
          <a:p>
            <a:pPr algn="l"/>
            <a:r>
              <a:rPr sz="2200" b="1">
                <a:solidFill>
                  <a:srgbClr val="122A42"/>
                </a:solidFill>
                <a:latin typeface="Aptos"/>
              </a:rPr>
              <a:t>Match each example to the AI service.</a:t>
            </a:r>
          </a:p>
        </p:txBody>
      </p:sp>
      <p:sp>
        <p:nvSpPr>
          <p:cNvPr id="10" name="Rounded Rectangle 9"/>
          <p:cNvSpPr/>
          <p:nvPr/>
        </p:nvSpPr>
        <p:spPr>
          <a:xfrm>
            <a:off x="685800" y="2331720"/>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386584"/>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a  YouTube recommends videos matching the user’s preferences.</a:t>
            </a:r>
          </a:p>
        </p:txBody>
      </p:sp>
      <p:sp>
        <p:nvSpPr>
          <p:cNvPr id="12" name="Rounded Rectangle 11"/>
          <p:cNvSpPr/>
          <p:nvPr/>
        </p:nvSpPr>
        <p:spPr>
          <a:xfrm>
            <a:off x="685800" y="2990087"/>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044951"/>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b  Speaking to a smartphone to check the weather.</a:t>
            </a:r>
          </a:p>
        </p:txBody>
      </p:sp>
      <p:sp>
        <p:nvSpPr>
          <p:cNvPr id="14" name="Rounded Rectangle 13"/>
          <p:cNvSpPr/>
          <p:nvPr/>
        </p:nvSpPr>
        <p:spPr>
          <a:xfrm>
            <a:off x="685800" y="3648455"/>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703319"/>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c  Translating a foreign-language website.</a:t>
            </a:r>
          </a:p>
        </p:txBody>
      </p:sp>
      <p:sp>
        <p:nvSpPr>
          <p:cNvPr id="16" name="Rounded Rectangle 15"/>
          <p:cNvSpPr/>
          <p:nvPr/>
        </p:nvSpPr>
        <p:spPr>
          <a:xfrm>
            <a:off x="685800" y="4306823"/>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361687"/>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d  A smartphone camera detects a person’s face.</a:t>
            </a:r>
          </a:p>
        </p:txBody>
      </p:sp>
      <p:sp>
        <p:nvSpPr>
          <p:cNvPr id="18" name="Rounded Rectangle 17"/>
          <p:cNvSpPr/>
          <p:nvPr/>
        </p:nvSpPr>
        <p:spPr>
          <a:xfrm>
            <a:off x="685800" y="4965191"/>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020055"/>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Choices: A Recommendation system   B Voice assistant   C Machine translation   D Face recognition</a:t>
            </a:r>
          </a:p>
        </p:txBody>
      </p:sp>
      <p:sp>
        <p:nvSpPr>
          <p:cNvPr id="20" name="TextBox 19"/>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Answer: match the service</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1-3 • WORKED EXAMPLE</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34</a:t>
            </a:r>
          </a:p>
        </p:txBody>
      </p:sp>
      <p:sp>
        <p:nvSpPr>
          <p:cNvPr id="7" name="Rounded Rectangle 6"/>
          <p:cNvSpPr/>
          <p:nvPr/>
        </p:nvSpPr>
        <p:spPr>
          <a:xfrm>
            <a:off x="548640" y="932688"/>
            <a:ext cx="1417320" cy="347472"/>
          </a:xfrm>
          <a:prstGeom prst="roundRect">
            <a:avLst/>
          </a:prstGeom>
          <a:solidFill>
            <a:srgbClr val="E5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969264"/>
            <a:ext cx="1271016" cy="237744"/>
          </a:xfrm>
          <a:prstGeom prst="rect">
            <a:avLst/>
          </a:prstGeom>
          <a:noFill/>
        </p:spPr>
        <p:txBody>
          <a:bodyPr wrap="square" lIns="27432" tIns="27432" rIns="27432" bIns="27432" anchor="ctr">
            <a:spAutoFit/>
          </a:bodyPr>
          <a:lstStyle/>
          <a:p>
            <a:pPr algn="ctr"/>
            <a:r>
              <a:rPr sz="1000" b="1">
                <a:solidFill>
                  <a:srgbClr val="398B5B"/>
                </a:solidFill>
                <a:latin typeface="Aptos"/>
              </a:rPr>
              <a:t>ANSWER</a:t>
            </a:r>
          </a:p>
        </p:txBody>
      </p:sp>
      <p:sp>
        <p:nvSpPr>
          <p:cNvPr id="9" name="TextBox 8"/>
          <p:cNvSpPr txBox="1"/>
          <p:nvPr/>
        </p:nvSpPr>
        <p:spPr>
          <a:xfrm>
            <a:off x="548640" y="1417320"/>
            <a:ext cx="10972800" cy="411480"/>
          </a:xfrm>
          <a:prstGeom prst="rect">
            <a:avLst/>
          </a:prstGeom>
          <a:noFill/>
        </p:spPr>
        <p:txBody>
          <a:bodyPr wrap="square" lIns="27432" tIns="27432" rIns="27432" bIns="27432" anchor="t">
            <a:spAutoFit/>
          </a:bodyPr>
          <a:lstStyle/>
          <a:p>
            <a:pPr algn="l"/>
            <a:r>
              <a:rPr sz="2500" b="1">
                <a:solidFill>
                  <a:srgbClr val="122A42"/>
                </a:solidFill>
                <a:latin typeface="Aptos"/>
              </a:rPr>
              <a:t>a → A • b → B • c → C • d → D</a:t>
            </a:r>
          </a:p>
        </p:txBody>
      </p:sp>
      <p:sp>
        <p:nvSpPr>
          <p:cNvPr id="10" name="Rounded Rectangle 9"/>
          <p:cNvSpPr/>
          <p:nvPr/>
        </p:nvSpPr>
        <p:spPr>
          <a:xfrm>
            <a:off x="685800" y="2057400"/>
            <a:ext cx="10698480" cy="182880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2057400"/>
            <a:ext cx="73152" cy="182880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 y="2194560"/>
            <a:ext cx="10332719" cy="320040"/>
          </a:xfrm>
          <a:prstGeom prst="rect">
            <a:avLst/>
          </a:prstGeom>
          <a:noFill/>
        </p:spPr>
        <p:txBody>
          <a:bodyPr wrap="square" lIns="27432" tIns="27432" rIns="27432" bIns="27432" anchor="t">
            <a:spAutoFit/>
          </a:bodyPr>
          <a:lstStyle/>
          <a:p>
            <a:pPr algn="l"/>
            <a:r>
              <a:rPr sz="1600" b="1">
                <a:solidFill>
                  <a:srgbClr val="122A42"/>
                </a:solidFill>
                <a:latin typeface="Aptos"/>
              </a:rPr>
              <a:t>Why?</a:t>
            </a:r>
          </a:p>
        </p:txBody>
      </p:sp>
      <p:sp>
        <p:nvSpPr>
          <p:cNvPr id="13" name="TextBox 12"/>
          <p:cNvSpPr txBox="1"/>
          <p:nvPr/>
        </p:nvSpPr>
        <p:spPr>
          <a:xfrm>
            <a:off x="886968" y="2587752"/>
            <a:ext cx="10332719" cy="1170432"/>
          </a:xfrm>
          <a:prstGeom prst="rect">
            <a:avLst/>
          </a:prstGeom>
          <a:noFill/>
        </p:spPr>
        <p:txBody>
          <a:bodyPr wrap="square" lIns="27432" tIns="27432" rIns="27432" bIns="27432" anchor="t">
            <a:spAutoFit/>
          </a:bodyPr>
          <a:lstStyle/>
          <a:p>
            <a:pPr algn="l"/>
            <a:r>
              <a:rPr sz="1700" b="0">
                <a:solidFill>
                  <a:srgbClr val="26303A"/>
                </a:solidFill>
                <a:latin typeface="Aptos"/>
              </a:rPr>
              <a:t>Look for the action: recommending → recommendation system; speaking commands → voice assistant; translating → machine translation; detecting faces → face recognition.</a:t>
            </a:r>
          </a:p>
        </p:txBody>
      </p:sp>
      <p:sp>
        <p:nvSpPr>
          <p:cNvPr id="14" name="TextBox 13"/>
          <p:cNvSpPr txBox="1"/>
          <p:nvPr/>
        </p:nvSpPr>
        <p:spPr>
          <a:xfrm>
            <a:off x="731520" y="4251960"/>
            <a:ext cx="10424160" cy="1097280"/>
          </a:xfrm>
          <a:prstGeom prst="rect">
            <a:avLst/>
          </a:prstGeom>
          <a:noFill/>
        </p:spPr>
        <p:txBody>
          <a:bodyPr wrap="square" lIns="27432" tIns="27432" rIns="27432" bIns="27432" anchor="t">
            <a:spAutoFit/>
          </a:bodyPr>
          <a:lstStyle/>
          <a:p>
            <a:pPr algn="l"/>
            <a:r>
              <a:rPr sz="1500" b="0">
                <a:solidFill>
                  <a:srgbClr val="66737E"/>
                </a:solidFill>
                <a:latin typeface="Aptos"/>
              </a:rPr>
              <a:t>Teaching move: ask students to explain the clue in the question that led them to the answer.</a:t>
            </a:r>
          </a:p>
        </p:txBody>
      </p:sp>
      <p:sp>
        <p:nvSpPr>
          <p:cNvPr id="15" name="TextBox 14"/>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Question practice: short answer</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1-3 • TRY</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35</a:t>
            </a:r>
          </a:p>
        </p:txBody>
      </p:sp>
      <p:sp>
        <p:nvSpPr>
          <p:cNvPr id="7" name="Rounded Rectangle 6"/>
          <p:cNvSpPr/>
          <p:nvPr/>
        </p:nvSpPr>
        <p:spPr>
          <a:xfrm>
            <a:off x="594360" y="932688"/>
            <a:ext cx="960120" cy="347472"/>
          </a:xfrm>
          <a:prstGeom prst="roundRect">
            <a:avLst/>
          </a:prstGeom>
          <a:solidFill>
            <a:srgbClr val="FDF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969264"/>
            <a:ext cx="813816" cy="237744"/>
          </a:xfrm>
          <a:prstGeom prst="rect">
            <a:avLst/>
          </a:prstGeom>
          <a:noFill/>
        </p:spPr>
        <p:txBody>
          <a:bodyPr wrap="square" lIns="27432" tIns="27432" rIns="27432" bIns="27432" anchor="ctr">
            <a:spAutoFit/>
          </a:bodyPr>
          <a:lstStyle/>
          <a:p>
            <a:pPr algn="ctr"/>
            <a:r>
              <a:rPr sz="1000" b="1">
                <a:solidFill>
                  <a:srgbClr val="EE8C2A"/>
                </a:solidFill>
                <a:latin typeface="Aptos"/>
              </a:rPr>
              <a:t>TRY</a:t>
            </a:r>
          </a:p>
        </p:txBody>
      </p:sp>
      <p:sp>
        <p:nvSpPr>
          <p:cNvPr id="9" name="TextBox 8"/>
          <p:cNvSpPr txBox="1"/>
          <p:nvPr/>
        </p:nvSpPr>
        <p:spPr>
          <a:xfrm>
            <a:off x="731520" y="1417320"/>
            <a:ext cx="10515600" cy="4297680"/>
          </a:xfrm>
          <a:prstGeom prst="rect">
            <a:avLst/>
          </a:prstGeom>
          <a:noFill/>
        </p:spPr>
        <p:txBody>
          <a:bodyPr wrap="square" lIns="36576" tIns="27432" rIns="36576" bIns="27432">
            <a:spAutoFit/>
          </a:bodyPr>
          <a:lstStyle/>
          <a:p>
            <a:pPr>
              <a:spcAft>
                <a:spcPts val="800"/>
              </a:spcAft>
              <a:defRPr sz="1800">
                <a:solidFill>
                  <a:srgbClr val="26303A"/>
                </a:solidFill>
                <a:latin typeface="Aptos"/>
              </a:defRPr>
            </a:pPr>
            <a:r>
              <a:t>• 1. What system predicts preferences from past behavior and displays recommendations?</a:t>
            </a:r>
          </a:p>
          <a:p>
            <a:pPr>
              <a:spcAft>
                <a:spcPts val="800"/>
              </a:spcAft>
              <a:defRPr sz="1800">
                <a:solidFill>
                  <a:srgbClr val="26303A"/>
                </a:solidFill>
                <a:latin typeface="Aptos"/>
              </a:defRPr>
            </a:pPr>
            <a:r>
              <a:t>• 2. What AI technology recognizes a voice, understands commands and executes them?</a:t>
            </a:r>
          </a:p>
          <a:p>
            <a:pPr>
              <a:spcAft>
                <a:spcPts val="800"/>
              </a:spcAft>
              <a:defRPr sz="1800">
                <a:solidFill>
                  <a:srgbClr val="26303A"/>
                </a:solidFill>
                <a:latin typeface="Aptos"/>
              </a:defRPr>
            </a:pPr>
            <a:r>
              <a:t>• 3. In which industry are image-diagnosis AIs used?</a:t>
            </a:r>
          </a:p>
          <a:p>
            <a:pPr>
              <a:spcAft>
                <a:spcPts val="800"/>
              </a:spcAft>
              <a:defRPr sz="1800">
                <a:solidFill>
                  <a:srgbClr val="26303A"/>
                </a:solidFill>
                <a:latin typeface="Aptos"/>
              </a:defRPr>
            </a:pPr>
            <a:r>
              <a:t>• 4. In manufacturing, what system predicts product failures in advance?</a:t>
            </a:r>
          </a:p>
        </p:txBody>
      </p:sp>
      <p:sp>
        <p:nvSpPr>
          <p:cNvPr id="10" name="TextBox 9"/>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Answers: short answer</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1-3 • TRY</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36</a:t>
            </a:r>
          </a:p>
        </p:txBody>
      </p:sp>
      <p:sp>
        <p:nvSpPr>
          <p:cNvPr id="7" name="Rounded Rectangle 6"/>
          <p:cNvSpPr/>
          <p:nvPr/>
        </p:nvSpPr>
        <p:spPr>
          <a:xfrm>
            <a:off x="640080" y="1097280"/>
            <a:ext cx="5212080" cy="960120"/>
          </a:xfrm>
          <a:prstGeom prst="roundRect">
            <a:avLst/>
          </a:prstGeom>
          <a:solidFill>
            <a:srgbClr val="E7F1F8"/>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097280"/>
            <a:ext cx="73152" cy="960120"/>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234439"/>
            <a:ext cx="4846320" cy="320040"/>
          </a:xfrm>
          <a:prstGeom prst="rect">
            <a:avLst/>
          </a:prstGeom>
          <a:noFill/>
        </p:spPr>
        <p:txBody>
          <a:bodyPr wrap="square" lIns="27432" tIns="27432" rIns="27432" bIns="27432" anchor="t">
            <a:spAutoFit/>
          </a:bodyPr>
          <a:lstStyle/>
          <a:p>
            <a:pPr algn="l"/>
            <a:r>
              <a:rPr sz="1600" b="1">
                <a:solidFill>
                  <a:srgbClr val="122A42"/>
                </a:solidFill>
                <a:latin typeface="Aptos"/>
              </a:rPr>
              <a:t>1</a:t>
            </a:r>
          </a:p>
        </p:txBody>
      </p:sp>
      <p:sp>
        <p:nvSpPr>
          <p:cNvPr id="10" name="TextBox 9"/>
          <p:cNvSpPr txBox="1"/>
          <p:nvPr/>
        </p:nvSpPr>
        <p:spPr>
          <a:xfrm>
            <a:off x="841247" y="1627631"/>
            <a:ext cx="4846320" cy="301752"/>
          </a:xfrm>
          <a:prstGeom prst="rect">
            <a:avLst/>
          </a:prstGeom>
          <a:noFill/>
        </p:spPr>
        <p:txBody>
          <a:bodyPr wrap="square" lIns="27432" tIns="27432" rIns="27432" bIns="27432" anchor="t">
            <a:spAutoFit/>
          </a:bodyPr>
          <a:lstStyle/>
          <a:p>
            <a:pPr algn="l"/>
            <a:r>
              <a:rPr sz="1500" b="0">
                <a:solidFill>
                  <a:srgbClr val="26303A"/>
                </a:solidFill>
                <a:latin typeface="Aptos"/>
              </a:rPr>
              <a:t>Recommendation system</a:t>
            </a:r>
          </a:p>
        </p:txBody>
      </p:sp>
      <p:sp>
        <p:nvSpPr>
          <p:cNvPr id="11" name="Rounded Rectangle 10"/>
          <p:cNvSpPr/>
          <p:nvPr/>
        </p:nvSpPr>
        <p:spPr>
          <a:xfrm>
            <a:off x="6217920" y="1097280"/>
            <a:ext cx="5212080" cy="96012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097280"/>
            <a:ext cx="73152" cy="96012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19088" y="1234439"/>
            <a:ext cx="4846320" cy="320040"/>
          </a:xfrm>
          <a:prstGeom prst="rect">
            <a:avLst/>
          </a:prstGeom>
          <a:noFill/>
        </p:spPr>
        <p:txBody>
          <a:bodyPr wrap="square" lIns="27432" tIns="27432" rIns="27432" bIns="27432" anchor="t">
            <a:spAutoFit/>
          </a:bodyPr>
          <a:lstStyle/>
          <a:p>
            <a:pPr algn="l"/>
            <a:r>
              <a:rPr sz="1600" b="1">
                <a:solidFill>
                  <a:srgbClr val="122A42"/>
                </a:solidFill>
                <a:latin typeface="Aptos"/>
              </a:rPr>
              <a:t>2</a:t>
            </a:r>
          </a:p>
        </p:txBody>
      </p:sp>
      <p:sp>
        <p:nvSpPr>
          <p:cNvPr id="14" name="TextBox 13"/>
          <p:cNvSpPr txBox="1"/>
          <p:nvPr/>
        </p:nvSpPr>
        <p:spPr>
          <a:xfrm>
            <a:off x="6419088" y="1627631"/>
            <a:ext cx="4846320" cy="301752"/>
          </a:xfrm>
          <a:prstGeom prst="rect">
            <a:avLst/>
          </a:prstGeom>
          <a:noFill/>
        </p:spPr>
        <p:txBody>
          <a:bodyPr wrap="square" lIns="27432" tIns="27432" rIns="27432" bIns="27432" anchor="t">
            <a:spAutoFit/>
          </a:bodyPr>
          <a:lstStyle/>
          <a:p>
            <a:pPr algn="l"/>
            <a:r>
              <a:rPr sz="1500" b="0">
                <a:solidFill>
                  <a:srgbClr val="26303A"/>
                </a:solidFill>
                <a:latin typeface="Aptos"/>
              </a:rPr>
              <a:t>Voice assistant</a:t>
            </a:r>
          </a:p>
        </p:txBody>
      </p:sp>
      <p:sp>
        <p:nvSpPr>
          <p:cNvPr id="15" name="Rounded Rectangle 14"/>
          <p:cNvSpPr/>
          <p:nvPr/>
        </p:nvSpPr>
        <p:spPr>
          <a:xfrm>
            <a:off x="640080" y="2331720"/>
            <a:ext cx="5212080" cy="960120"/>
          </a:xfrm>
          <a:prstGeom prst="roundRect">
            <a:avLst/>
          </a:prstGeom>
          <a:solidFill>
            <a:srgbClr val="FDF1E1"/>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2331720"/>
            <a:ext cx="73152" cy="960120"/>
          </a:xfrm>
          <a:prstGeom prst="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2468879"/>
            <a:ext cx="4846320" cy="320040"/>
          </a:xfrm>
          <a:prstGeom prst="rect">
            <a:avLst/>
          </a:prstGeom>
          <a:noFill/>
        </p:spPr>
        <p:txBody>
          <a:bodyPr wrap="square" lIns="27432" tIns="27432" rIns="27432" bIns="27432" anchor="t">
            <a:spAutoFit/>
          </a:bodyPr>
          <a:lstStyle/>
          <a:p>
            <a:pPr algn="l"/>
            <a:r>
              <a:rPr sz="1600" b="1">
                <a:solidFill>
                  <a:srgbClr val="122A42"/>
                </a:solidFill>
                <a:latin typeface="Aptos"/>
              </a:rPr>
              <a:t>3</a:t>
            </a:r>
          </a:p>
        </p:txBody>
      </p:sp>
      <p:sp>
        <p:nvSpPr>
          <p:cNvPr id="18" name="TextBox 17"/>
          <p:cNvSpPr txBox="1"/>
          <p:nvPr/>
        </p:nvSpPr>
        <p:spPr>
          <a:xfrm>
            <a:off x="841247" y="2862072"/>
            <a:ext cx="4846320" cy="301752"/>
          </a:xfrm>
          <a:prstGeom prst="rect">
            <a:avLst/>
          </a:prstGeom>
          <a:noFill/>
        </p:spPr>
        <p:txBody>
          <a:bodyPr wrap="square" lIns="27432" tIns="27432" rIns="27432" bIns="27432" anchor="t">
            <a:spAutoFit/>
          </a:bodyPr>
          <a:lstStyle/>
          <a:p>
            <a:pPr algn="l"/>
            <a:r>
              <a:rPr sz="1500" b="0">
                <a:solidFill>
                  <a:srgbClr val="26303A"/>
                </a:solidFill>
                <a:latin typeface="Aptos"/>
              </a:rPr>
              <a:t>Healthcare</a:t>
            </a:r>
          </a:p>
        </p:txBody>
      </p:sp>
      <p:sp>
        <p:nvSpPr>
          <p:cNvPr id="19" name="Rounded Rectangle 18"/>
          <p:cNvSpPr/>
          <p:nvPr/>
        </p:nvSpPr>
        <p:spPr>
          <a:xfrm>
            <a:off x="6217920" y="2331720"/>
            <a:ext cx="5212080" cy="960120"/>
          </a:xfrm>
          <a:prstGeom prst="roundRect">
            <a:avLst/>
          </a:prstGeom>
          <a:solidFill>
            <a:srgbClr val="F1EDF9"/>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2331720"/>
            <a:ext cx="73152" cy="960120"/>
          </a:xfrm>
          <a:prstGeom prst="rect">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19088" y="2468879"/>
            <a:ext cx="4846320" cy="320040"/>
          </a:xfrm>
          <a:prstGeom prst="rect">
            <a:avLst/>
          </a:prstGeom>
          <a:noFill/>
        </p:spPr>
        <p:txBody>
          <a:bodyPr wrap="square" lIns="27432" tIns="27432" rIns="27432" bIns="27432" anchor="t">
            <a:spAutoFit/>
          </a:bodyPr>
          <a:lstStyle/>
          <a:p>
            <a:pPr algn="l"/>
            <a:r>
              <a:rPr sz="1600" b="1">
                <a:solidFill>
                  <a:srgbClr val="122A42"/>
                </a:solidFill>
                <a:latin typeface="Aptos"/>
              </a:rPr>
              <a:t>4</a:t>
            </a:r>
          </a:p>
        </p:txBody>
      </p:sp>
      <p:sp>
        <p:nvSpPr>
          <p:cNvPr id="22" name="TextBox 21"/>
          <p:cNvSpPr txBox="1"/>
          <p:nvPr/>
        </p:nvSpPr>
        <p:spPr>
          <a:xfrm>
            <a:off x="6419088" y="2862072"/>
            <a:ext cx="4846320" cy="301752"/>
          </a:xfrm>
          <a:prstGeom prst="rect">
            <a:avLst/>
          </a:prstGeom>
          <a:noFill/>
        </p:spPr>
        <p:txBody>
          <a:bodyPr wrap="square" lIns="27432" tIns="27432" rIns="27432" bIns="27432" anchor="t">
            <a:spAutoFit/>
          </a:bodyPr>
          <a:lstStyle/>
          <a:p>
            <a:pPr algn="l"/>
            <a:r>
              <a:rPr sz="1500" b="0">
                <a:solidFill>
                  <a:srgbClr val="26303A"/>
                </a:solidFill>
                <a:latin typeface="Aptos"/>
              </a:rPr>
              <a:t>Predictive maintenance</a:t>
            </a:r>
          </a:p>
        </p:txBody>
      </p:sp>
      <p:sp>
        <p:nvSpPr>
          <p:cNvPr id="23" name="TextBox 22"/>
          <p:cNvSpPr txBox="1"/>
          <p:nvPr/>
        </p:nvSpPr>
        <p:spPr>
          <a:xfrm>
            <a:off x="685800" y="3977639"/>
            <a:ext cx="10607040" cy="457200"/>
          </a:xfrm>
          <a:prstGeom prst="rect">
            <a:avLst/>
          </a:prstGeom>
          <a:noFill/>
        </p:spPr>
        <p:txBody>
          <a:bodyPr wrap="square" lIns="27432" tIns="27432" rIns="27432" bIns="27432" anchor="t">
            <a:spAutoFit/>
          </a:bodyPr>
          <a:lstStyle/>
          <a:p>
            <a:pPr algn="ctr"/>
            <a:r>
              <a:rPr sz="1900" b="1">
                <a:solidFill>
                  <a:srgbClr val="122A42"/>
                </a:solidFill>
                <a:latin typeface="Aptos"/>
              </a:rPr>
              <a:t>Remember: “predict when a machine will fail” → predictive maintenance.</a:t>
            </a:r>
          </a:p>
        </p:txBody>
      </p:sp>
      <p:sp>
        <p:nvSpPr>
          <p:cNvPr id="24" name="TextBox 23"/>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Exam-style: why is human judgment still needed?</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1-3 • 6 MARKS</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37</a:t>
            </a:r>
          </a:p>
        </p:txBody>
      </p:sp>
      <p:sp>
        <p:nvSpPr>
          <p:cNvPr id="7" name="Rounded Rectangle 6"/>
          <p:cNvSpPr/>
          <p:nvPr/>
        </p:nvSpPr>
        <p:spPr>
          <a:xfrm>
            <a:off x="594360" y="932688"/>
            <a:ext cx="1691640" cy="347472"/>
          </a:xfrm>
          <a:prstGeom prst="roundRect">
            <a:avLst/>
          </a:prstGeom>
          <a:solidFill>
            <a:srgbClr val="FDF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969264"/>
            <a:ext cx="1545336" cy="237744"/>
          </a:xfrm>
          <a:prstGeom prst="rect">
            <a:avLst/>
          </a:prstGeom>
          <a:noFill/>
        </p:spPr>
        <p:txBody>
          <a:bodyPr wrap="square" lIns="27432" tIns="27432" rIns="27432" bIns="27432" anchor="ctr">
            <a:spAutoFit/>
          </a:bodyPr>
          <a:lstStyle/>
          <a:p>
            <a:pPr algn="ctr"/>
            <a:r>
              <a:rPr sz="1000" b="1">
                <a:solidFill>
                  <a:srgbClr val="EE8C2A"/>
                </a:solidFill>
                <a:latin typeface="Aptos"/>
              </a:rPr>
              <a:t>6-MARK QUESTION</a:t>
            </a:r>
          </a:p>
        </p:txBody>
      </p:sp>
      <p:sp>
        <p:nvSpPr>
          <p:cNvPr id="9" name="TextBox 8"/>
          <p:cNvSpPr txBox="1"/>
          <p:nvPr/>
        </p:nvSpPr>
        <p:spPr>
          <a:xfrm>
            <a:off x="594360" y="1417320"/>
            <a:ext cx="10698480" cy="685800"/>
          </a:xfrm>
          <a:prstGeom prst="rect">
            <a:avLst/>
          </a:prstGeom>
          <a:noFill/>
        </p:spPr>
        <p:txBody>
          <a:bodyPr wrap="square" lIns="27432" tIns="27432" rIns="27432" bIns="27432" anchor="t">
            <a:spAutoFit/>
          </a:bodyPr>
          <a:lstStyle/>
          <a:p>
            <a:pPr algn="l"/>
            <a:r>
              <a:rPr sz="2200" b="1">
                <a:solidFill>
                  <a:srgbClr val="122A42"/>
                </a:solidFill>
                <a:latin typeface="Aptos"/>
              </a:rPr>
              <a:t>Analyze why AI is well suited to some tasks but requires caution in others.</a:t>
            </a:r>
          </a:p>
        </p:txBody>
      </p:sp>
      <p:sp>
        <p:nvSpPr>
          <p:cNvPr id="10" name="Rounded Rectangle 9"/>
          <p:cNvSpPr/>
          <p:nvPr/>
        </p:nvSpPr>
        <p:spPr>
          <a:xfrm>
            <a:off x="685800" y="2240280"/>
            <a:ext cx="5074920" cy="246888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2240280"/>
            <a:ext cx="73152" cy="246888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 y="2377440"/>
            <a:ext cx="4709159" cy="320040"/>
          </a:xfrm>
          <a:prstGeom prst="rect">
            <a:avLst/>
          </a:prstGeom>
          <a:noFill/>
        </p:spPr>
        <p:txBody>
          <a:bodyPr wrap="square" lIns="27432" tIns="27432" rIns="27432" bIns="27432" anchor="t">
            <a:spAutoFit/>
          </a:bodyPr>
          <a:lstStyle/>
          <a:p>
            <a:pPr algn="l"/>
            <a:r>
              <a:rPr sz="1800" b="1">
                <a:solidFill>
                  <a:srgbClr val="122A42"/>
                </a:solidFill>
                <a:latin typeface="Aptos"/>
              </a:rPr>
              <a:t>Mention what AI is good at</a:t>
            </a:r>
          </a:p>
        </p:txBody>
      </p:sp>
      <p:sp>
        <p:nvSpPr>
          <p:cNvPr id="13" name="TextBox 12"/>
          <p:cNvSpPr txBox="1"/>
          <p:nvPr/>
        </p:nvSpPr>
        <p:spPr>
          <a:xfrm>
            <a:off x="886968" y="2770632"/>
            <a:ext cx="4709159" cy="1810512"/>
          </a:xfrm>
          <a:prstGeom prst="rect">
            <a:avLst/>
          </a:prstGeom>
          <a:noFill/>
        </p:spPr>
        <p:txBody>
          <a:bodyPr wrap="square" lIns="27432" tIns="27432" rIns="27432" bIns="27432" anchor="t">
            <a:spAutoFit/>
          </a:bodyPr>
          <a:lstStyle/>
          <a:p>
            <a:pPr algn="l"/>
            <a:r>
              <a:rPr sz="1700" b="0">
                <a:solidFill>
                  <a:srgbClr val="26303A"/>
                </a:solidFill>
                <a:latin typeface="Aptos"/>
              </a:rPr>
              <a:t>Finding patterns • recognition • prediction</a:t>
            </a:r>
          </a:p>
        </p:txBody>
      </p:sp>
      <p:sp>
        <p:nvSpPr>
          <p:cNvPr id="14" name="Rounded Rectangle 13"/>
          <p:cNvSpPr/>
          <p:nvPr/>
        </p:nvSpPr>
        <p:spPr>
          <a:xfrm>
            <a:off x="6217920" y="2240280"/>
            <a:ext cx="5074920" cy="2468880"/>
          </a:xfrm>
          <a:prstGeom prst="roundRect">
            <a:avLst/>
          </a:prstGeom>
          <a:solidFill>
            <a:srgbClr val="FAEBEB"/>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2240280"/>
            <a:ext cx="73152" cy="2468880"/>
          </a:xfrm>
          <a:prstGeom prst="rect">
            <a:avLst/>
          </a:prstGeom>
          <a:solidFill>
            <a:srgbClr val="BE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19088" y="2377440"/>
            <a:ext cx="4709159" cy="320040"/>
          </a:xfrm>
          <a:prstGeom prst="rect">
            <a:avLst/>
          </a:prstGeom>
          <a:noFill/>
        </p:spPr>
        <p:txBody>
          <a:bodyPr wrap="square" lIns="27432" tIns="27432" rIns="27432" bIns="27432" anchor="t">
            <a:spAutoFit/>
          </a:bodyPr>
          <a:lstStyle/>
          <a:p>
            <a:pPr algn="l"/>
            <a:r>
              <a:rPr sz="1800" b="1">
                <a:solidFill>
                  <a:srgbClr val="122A42"/>
                </a:solidFill>
                <a:latin typeface="Aptos"/>
              </a:rPr>
              <a:t>Mention what needs caution</a:t>
            </a:r>
          </a:p>
        </p:txBody>
      </p:sp>
      <p:sp>
        <p:nvSpPr>
          <p:cNvPr id="17" name="TextBox 16"/>
          <p:cNvSpPr txBox="1"/>
          <p:nvPr/>
        </p:nvSpPr>
        <p:spPr>
          <a:xfrm>
            <a:off x="6419088" y="2770632"/>
            <a:ext cx="4709159" cy="1810512"/>
          </a:xfrm>
          <a:prstGeom prst="rect">
            <a:avLst/>
          </a:prstGeom>
          <a:noFill/>
        </p:spPr>
        <p:txBody>
          <a:bodyPr wrap="square" lIns="27432" tIns="27432" rIns="27432" bIns="27432" anchor="t">
            <a:spAutoFit/>
          </a:bodyPr>
          <a:lstStyle/>
          <a:p>
            <a:pPr algn="l"/>
            <a:r>
              <a:rPr sz="1700" b="0">
                <a:solidFill>
                  <a:srgbClr val="26303A"/>
                </a:solidFill>
                <a:latin typeface="Aptos"/>
              </a:rPr>
              <a:t>Ethics • privacy • final decisions • bias</a:t>
            </a:r>
          </a:p>
        </p:txBody>
      </p:sp>
      <p:sp>
        <p:nvSpPr>
          <p:cNvPr id="18" name="TextBox 17"/>
          <p:cNvSpPr txBox="1"/>
          <p:nvPr/>
        </p:nvSpPr>
        <p:spPr>
          <a:xfrm>
            <a:off x="731520" y="5166360"/>
            <a:ext cx="10424160" cy="594360"/>
          </a:xfrm>
          <a:prstGeom prst="rect">
            <a:avLst/>
          </a:prstGeom>
          <a:noFill/>
        </p:spPr>
        <p:txBody>
          <a:bodyPr wrap="square" lIns="27432" tIns="27432" rIns="27432" bIns="27432" anchor="t">
            <a:spAutoFit/>
          </a:bodyPr>
          <a:lstStyle/>
          <a:p>
            <a:pPr algn="ctr"/>
            <a:r>
              <a:rPr sz="1600" b="1">
                <a:solidFill>
                  <a:srgbClr val="122A42"/>
                </a:solidFill>
                <a:latin typeface="Aptos"/>
              </a:rPr>
              <a:t>Strong answers connect the strength to the risk: “AI can find patterns quickly, but a human is needed where responsibility or ethics is involved.”</a:t>
            </a:r>
          </a:p>
        </p:txBody>
      </p:sp>
      <p:sp>
        <p:nvSpPr>
          <p:cNvPr id="19" name="TextBox 18"/>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Model answer: AI strengths vs caution</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1-3 • 6 MARKS</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38</a:t>
            </a:r>
          </a:p>
        </p:txBody>
      </p:sp>
      <p:sp>
        <p:nvSpPr>
          <p:cNvPr id="7" name="TextBox 6"/>
          <p:cNvSpPr txBox="1"/>
          <p:nvPr/>
        </p:nvSpPr>
        <p:spPr>
          <a:xfrm>
            <a:off x="685800" y="1143000"/>
            <a:ext cx="10698480" cy="3931920"/>
          </a:xfrm>
          <a:prstGeom prst="rect">
            <a:avLst/>
          </a:prstGeom>
          <a:noFill/>
        </p:spPr>
        <p:txBody>
          <a:bodyPr wrap="square" lIns="27432" tIns="27432" rIns="27432" bIns="27432" anchor="t">
            <a:spAutoFit/>
          </a:bodyPr>
          <a:lstStyle/>
          <a:p>
            <a:pPr algn="l"/>
            <a:r>
              <a:rPr sz="1750" b="0">
                <a:solidFill>
                  <a:srgbClr val="26303A"/>
                </a:solidFill>
                <a:latin typeface="Aptos"/>
              </a:rPr>
              <a:t>AI is well suited to tasks involving patterns in data because it can recognize and classify images, text and audio and make predictions from data. However, caution is needed when decisions involve ethics, privacy or responsibility. Training data can be biased, which can make judgments inaccurate or unfair, and generative AI can produce incorrect information. Therefore, AI is a powerful tool for pattern-based tasks, but human judgment is still needed for fairness, privacy and final responsibility.</a:t>
            </a:r>
          </a:p>
        </p:txBody>
      </p:sp>
      <p:sp>
        <p:nvSpPr>
          <p:cNvPr id="8" name="Rounded Rectangle 7"/>
          <p:cNvSpPr/>
          <p:nvPr/>
        </p:nvSpPr>
        <p:spPr>
          <a:xfrm>
            <a:off x="731520" y="5349240"/>
            <a:ext cx="2743200" cy="347472"/>
          </a:xfrm>
          <a:prstGeom prst="roundRect">
            <a:avLst/>
          </a:prstGeom>
          <a:solidFill>
            <a:srgbClr val="FDF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5385816"/>
            <a:ext cx="2596896" cy="237744"/>
          </a:xfrm>
          <a:prstGeom prst="rect">
            <a:avLst/>
          </a:prstGeom>
          <a:noFill/>
        </p:spPr>
        <p:txBody>
          <a:bodyPr wrap="square" lIns="27432" tIns="27432" rIns="27432" bIns="27432" anchor="ctr">
            <a:spAutoFit/>
          </a:bodyPr>
          <a:lstStyle/>
          <a:p>
            <a:pPr algn="ctr"/>
            <a:r>
              <a:rPr sz="1000" b="1">
                <a:solidFill>
                  <a:srgbClr val="EE8C2A"/>
                </a:solidFill>
                <a:latin typeface="Aptos"/>
              </a:rPr>
              <a:t>PATTERN TASKS ≠ HUMAN RESPONSIBILITY</a:t>
            </a:r>
          </a:p>
        </p:txBody>
      </p:sp>
      <p:sp>
        <p:nvSpPr>
          <p:cNvPr id="10" name="TextBox 9"/>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686800" y="-731520"/>
            <a:ext cx="4297680" cy="4297680"/>
          </a:xfrm>
          <a:prstGeom prst="ellipse">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3474720"/>
            <a:ext cx="2743200" cy="2743200"/>
          </a:xfrm>
          <a:prstGeom prst="ellipse">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51560"/>
            <a:ext cx="1097280" cy="502920"/>
          </a:xfrm>
          <a:prstGeom prst="rect">
            <a:avLst/>
          </a:prstGeom>
          <a:noFill/>
        </p:spPr>
        <p:txBody>
          <a:bodyPr wrap="square" lIns="27432" tIns="27432" rIns="27432" bIns="27432" anchor="t">
            <a:spAutoFit/>
          </a:bodyPr>
          <a:lstStyle/>
          <a:p>
            <a:pPr algn="l"/>
            <a:r>
              <a:rPr sz="3000" b="1">
                <a:solidFill>
                  <a:srgbClr val="6F57A0"/>
                </a:solidFill>
                <a:latin typeface="Aptos"/>
              </a:rPr>
              <a:t>1-4</a:t>
            </a:r>
          </a:p>
        </p:txBody>
      </p:sp>
      <p:sp>
        <p:nvSpPr>
          <p:cNvPr id="6" name="TextBox 5"/>
          <p:cNvSpPr txBox="1"/>
          <p:nvPr/>
        </p:nvSpPr>
        <p:spPr>
          <a:xfrm>
            <a:off x="640080" y="1691640"/>
            <a:ext cx="7863840" cy="1143000"/>
          </a:xfrm>
          <a:prstGeom prst="rect">
            <a:avLst/>
          </a:prstGeom>
          <a:noFill/>
        </p:spPr>
        <p:txBody>
          <a:bodyPr wrap="square" lIns="27432" tIns="27432" rIns="27432" bIns="27432" anchor="t">
            <a:spAutoFit/>
          </a:bodyPr>
          <a:lstStyle/>
          <a:p>
            <a:pPr algn="l"/>
            <a:r>
              <a:rPr sz="3800" b="1">
                <a:solidFill>
                  <a:srgbClr val="FFFFFF"/>
                </a:solidFill>
                <a:latin typeface="Aptos Display"/>
              </a:rPr>
              <a:t>Ethical Issues with AI</a:t>
            </a:r>
          </a:p>
        </p:txBody>
      </p:sp>
      <p:sp>
        <p:nvSpPr>
          <p:cNvPr id="7" name="TextBox 6"/>
          <p:cNvSpPr txBox="1"/>
          <p:nvPr/>
        </p:nvSpPr>
        <p:spPr>
          <a:xfrm>
            <a:off x="658368" y="2971800"/>
            <a:ext cx="6858000" cy="731520"/>
          </a:xfrm>
          <a:prstGeom prst="rect">
            <a:avLst/>
          </a:prstGeom>
          <a:noFill/>
        </p:spPr>
        <p:txBody>
          <a:bodyPr wrap="square" lIns="27432" tIns="27432" rIns="27432" bIns="27432" anchor="t">
            <a:spAutoFit/>
          </a:bodyPr>
          <a:lstStyle/>
          <a:p>
            <a:pPr algn="l"/>
            <a:r>
              <a:rPr sz="1900" b="0">
                <a:solidFill>
                  <a:srgbClr val="DCE6EE"/>
                </a:solidFill>
                <a:latin typeface="Aptos"/>
              </a:rPr>
              <a:t>A good AI system is not only accurate — it should also be fair, transparent, privacy-respecting and accountable.</a:t>
            </a:r>
          </a:p>
        </p:txBody>
      </p:sp>
      <p:sp>
        <p:nvSpPr>
          <p:cNvPr id="8" name="Rounded Rectangle 7"/>
          <p:cNvSpPr/>
          <p:nvPr/>
        </p:nvSpPr>
        <p:spPr>
          <a:xfrm>
            <a:off x="658368" y="5074920"/>
            <a:ext cx="2377440" cy="347472"/>
          </a:xfrm>
          <a:prstGeom prst="roundRect">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19" y="5111496"/>
            <a:ext cx="2231136" cy="237744"/>
          </a:xfrm>
          <a:prstGeom prst="rect">
            <a:avLst/>
          </a:prstGeom>
          <a:noFill/>
        </p:spPr>
        <p:txBody>
          <a:bodyPr wrap="square" lIns="27432" tIns="27432" rIns="27432" bIns="27432" anchor="ctr">
            <a:spAutoFit/>
          </a:bodyPr>
          <a:lstStyle/>
          <a:p>
            <a:pPr algn="ctr"/>
            <a:r>
              <a:rPr sz="1000" b="1">
                <a:solidFill>
                  <a:srgbClr val="FFFFFF"/>
                </a:solidFill>
                <a:latin typeface="Aptos"/>
              </a:rPr>
              <a:t>TEACH • DISCUSS • PRACTISE</a:t>
            </a:r>
          </a:p>
        </p:txBody>
      </p:sp>
      <p:sp>
        <p:nvSpPr>
          <p:cNvPr id="10" name="TextBox 9"/>
          <p:cNvSpPr txBox="1"/>
          <p:nvPr/>
        </p:nvSpPr>
        <p:spPr>
          <a:xfrm>
            <a:off x="658368" y="5989320"/>
            <a:ext cx="7315200" cy="320040"/>
          </a:xfrm>
          <a:prstGeom prst="rect">
            <a:avLst/>
          </a:prstGeom>
          <a:noFill/>
        </p:spPr>
        <p:txBody>
          <a:bodyPr wrap="square" lIns="27432" tIns="27432" rIns="27432" bIns="27432" anchor="t">
            <a:spAutoFit/>
          </a:bodyPr>
          <a:lstStyle/>
          <a:p>
            <a:pPr algn="l"/>
            <a:r>
              <a:rPr sz="1000" b="0">
                <a:solidFill>
                  <a:srgbClr val="B4C3D0"/>
                </a:solidFill>
                <a:latin typeface="Aptos"/>
              </a:rPr>
              <a:t>Chapter 1 • Information Technology and Society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Algorithmic bias: when AI can be unfair</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1-4 • ETHICAL ISSUE</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40</a:t>
            </a:r>
          </a:p>
        </p:txBody>
      </p:sp>
      <p:sp>
        <p:nvSpPr>
          <p:cNvPr id="7" name="Rounded Rectangle 6"/>
          <p:cNvSpPr/>
          <p:nvPr/>
        </p:nvSpPr>
        <p:spPr>
          <a:xfrm>
            <a:off x="640080" y="1097280"/>
            <a:ext cx="5120640" cy="4114800"/>
          </a:xfrm>
          <a:prstGeom prst="roundRect">
            <a:avLst/>
          </a:prstGeom>
          <a:solidFill>
            <a:srgbClr val="FAEBEB"/>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097280"/>
            <a:ext cx="73152" cy="4114800"/>
          </a:xfrm>
          <a:prstGeom prst="rect">
            <a:avLst/>
          </a:prstGeom>
          <a:solidFill>
            <a:srgbClr val="BE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234439"/>
            <a:ext cx="4754879" cy="320040"/>
          </a:xfrm>
          <a:prstGeom prst="rect">
            <a:avLst/>
          </a:prstGeom>
          <a:noFill/>
        </p:spPr>
        <p:txBody>
          <a:bodyPr wrap="square" lIns="27432" tIns="27432" rIns="27432" bIns="27432" anchor="t">
            <a:spAutoFit/>
          </a:bodyPr>
          <a:lstStyle/>
          <a:p>
            <a:pPr algn="l"/>
            <a:r>
              <a:rPr sz="2000" b="1">
                <a:solidFill>
                  <a:srgbClr val="122A42"/>
                </a:solidFill>
                <a:latin typeface="Aptos"/>
              </a:rPr>
              <a:t>What is algorithmic bias?</a:t>
            </a:r>
          </a:p>
        </p:txBody>
      </p:sp>
      <p:sp>
        <p:nvSpPr>
          <p:cNvPr id="10" name="TextBox 9"/>
          <p:cNvSpPr txBox="1"/>
          <p:nvPr/>
        </p:nvSpPr>
        <p:spPr>
          <a:xfrm>
            <a:off x="841247" y="1627631"/>
            <a:ext cx="4754879" cy="3456432"/>
          </a:xfrm>
          <a:prstGeom prst="rect">
            <a:avLst/>
          </a:prstGeom>
          <a:noFill/>
        </p:spPr>
        <p:txBody>
          <a:bodyPr wrap="square" lIns="27432" tIns="27432" rIns="27432" bIns="27432" anchor="t">
            <a:spAutoFit/>
          </a:bodyPr>
          <a:lstStyle/>
          <a:p>
            <a:pPr algn="l"/>
            <a:r>
              <a:rPr sz="1800" b="0">
                <a:solidFill>
                  <a:srgbClr val="26303A"/>
                </a:solidFill>
                <a:latin typeface="Aptos"/>
              </a:rPr>
              <a:t>Bias in AI judgments caused by bias in the training data.
Example: a hiring AI unfairly rates one gender lower.</a:t>
            </a:r>
          </a:p>
        </p:txBody>
      </p:sp>
      <p:sp>
        <p:nvSpPr>
          <p:cNvPr id="11" name="Rounded Rectangle 10"/>
          <p:cNvSpPr/>
          <p:nvPr/>
        </p:nvSpPr>
        <p:spPr>
          <a:xfrm>
            <a:off x="6080760" y="1097280"/>
            <a:ext cx="5440680" cy="4114800"/>
          </a:xfrm>
          <a:prstGeom prst="roundRect">
            <a:avLst/>
          </a:prstGeom>
          <a:solidFill>
            <a:srgbClr val="FDF1E1"/>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080760" y="1097280"/>
            <a:ext cx="73152" cy="4114800"/>
          </a:xfrm>
          <a:prstGeom prst="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81928" y="1234439"/>
            <a:ext cx="5074920" cy="320040"/>
          </a:xfrm>
          <a:prstGeom prst="rect">
            <a:avLst/>
          </a:prstGeom>
          <a:noFill/>
        </p:spPr>
        <p:txBody>
          <a:bodyPr wrap="square" lIns="27432" tIns="27432" rIns="27432" bIns="27432" anchor="t">
            <a:spAutoFit/>
          </a:bodyPr>
          <a:lstStyle/>
          <a:p>
            <a:pPr algn="l"/>
            <a:r>
              <a:rPr sz="1900" b="1">
                <a:solidFill>
                  <a:srgbClr val="122A42"/>
                </a:solidFill>
                <a:latin typeface="Aptos"/>
              </a:rPr>
              <a:t>Where can bias come from?</a:t>
            </a:r>
          </a:p>
        </p:txBody>
      </p:sp>
      <p:sp>
        <p:nvSpPr>
          <p:cNvPr id="14" name="TextBox 13"/>
          <p:cNvSpPr txBox="1"/>
          <p:nvPr/>
        </p:nvSpPr>
        <p:spPr>
          <a:xfrm>
            <a:off x="6281928" y="1627631"/>
            <a:ext cx="5074920" cy="3456432"/>
          </a:xfrm>
          <a:prstGeom prst="rect">
            <a:avLst/>
          </a:prstGeom>
          <a:noFill/>
        </p:spPr>
        <p:txBody>
          <a:bodyPr wrap="square" lIns="27432" tIns="27432" rIns="27432" bIns="27432" anchor="t">
            <a:spAutoFit/>
          </a:bodyPr>
          <a:lstStyle/>
          <a:p>
            <a:pPr algn="l"/>
            <a:r>
              <a:rPr sz="1600" b="0">
                <a:solidFill>
                  <a:srgbClr val="26303A"/>
                </a:solidFill>
                <a:latin typeface="Aptos"/>
              </a:rPr>
              <a:t>• Training data is biased or incomplete
• Past discrimination is reflected in the data
• Poor choice of variables
• Proxy variables
• Model/system design</a:t>
            </a:r>
          </a:p>
        </p:txBody>
      </p:sp>
      <p:sp>
        <p:nvSpPr>
          <p:cNvPr id="15" name="TextBox 14"/>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Privacy, explainability and responsibility</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1-4 • ETHICAL ISSUES</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41</a:t>
            </a:r>
          </a:p>
        </p:txBody>
      </p:sp>
      <p:sp>
        <p:nvSpPr>
          <p:cNvPr id="7" name="Rounded Rectangle 6"/>
          <p:cNvSpPr/>
          <p:nvPr/>
        </p:nvSpPr>
        <p:spPr>
          <a:xfrm>
            <a:off x="640080" y="1097280"/>
            <a:ext cx="3383280" cy="4023360"/>
          </a:xfrm>
          <a:prstGeom prst="roundRect">
            <a:avLst/>
          </a:prstGeom>
          <a:solidFill>
            <a:srgbClr val="E7F1F8"/>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097280"/>
            <a:ext cx="73152" cy="4023360"/>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234439"/>
            <a:ext cx="3017520" cy="320040"/>
          </a:xfrm>
          <a:prstGeom prst="rect">
            <a:avLst/>
          </a:prstGeom>
          <a:noFill/>
        </p:spPr>
        <p:txBody>
          <a:bodyPr wrap="square" lIns="27432" tIns="27432" rIns="27432" bIns="27432" anchor="t">
            <a:spAutoFit/>
          </a:bodyPr>
          <a:lstStyle/>
          <a:p>
            <a:pPr algn="l"/>
            <a:r>
              <a:rPr sz="1800" b="1">
                <a:solidFill>
                  <a:srgbClr val="122A42"/>
                </a:solidFill>
                <a:latin typeface="Aptos"/>
              </a:rPr>
              <a:t>Privacy</a:t>
            </a:r>
          </a:p>
        </p:txBody>
      </p:sp>
      <p:sp>
        <p:nvSpPr>
          <p:cNvPr id="10" name="TextBox 9"/>
          <p:cNvSpPr txBox="1"/>
          <p:nvPr/>
        </p:nvSpPr>
        <p:spPr>
          <a:xfrm>
            <a:off x="841247" y="1627631"/>
            <a:ext cx="3017520" cy="3364992"/>
          </a:xfrm>
          <a:prstGeom prst="rect">
            <a:avLst/>
          </a:prstGeom>
          <a:noFill/>
        </p:spPr>
        <p:txBody>
          <a:bodyPr wrap="square" lIns="27432" tIns="27432" rIns="27432" bIns="27432" anchor="t">
            <a:spAutoFit/>
          </a:bodyPr>
          <a:lstStyle/>
          <a:p>
            <a:pPr algn="l"/>
            <a:r>
              <a:rPr sz="1600" b="0">
                <a:solidFill>
                  <a:srgbClr val="26303A"/>
                </a:solidFill>
                <a:latin typeface="Aptos"/>
              </a:rPr>
              <a:t>Face recognition can identify/track people. Online behavior data can be collected and analyzed.</a:t>
            </a:r>
          </a:p>
        </p:txBody>
      </p:sp>
      <p:sp>
        <p:nvSpPr>
          <p:cNvPr id="11" name="Rounded Rectangle 10"/>
          <p:cNvSpPr/>
          <p:nvPr/>
        </p:nvSpPr>
        <p:spPr>
          <a:xfrm>
            <a:off x="4389120" y="1097280"/>
            <a:ext cx="3383280" cy="402336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097280"/>
            <a:ext cx="73152" cy="402336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0288" y="1234439"/>
            <a:ext cx="3017520" cy="320040"/>
          </a:xfrm>
          <a:prstGeom prst="rect">
            <a:avLst/>
          </a:prstGeom>
          <a:noFill/>
        </p:spPr>
        <p:txBody>
          <a:bodyPr wrap="square" lIns="27432" tIns="27432" rIns="27432" bIns="27432" anchor="t">
            <a:spAutoFit/>
          </a:bodyPr>
          <a:lstStyle/>
          <a:p>
            <a:pPr algn="l"/>
            <a:r>
              <a:rPr sz="1800" b="1">
                <a:solidFill>
                  <a:srgbClr val="122A42"/>
                </a:solidFill>
                <a:latin typeface="Aptos"/>
              </a:rPr>
              <a:t>XAI / black box</a:t>
            </a:r>
          </a:p>
        </p:txBody>
      </p:sp>
      <p:sp>
        <p:nvSpPr>
          <p:cNvPr id="14" name="TextBox 13"/>
          <p:cNvSpPr txBox="1"/>
          <p:nvPr/>
        </p:nvSpPr>
        <p:spPr>
          <a:xfrm>
            <a:off x="4590288" y="1627631"/>
            <a:ext cx="3017520" cy="3364992"/>
          </a:xfrm>
          <a:prstGeom prst="rect">
            <a:avLst/>
          </a:prstGeom>
          <a:noFill/>
        </p:spPr>
        <p:txBody>
          <a:bodyPr wrap="square" lIns="27432" tIns="27432" rIns="27432" bIns="27432" anchor="t">
            <a:spAutoFit/>
          </a:bodyPr>
          <a:lstStyle/>
          <a:p>
            <a:pPr algn="l"/>
            <a:r>
              <a:rPr sz="1600" b="0">
                <a:solidFill>
                  <a:srgbClr val="26303A"/>
                </a:solidFill>
                <a:latin typeface="Aptos"/>
              </a:rPr>
              <a:t>Explainable AI helps humans understand why an AI made a judgment. A black box makes verification difficult.</a:t>
            </a:r>
          </a:p>
        </p:txBody>
      </p:sp>
      <p:sp>
        <p:nvSpPr>
          <p:cNvPr id="15" name="Rounded Rectangle 14"/>
          <p:cNvSpPr/>
          <p:nvPr/>
        </p:nvSpPr>
        <p:spPr>
          <a:xfrm>
            <a:off x="8138160" y="1097280"/>
            <a:ext cx="3383280" cy="4023360"/>
          </a:xfrm>
          <a:prstGeom prst="roundRect">
            <a:avLst/>
          </a:prstGeom>
          <a:solidFill>
            <a:srgbClr val="F1EDF9"/>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097280"/>
            <a:ext cx="73152" cy="4023360"/>
          </a:xfrm>
          <a:prstGeom prst="rect">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8" y="1234439"/>
            <a:ext cx="3017520" cy="320040"/>
          </a:xfrm>
          <a:prstGeom prst="rect">
            <a:avLst/>
          </a:prstGeom>
          <a:noFill/>
        </p:spPr>
        <p:txBody>
          <a:bodyPr wrap="square" lIns="27432" tIns="27432" rIns="27432" bIns="27432" anchor="t">
            <a:spAutoFit/>
          </a:bodyPr>
          <a:lstStyle/>
          <a:p>
            <a:pPr algn="l"/>
            <a:r>
              <a:rPr sz="1800" b="1">
                <a:solidFill>
                  <a:srgbClr val="122A42"/>
                </a:solidFill>
                <a:latin typeface="Aptos"/>
              </a:rPr>
              <a:t>Responsibility</a:t>
            </a:r>
          </a:p>
        </p:txBody>
      </p:sp>
      <p:sp>
        <p:nvSpPr>
          <p:cNvPr id="18" name="TextBox 17"/>
          <p:cNvSpPr txBox="1"/>
          <p:nvPr/>
        </p:nvSpPr>
        <p:spPr>
          <a:xfrm>
            <a:off x="8339328" y="1627631"/>
            <a:ext cx="3017520" cy="3364992"/>
          </a:xfrm>
          <a:prstGeom prst="rect">
            <a:avLst/>
          </a:prstGeom>
          <a:noFill/>
        </p:spPr>
        <p:txBody>
          <a:bodyPr wrap="square" lIns="27432" tIns="27432" rIns="27432" bIns="27432" anchor="t">
            <a:spAutoFit/>
          </a:bodyPr>
          <a:lstStyle/>
          <a:p>
            <a:pPr algn="l"/>
            <a:r>
              <a:rPr sz="1500" b="0">
                <a:solidFill>
                  <a:srgbClr val="26303A"/>
                </a:solidFill>
                <a:latin typeface="Aptos"/>
              </a:rPr>
              <a:t>If an AI is wrong, who answers for the result? Developer, user, operator — the textbook notes this can differ.</a:t>
            </a:r>
          </a:p>
        </p:txBody>
      </p:sp>
      <p:sp>
        <p:nvSpPr>
          <p:cNvPr id="19" name="TextBox 18"/>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The four basic principles of AI ethics</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1-4 • KEY FRAMEWORK</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42</a:t>
            </a:r>
          </a:p>
        </p:txBody>
      </p:sp>
      <p:sp>
        <p:nvSpPr>
          <p:cNvPr id="7" name="Rounded Rectangle 6"/>
          <p:cNvSpPr/>
          <p:nvPr/>
        </p:nvSpPr>
        <p:spPr>
          <a:xfrm>
            <a:off x="640080" y="1371600"/>
            <a:ext cx="2514600" cy="315468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371600"/>
            <a:ext cx="73152" cy="3154680"/>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508760"/>
            <a:ext cx="2148840" cy="320040"/>
          </a:xfrm>
          <a:prstGeom prst="rect">
            <a:avLst/>
          </a:prstGeom>
          <a:noFill/>
        </p:spPr>
        <p:txBody>
          <a:bodyPr wrap="square" lIns="27432" tIns="27432" rIns="27432" bIns="27432" anchor="t">
            <a:spAutoFit/>
          </a:bodyPr>
          <a:lstStyle/>
          <a:p>
            <a:pPr algn="l"/>
            <a:r>
              <a:rPr sz="1800" b="1">
                <a:solidFill>
                  <a:srgbClr val="122A42"/>
                </a:solidFill>
                <a:latin typeface="Aptos"/>
              </a:rPr>
              <a:t>Fairness</a:t>
            </a:r>
          </a:p>
        </p:txBody>
      </p:sp>
      <p:sp>
        <p:nvSpPr>
          <p:cNvPr id="10" name="TextBox 9"/>
          <p:cNvSpPr txBox="1"/>
          <p:nvPr/>
        </p:nvSpPr>
        <p:spPr>
          <a:xfrm>
            <a:off x="841247" y="1901952"/>
            <a:ext cx="2148840" cy="2496312"/>
          </a:xfrm>
          <a:prstGeom prst="rect">
            <a:avLst/>
          </a:prstGeom>
          <a:noFill/>
        </p:spPr>
        <p:txBody>
          <a:bodyPr wrap="square" lIns="27432" tIns="27432" rIns="27432" bIns="27432" anchor="t">
            <a:spAutoFit/>
          </a:bodyPr>
          <a:lstStyle/>
          <a:p>
            <a:pPr algn="l"/>
            <a:r>
              <a:rPr sz="1600" b="0">
                <a:solidFill>
                  <a:srgbClr val="26303A"/>
                </a:solidFill>
                <a:latin typeface="Aptos"/>
              </a:rPr>
              <a:t>Do not unjustly discriminate.</a:t>
            </a:r>
          </a:p>
        </p:txBody>
      </p:sp>
      <p:sp>
        <p:nvSpPr>
          <p:cNvPr id="11" name="Rounded Rectangle 10"/>
          <p:cNvSpPr/>
          <p:nvPr/>
        </p:nvSpPr>
        <p:spPr>
          <a:xfrm>
            <a:off x="3429000" y="1371600"/>
            <a:ext cx="2514600" cy="315468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29000" y="1371600"/>
            <a:ext cx="73152" cy="315468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30168" y="1508760"/>
            <a:ext cx="2148840" cy="320040"/>
          </a:xfrm>
          <a:prstGeom prst="rect">
            <a:avLst/>
          </a:prstGeom>
          <a:noFill/>
        </p:spPr>
        <p:txBody>
          <a:bodyPr wrap="square" lIns="27432" tIns="27432" rIns="27432" bIns="27432" anchor="t">
            <a:spAutoFit/>
          </a:bodyPr>
          <a:lstStyle/>
          <a:p>
            <a:pPr algn="l"/>
            <a:r>
              <a:rPr sz="1800" b="1">
                <a:solidFill>
                  <a:srgbClr val="122A42"/>
                </a:solidFill>
                <a:latin typeface="Aptos"/>
              </a:rPr>
              <a:t>Transparency</a:t>
            </a:r>
          </a:p>
        </p:txBody>
      </p:sp>
      <p:sp>
        <p:nvSpPr>
          <p:cNvPr id="14" name="TextBox 13"/>
          <p:cNvSpPr txBox="1"/>
          <p:nvPr/>
        </p:nvSpPr>
        <p:spPr>
          <a:xfrm>
            <a:off x="3630168" y="1901952"/>
            <a:ext cx="2148840" cy="2496312"/>
          </a:xfrm>
          <a:prstGeom prst="rect">
            <a:avLst/>
          </a:prstGeom>
          <a:noFill/>
        </p:spPr>
        <p:txBody>
          <a:bodyPr wrap="square" lIns="27432" tIns="27432" rIns="27432" bIns="27432" anchor="t">
            <a:spAutoFit/>
          </a:bodyPr>
          <a:lstStyle/>
          <a:p>
            <a:pPr algn="l"/>
            <a:r>
              <a:rPr sz="1600" b="0">
                <a:solidFill>
                  <a:srgbClr val="26303A"/>
                </a:solidFill>
                <a:latin typeface="Aptos"/>
              </a:rPr>
              <a:t>Show the AI’s decision-making process clearly.</a:t>
            </a:r>
          </a:p>
        </p:txBody>
      </p:sp>
      <p:sp>
        <p:nvSpPr>
          <p:cNvPr id="15" name="Rounded Rectangle 14"/>
          <p:cNvSpPr/>
          <p:nvPr/>
        </p:nvSpPr>
        <p:spPr>
          <a:xfrm>
            <a:off x="6217920" y="1371600"/>
            <a:ext cx="2514600" cy="315468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371600"/>
            <a:ext cx="73152" cy="3154680"/>
          </a:xfrm>
          <a:prstGeom prst="rect">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1508760"/>
            <a:ext cx="2148840" cy="320040"/>
          </a:xfrm>
          <a:prstGeom prst="rect">
            <a:avLst/>
          </a:prstGeom>
          <a:noFill/>
        </p:spPr>
        <p:txBody>
          <a:bodyPr wrap="square" lIns="27432" tIns="27432" rIns="27432" bIns="27432" anchor="t">
            <a:spAutoFit/>
          </a:bodyPr>
          <a:lstStyle/>
          <a:p>
            <a:pPr algn="l"/>
            <a:r>
              <a:rPr sz="1800" b="1">
                <a:solidFill>
                  <a:srgbClr val="122A42"/>
                </a:solidFill>
                <a:latin typeface="Aptos"/>
              </a:rPr>
              <a:t>Privacy protection</a:t>
            </a:r>
          </a:p>
        </p:txBody>
      </p:sp>
      <p:sp>
        <p:nvSpPr>
          <p:cNvPr id="18" name="TextBox 17"/>
          <p:cNvSpPr txBox="1"/>
          <p:nvPr/>
        </p:nvSpPr>
        <p:spPr>
          <a:xfrm>
            <a:off x="6419088" y="1901952"/>
            <a:ext cx="2148840" cy="2496312"/>
          </a:xfrm>
          <a:prstGeom prst="rect">
            <a:avLst/>
          </a:prstGeom>
          <a:noFill/>
        </p:spPr>
        <p:txBody>
          <a:bodyPr wrap="square" lIns="27432" tIns="27432" rIns="27432" bIns="27432" anchor="t">
            <a:spAutoFit/>
          </a:bodyPr>
          <a:lstStyle/>
          <a:p>
            <a:pPr algn="l"/>
            <a:r>
              <a:rPr sz="1600" b="0">
                <a:solidFill>
                  <a:srgbClr val="26303A"/>
                </a:solidFill>
                <a:latin typeface="Aptos"/>
              </a:rPr>
              <a:t>Handle personal information appropriately.</a:t>
            </a:r>
          </a:p>
        </p:txBody>
      </p:sp>
      <p:sp>
        <p:nvSpPr>
          <p:cNvPr id="19" name="Rounded Rectangle 18"/>
          <p:cNvSpPr/>
          <p:nvPr/>
        </p:nvSpPr>
        <p:spPr>
          <a:xfrm>
            <a:off x="9006839" y="1371600"/>
            <a:ext cx="2514600" cy="3154680"/>
          </a:xfrm>
          <a:prstGeom prst="roundRect">
            <a:avLst/>
          </a:prstGeom>
          <a:solidFill>
            <a:srgbClr val="FFFFFF"/>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006839" y="1371600"/>
            <a:ext cx="73152" cy="3154680"/>
          </a:xfrm>
          <a:prstGeom prst="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08007" y="1508760"/>
            <a:ext cx="2148840" cy="320040"/>
          </a:xfrm>
          <a:prstGeom prst="rect">
            <a:avLst/>
          </a:prstGeom>
          <a:noFill/>
        </p:spPr>
        <p:txBody>
          <a:bodyPr wrap="square" lIns="27432" tIns="27432" rIns="27432" bIns="27432" anchor="t">
            <a:spAutoFit/>
          </a:bodyPr>
          <a:lstStyle/>
          <a:p>
            <a:pPr algn="l"/>
            <a:r>
              <a:rPr sz="1800" b="1">
                <a:solidFill>
                  <a:srgbClr val="122A42"/>
                </a:solidFill>
                <a:latin typeface="Aptos"/>
              </a:rPr>
              <a:t>Accountability</a:t>
            </a:r>
          </a:p>
        </p:txBody>
      </p:sp>
      <p:sp>
        <p:nvSpPr>
          <p:cNvPr id="22" name="TextBox 21"/>
          <p:cNvSpPr txBox="1"/>
          <p:nvPr/>
        </p:nvSpPr>
        <p:spPr>
          <a:xfrm>
            <a:off x="9208007" y="1901952"/>
            <a:ext cx="2148840" cy="2496312"/>
          </a:xfrm>
          <a:prstGeom prst="rect">
            <a:avLst/>
          </a:prstGeom>
          <a:noFill/>
        </p:spPr>
        <p:txBody>
          <a:bodyPr wrap="square" lIns="27432" tIns="27432" rIns="27432" bIns="27432" anchor="t">
            <a:spAutoFit/>
          </a:bodyPr>
          <a:lstStyle/>
          <a:p>
            <a:pPr algn="l"/>
            <a:r>
              <a:rPr sz="1600" b="0">
                <a:solidFill>
                  <a:srgbClr val="26303A"/>
                </a:solidFill>
                <a:latin typeface="Aptos"/>
              </a:rPr>
              <a:t>Be answerable for AI decisions.</a:t>
            </a:r>
          </a:p>
        </p:txBody>
      </p:sp>
      <p:sp>
        <p:nvSpPr>
          <p:cNvPr id="23" name="TextBox 22"/>
          <p:cNvSpPr txBox="1"/>
          <p:nvPr/>
        </p:nvSpPr>
        <p:spPr>
          <a:xfrm>
            <a:off x="685800" y="5029200"/>
            <a:ext cx="10607040" cy="822960"/>
          </a:xfrm>
          <a:prstGeom prst="rect">
            <a:avLst/>
          </a:prstGeom>
          <a:noFill/>
        </p:spPr>
        <p:txBody>
          <a:bodyPr wrap="square" lIns="27432" tIns="27432" rIns="27432" bIns="27432" anchor="t">
            <a:spAutoFit/>
          </a:bodyPr>
          <a:lstStyle/>
          <a:p>
            <a:pPr algn="ctr"/>
            <a:r>
              <a:rPr sz="2200" b="1">
                <a:solidFill>
                  <a:srgbClr val="122A42"/>
                </a:solidFill>
                <a:latin typeface="Aptos"/>
              </a:rPr>
              <a:t>Memory line: FAIR • CLEAR • PRIVATE • RESPONSIBLE</a:t>
            </a:r>
          </a:p>
        </p:txBody>
      </p:sp>
      <p:sp>
        <p:nvSpPr>
          <p:cNvPr id="24" name="TextBox 23"/>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Question practice: ethics True / False</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1-4 • WORKED EXAMPLE</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43</a:t>
            </a:r>
          </a:p>
        </p:txBody>
      </p:sp>
      <p:sp>
        <p:nvSpPr>
          <p:cNvPr id="7" name="Rounded Rectangle 6"/>
          <p:cNvSpPr/>
          <p:nvPr/>
        </p:nvSpPr>
        <p:spPr>
          <a:xfrm>
            <a:off x="548640" y="932688"/>
            <a:ext cx="1600200" cy="347472"/>
          </a:xfrm>
          <a:prstGeom prst="roundRect">
            <a:avLst/>
          </a:prstGeom>
          <a:solidFill>
            <a:srgbClr val="FDF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969264"/>
            <a:ext cx="1453896" cy="237744"/>
          </a:xfrm>
          <a:prstGeom prst="rect">
            <a:avLst/>
          </a:prstGeom>
          <a:noFill/>
        </p:spPr>
        <p:txBody>
          <a:bodyPr wrap="square" lIns="27432" tIns="27432" rIns="27432" bIns="27432" anchor="ctr">
            <a:spAutoFit/>
          </a:bodyPr>
          <a:lstStyle/>
          <a:p>
            <a:pPr algn="ctr"/>
            <a:r>
              <a:rPr sz="1000" b="1">
                <a:solidFill>
                  <a:srgbClr val="EE8C2A"/>
                </a:solidFill>
                <a:latin typeface="Aptos"/>
              </a:rPr>
              <a:t>BOOK QUESTION</a:t>
            </a:r>
          </a:p>
        </p:txBody>
      </p:sp>
      <p:sp>
        <p:nvSpPr>
          <p:cNvPr id="9" name="TextBox 8"/>
          <p:cNvSpPr txBox="1"/>
          <p:nvPr/>
        </p:nvSpPr>
        <p:spPr>
          <a:xfrm>
            <a:off x="548640" y="1417320"/>
            <a:ext cx="10972800" cy="731520"/>
          </a:xfrm>
          <a:prstGeom prst="rect">
            <a:avLst/>
          </a:prstGeom>
          <a:noFill/>
        </p:spPr>
        <p:txBody>
          <a:bodyPr wrap="square" lIns="27432" tIns="27432" rIns="27432" bIns="27432" anchor="t">
            <a:spAutoFit/>
          </a:bodyPr>
          <a:lstStyle/>
          <a:p>
            <a:pPr algn="l"/>
            <a:r>
              <a:rPr sz="2200" b="1">
                <a:solidFill>
                  <a:srgbClr val="122A42"/>
                </a:solidFill>
                <a:latin typeface="Aptos"/>
              </a:rPr>
              <a:t>Mark each statement ○ (true) or × (false).</a:t>
            </a:r>
          </a:p>
        </p:txBody>
      </p:sp>
      <p:sp>
        <p:nvSpPr>
          <p:cNvPr id="10" name="Rounded Rectangle 9"/>
          <p:cNvSpPr/>
          <p:nvPr/>
        </p:nvSpPr>
        <p:spPr>
          <a:xfrm>
            <a:off x="685800" y="2331720"/>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414015"/>
            <a:ext cx="411480" cy="320040"/>
          </a:xfrm>
          <a:prstGeom prst="rect">
            <a:avLst/>
          </a:prstGeom>
          <a:noFill/>
        </p:spPr>
        <p:txBody>
          <a:bodyPr wrap="square" lIns="27432" tIns="27432" rIns="27432" bIns="27432" anchor="t">
            <a:spAutoFit/>
          </a:bodyPr>
          <a:lstStyle/>
          <a:p>
            <a:pPr algn="ctr"/>
            <a:r>
              <a:rPr sz="1400" b="1">
                <a:solidFill>
                  <a:srgbClr val="EE8C2A"/>
                </a:solidFill>
                <a:latin typeface="Aptos"/>
              </a:rPr>
              <a:t>A</a:t>
            </a:r>
          </a:p>
        </p:txBody>
      </p:sp>
      <p:sp>
        <p:nvSpPr>
          <p:cNvPr id="12" name="TextBox 11"/>
          <p:cNvSpPr txBox="1"/>
          <p:nvPr/>
        </p:nvSpPr>
        <p:spPr>
          <a:xfrm>
            <a:off x="1417320" y="2386584"/>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A  Algorithmic bias is bias in AI judgments caused by bias in training data.</a:t>
            </a:r>
          </a:p>
        </p:txBody>
      </p:sp>
      <p:sp>
        <p:nvSpPr>
          <p:cNvPr id="13" name="Rounded Rectangle 12"/>
          <p:cNvSpPr/>
          <p:nvPr/>
        </p:nvSpPr>
        <p:spPr>
          <a:xfrm>
            <a:off x="685800" y="2990087"/>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072383"/>
            <a:ext cx="411480" cy="320040"/>
          </a:xfrm>
          <a:prstGeom prst="rect">
            <a:avLst/>
          </a:prstGeom>
          <a:noFill/>
        </p:spPr>
        <p:txBody>
          <a:bodyPr wrap="square" lIns="27432" tIns="27432" rIns="27432" bIns="27432" anchor="t">
            <a:spAutoFit/>
          </a:bodyPr>
          <a:lstStyle/>
          <a:p>
            <a:pPr algn="ctr"/>
            <a:r>
              <a:rPr sz="1400" b="1">
                <a:solidFill>
                  <a:srgbClr val="EE8C2A"/>
                </a:solidFill>
                <a:latin typeface="Aptos"/>
              </a:rPr>
              <a:t>B</a:t>
            </a:r>
          </a:p>
        </p:txBody>
      </p:sp>
      <p:sp>
        <p:nvSpPr>
          <p:cNvPr id="15" name="TextBox 14"/>
          <p:cNvSpPr txBox="1"/>
          <p:nvPr/>
        </p:nvSpPr>
        <p:spPr>
          <a:xfrm>
            <a:off x="1417320" y="3044951"/>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B  If an AI’s process is opaque, there is no problem as long as the result is correct.</a:t>
            </a:r>
          </a:p>
        </p:txBody>
      </p:sp>
      <p:sp>
        <p:nvSpPr>
          <p:cNvPr id="16" name="Rounded Rectangle 15"/>
          <p:cNvSpPr/>
          <p:nvPr/>
        </p:nvSpPr>
        <p:spPr>
          <a:xfrm>
            <a:off x="685800" y="3648455"/>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3730751"/>
            <a:ext cx="411480" cy="320040"/>
          </a:xfrm>
          <a:prstGeom prst="rect">
            <a:avLst/>
          </a:prstGeom>
          <a:noFill/>
        </p:spPr>
        <p:txBody>
          <a:bodyPr wrap="square" lIns="27432" tIns="27432" rIns="27432" bIns="27432" anchor="t">
            <a:spAutoFit/>
          </a:bodyPr>
          <a:lstStyle/>
          <a:p>
            <a:pPr algn="ctr"/>
            <a:r>
              <a:rPr sz="1400" b="1">
                <a:solidFill>
                  <a:srgbClr val="EE8C2A"/>
                </a:solidFill>
                <a:latin typeface="Aptos"/>
              </a:rPr>
              <a:t>C</a:t>
            </a:r>
          </a:p>
        </p:txBody>
      </p:sp>
      <p:sp>
        <p:nvSpPr>
          <p:cNvPr id="18" name="TextBox 17"/>
          <p:cNvSpPr txBox="1"/>
          <p:nvPr/>
        </p:nvSpPr>
        <p:spPr>
          <a:xfrm>
            <a:off x="1417320" y="3703319"/>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C  Explainable AI makes it possible for humans to understand an AI’s reasoning.</a:t>
            </a:r>
          </a:p>
        </p:txBody>
      </p:sp>
      <p:sp>
        <p:nvSpPr>
          <p:cNvPr id="19" name="Rounded Rectangle 18"/>
          <p:cNvSpPr/>
          <p:nvPr/>
        </p:nvSpPr>
        <p:spPr>
          <a:xfrm>
            <a:off x="685800" y="4306823"/>
            <a:ext cx="10744200" cy="530352"/>
          </a:xfrm>
          <a:prstGeom prst="roundRect">
            <a:avLst/>
          </a:prstGeom>
          <a:solidFill>
            <a:srgbClr val="F4F7FA"/>
          </a:solidFill>
          <a:ln>
            <a:solidFill>
              <a:srgbClr val="E0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389119"/>
            <a:ext cx="411480" cy="320040"/>
          </a:xfrm>
          <a:prstGeom prst="rect">
            <a:avLst/>
          </a:prstGeom>
          <a:noFill/>
        </p:spPr>
        <p:txBody>
          <a:bodyPr wrap="square" lIns="27432" tIns="27432" rIns="27432" bIns="27432" anchor="t">
            <a:spAutoFit/>
          </a:bodyPr>
          <a:lstStyle/>
          <a:p>
            <a:pPr algn="ctr"/>
            <a:r>
              <a:rPr sz="1400" b="1">
                <a:solidFill>
                  <a:srgbClr val="EE8C2A"/>
                </a:solidFill>
                <a:latin typeface="Aptos"/>
              </a:rPr>
              <a:t>D</a:t>
            </a:r>
          </a:p>
        </p:txBody>
      </p:sp>
      <p:sp>
        <p:nvSpPr>
          <p:cNvPr id="21" name="TextBox 20"/>
          <p:cNvSpPr txBox="1"/>
          <p:nvPr/>
        </p:nvSpPr>
        <p:spPr>
          <a:xfrm>
            <a:off x="1417320" y="4361687"/>
            <a:ext cx="10012680" cy="384048"/>
          </a:xfrm>
          <a:prstGeom prst="rect">
            <a:avLst/>
          </a:prstGeom>
          <a:noFill/>
        </p:spPr>
        <p:txBody>
          <a:bodyPr wrap="square" lIns="27432" tIns="27432" rIns="27432" bIns="27432" anchor="t">
            <a:spAutoFit/>
          </a:bodyPr>
          <a:lstStyle/>
          <a:p>
            <a:pPr algn="l"/>
            <a:r>
              <a:rPr sz="1550" b="0">
                <a:solidFill>
                  <a:srgbClr val="26303A"/>
                </a:solidFill>
                <a:latin typeface="Aptos"/>
              </a:rPr>
              <a:t>D  Responsibility for an incorrect AI judgment has already been clearly determined.</a:t>
            </a:r>
          </a:p>
        </p:txBody>
      </p:sp>
      <p:sp>
        <p:nvSpPr>
          <p:cNvPr id="22" name="TextBox 21"/>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Answer: ethics True / False</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1-4 • WORKED EXAMPLE</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44</a:t>
            </a:r>
          </a:p>
        </p:txBody>
      </p:sp>
      <p:sp>
        <p:nvSpPr>
          <p:cNvPr id="7" name="Rounded Rectangle 6"/>
          <p:cNvSpPr/>
          <p:nvPr/>
        </p:nvSpPr>
        <p:spPr>
          <a:xfrm>
            <a:off x="640080" y="1143000"/>
            <a:ext cx="5166360" cy="178308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143000"/>
            <a:ext cx="73152" cy="178308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280160"/>
            <a:ext cx="4800600" cy="320040"/>
          </a:xfrm>
          <a:prstGeom prst="rect">
            <a:avLst/>
          </a:prstGeom>
          <a:noFill/>
        </p:spPr>
        <p:txBody>
          <a:bodyPr wrap="square" lIns="27432" tIns="27432" rIns="27432" bIns="27432" anchor="t">
            <a:spAutoFit/>
          </a:bodyPr>
          <a:lstStyle/>
          <a:p>
            <a:pPr algn="l"/>
            <a:r>
              <a:rPr sz="1700" b="1">
                <a:solidFill>
                  <a:srgbClr val="122A42"/>
                </a:solidFill>
                <a:latin typeface="Aptos"/>
              </a:rPr>
              <a:t>A ✓</a:t>
            </a:r>
          </a:p>
        </p:txBody>
      </p:sp>
      <p:sp>
        <p:nvSpPr>
          <p:cNvPr id="10" name="TextBox 9"/>
          <p:cNvSpPr txBox="1"/>
          <p:nvPr/>
        </p:nvSpPr>
        <p:spPr>
          <a:xfrm>
            <a:off x="841247" y="1673352"/>
            <a:ext cx="4800600" cy="1124712"/>
          </a:xfrm>
          <a:prstGeom prst="rect">
            <a:avLst/>
          </a:prstGeom>
          <a:noFill/>
        </p:spPr>
        <p:txBody>
          <a:bodyPr wrap="square" lIns="27432" tIns="27432" rIns="27432" bIns="27432" anchor="t">
            <a:spAutoFit/>
          </a:bodyPr>
          <a:lstStyle/>
          <a:p>
            <a:pPr algn="l"/>
            <a:r>
              <a:rPr sz="1500" b="0">
                <a:solidFill>
                  <a:srgbClr val="26303A"/>
                </a:solidFill>
                <a:latin typeface="Aptos"/>
              </a:rPr>
              <a:t>Correct definition of algorithmic bias.</a:t>
            </a:r>
          </a:p>
        </p:txBody>
      </p:sp>
      <p:sp>
        <p:nvSpPr>
          <p:cNvPr id="11" name="Rounded Rectangle 10"/>
          <p:cNvSpPr/>
          <p:nvPr/>
        </p:nvSpPr>
        <p:spPr>
          <a:xfrm>
            <a:off x="6217920" y="1143000"/>
            <a:ext cx="5166360" cy="1783080"/>
          </a:xfrm>
          <a:prstGeom prst="roundRect">
            <a:avLst/>
          </a:prstGeom>
          <a:solidFill>
            <a:srgbClr val="FAEBEB"/>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143000"/>
            <a:ext cx="73152" cy="1783080"/>
          </a:xfrm>
          <a:prstGeom prst="rect">
            <a:avLst/>
          </a:prstGeom>
          <a:solidFill>
            <a:srgbClr val="BE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19088" y="1280160"/>
            <a:ext cx="4800600" cy="320040"/>
          </a:xfrm>
          <a:prstGeom prst="rect">
            <a:avLst/>
          </a:prstGeom>
          <a:noFill/>
        </p:spPr>
        <p:txBody>
          <a:bodyPr wrap="square" lIns="27432" tIns="27432" rIns="27432" bIns="27432" anchor="t">
            <a:spAutoFit/>
          </a:bodyPr>
          <a:lstStyle/>
          <a:p>
            <a:pPr algn="l"/>
            <a:r>
              <a:rPr sz="1700" b="1">
                <a:solidFill>
                  <a:srgbClr val="122A42"/>
                </a:solidFill>
                <a:latin typeface="Aptos"/>
              </a:rPr>
              <a:t>B ✗</a:t>
            </a:r>
          </a:p>
        </p:txBody>
      </p:sp>
      <p:sp>
        <p:nvSpPr>
          <p:cNvPr id="14" name="TextBox 13"/>
          <p:cNvSpPr txBox="1"/>
          <p:nvPr/>
        </p:nvSpPr>
        <p:spPr>
          <a:xfrm>
            <a:off x="6419088" y="1673352"/>
            <a:ext cx="4800600" cy="1124712"/>
          </a:xfrm>
          <a:prstGeom prst="rect">
            <a:avLst/>
          </a:prstGeom>
          <a:noFill/>
        </p:spPr>
        <p:txBody>
          <a:bodyPr wrap="square" lIns="27432" tIns="27432" rIns="27432" bIns="27432" anchor="t">
            <a:spAutoFit/>
          </a:bodyPr>
          <a:lstStyle/>
          <a:p>
            <a:pPr algn="l"/>
            <a:r>
              <a:rPr sz="1500" b="0">
                <a:solidFill>
                  <a:srgbClr val="26303A"/>
                </a:solidFill>
                <a:latin typeface="Aptos"/>
              </a:rPr>
              <a:t>A black box makes it difficult to verify why the decision was made.</a:t>
            </a:r>
          </a:p>
        </p:txBody>
      </p:sp>
      <p:sp>
        <p:nvSpPr>
          <p:cNvPr id="15" name="Rounded Rectangle 14"/>
          <p:cNvSpPr/>
          <p:nvPr/>
        </p:nvSpPr>
        <p:spPr>
          <a:xfrm>
            <a:off x="640080" y="3291840"/>
            <a:ext cx="5166360" cy="178308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3291840"/>
            <a:ext cx="73152" cy="1783080"/>
          </a:xfrm>
          <a:prstGeom prst="rect">
            <a:avLst/>
          </a:prstGeom>
          <a:solidFill>
            <a:srgbClr val="39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3429000"/>
            <a:ext cx="4800600" cy="320040"/>
          </a:xfrm>
          <a:prstGeom prst="rect">
            <a:avLst/>
          </a:prstGeom>
          <a:noFill/>
        </p:spPr>
        <p:txBody>
          <a:bodyPr wrap="square" lIns="27432" tIns="27432" rIns="27432" bIns="27432" anchor="t">
            <a:spAutoFit/>
          </a:bodyPr>
          <a:lstStyle/>
          <a:p>
            <a:pPr algn="l"/>
            <a:r>
              <a:rPr sz="1700" b="1">
                <a:solidFill>
                  <a:srgbClr val="122A42"/>
                </a:solidFill>
                <a:latin typeface="Aptos"/>
              </a:rPr>
              <a:t>C ✓</a:t>
            </a:r>
          </a:p>
        </p:txBody>
      </p:sp>
      <p:sp>
        <p:nvSpPr>
          <p:cNvPr id="18" name="TextBox 17"/>
          <p:cNvSpPr txBox="1"/>
          <p:nvPr/>
        </p:nvSpPr>
        <p:spPr>
          <a:xfrm>
            <a:off x="841247" y="3822191"/>
            <a:ext cx="4800600" cy="1124712"/>
          </a:xfrm>
          <a:prstGeom prst="rect">
            <a:avLst/>
          </a:prstGeom>
          <a:noFill/>
        </p:spPr>
        <p:txBody>
          <a:bodyPr wrap="square" lIns="27432" tIns="27432" rIns="27432" bIns="27432" anchor="t">
            <a:spAutoFit/>
          </a:bodyPr>
          <a:lstStyle/>
          <a:p>
            <a:pPr algn="l"/>
            <a:r>
              <a:rPr sz="1500" b="0">
                <a:solidFill>
                  <a:srgbClr val="26303A"/>
                </a:solidFill>
                <a:latin typeface="Aptos"/>
              </a:rPr>
              <a:t>That is the purpose of XAI.</a:t>
            </a:r>
          </a:p>
        </p:txBody>
      </p:sp>
      <p:sp>
        <p:nvSpPr>
          <p:cNvPr id="19" name="Rounded Rectangle 18"/>
          <p:cNvSpPr/>
          <p:nvPr/>
        </p:nvSpPr>
        <p:spPr>
          <a:xfrm>
            <a:off x="6217920" y="3291840"/>
            <a:ext cx="5166360" cy="1783080"/>
          </a:xfrm>
          <a:prstGeom prst="roundRect">
            <a:avLst/>
          </a:prstGeom>
          <a:solidFill>
            <a:srgbClr val="FAEBEB"/>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3291840"/>
            <a:ext cx="73152" cy="1783080"/>
          </a:xfrm>
          <a:prstGeom prst="rect">
            <a:avLst/>
          </a:prstGeom>
          <a:solidFill>
            <a:srgbClr val="BE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19088" y="3429000"/>
            <a:ext cx="4800600" cy="320040"/>
          </a:xfrm>
          <a:prstGeom prst="rect">
            <a:avLst/>
          </a:prstGeom>
          <a:noFill/>
        </p:spPr>
        <p:txBody>
          <a:bodyPr wrap="square" lIns="27432" tIns="27432" rIns="27432" bIns="27432" anchor="t">
            <a:spAutoFit/>
          </a:bodyPr>
          <a:lstStyle/>
          <a:p>
            <a:pPr algn="l"/>
            <a:r>
              <a:rPr sz="1700" b="1">
                <a:solidFill>
                  <a:srgbClr val="122A42"/>
                </a:solidFill>
                <a:latin typeface="Aptos"/>
              </a:rPr>
              <a:t>D ✗</a:t>
            </a:r>
          </a:p>
        </p:txBody>
      </p:sp>
      <p:sp>
        <p:nvSpPr>
          <p:cNvPr id="22" name="TextBox 21"/>
          <p:cNvSpPr txBox="1"/>
          <p:nvPr/>
        </p:nvSpPr>
        <p:spPr>
          <a:xfrm>
            <a:off x="6419088" y="3822191"/>
            <a:ext cx="4800600" cy="1124712"/>
          </a:xfrm>
          <a:prstGeom prst="rect">
            <a:avLst/>
          </a:prstGeom>
          <a:noFill/>
        </p:spPr>
        <p:txBody>
          <a:bodyPr wrap="square" lIns="27432" tIns="27432" rIns="27432" bIns="27432" anchor="t">
            <a:spAutoFit/>
          </a:bodyPr>
          <a:lstStyle/>
          <a:p>
            <a:pPr algn="l"/>
            <a:r>
              <a:rPr sz="1500" b="0">
                <a:solidFill>
                  <a:srgbClr val="26303A"/>
                </a:solidFill>
                <a:latin typeface="Aptos"/>
              </a:rPr>
              <a:t>Responsibility can differ among developer, user and operator.</a:t>
            </a:r>
          </a:p>
        </p:txBody>
      </p:sp>
      <p:sp>
        <p:nvSpPr>
          <p:cNvPr id="23" name="TextBox 22"/>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Question practice: ethics vocabulary</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1-4 • TRY</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45</a:t>
            </a:r>
          </a:p>
        </p:txBody>
      </p:sp>
      <p:sp>
        <p:nvSpPr>
          <p:cNvPr id="7" name="Rounded Rectangle 6"/>
          <p:cNvSpPr/>
          <p:nvPr/>
        </p:nvSpPr>
        <p:spPr>
          <a:xfrm>
            <a:off x="594360" y="932688"/>
            <a:ext cx="960120" cy="347472"/>
          </a:xfrm>
          <a:prstGeom prst="roundRect">
            <a:avLst/>
          </a:prstGeom>
          <a:solidFill>
            <a:srgbClr val="FDF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969264"/>
            <a:ext cx="813816" cy="237744"/>
          </a:xfrm>
          <a:prstGeom prst="rect">
            <a:avLst/>
          </a:prstGeom>
          <a:noFill/>
        </p:spPr>
        <p:txBody>
          <a:bodyPr wrap="square" lIns="27432" tIns="27432" rIns="27432" bIns="27432" anchor="ctr">
            <a:spAutoFit/>
          </a:bodyPr>
          <a:lstStyle/>
          <a:p>
            <a:pPr algn="ctr"/>
            <a:r>
              <a:rPr sz="1000" b="1">
                <a:solidFill>
                  <a:srgbClr val="EE8C2A"/>
                </a:solidFill>
                <a:latin typeface="Aptos"/>
              </a:rPr>
              <a:t>TRY</a:t>
            </a:r>
          </a:p>
        </p:txBody>
      </p:sp>
      <p:sp>
        <p:nvSpPr>
          <p:cNvPr id="9" name="TextBox 8"/>
          <p:cNvSpPr txBox="1"/>
          <p:nvPr/>
        </p:nvSpPr>
        <p:spPr>
          <a:xfrm>
            <a:off x="731520" y="1417320"/>
            <a:ext cx="10515600" cy="4297680"/>
          </a:xfrm>
          <a:prstGeom prst="rect">
            <a:avLst/>
          </a:prstGeom>
          <a:noFill/>
        </p:spPr>
        <p:txBody>
          <a:bodyPr wrap="square" lIns="36576" tIns="27432" rIns="36576" bIns="27432">
            <a:spAutoFit/>
          </a:bodyPr>
          <a:lstStyle/>
          <a:p>
            <a:pPr>
              <a:spcAft>
                <a:spcPts val="800"/>
              </a:spcAft>
              <a:defRPr sz="1750">
                <a:solidFill>
                  <a:srgbClr val="26303A"/>
                </a:solidFill>
                <a:latin typeface="Aptos"/>
              </a:defRPr>
            </a:pPr>
            <a:r>
              <a:t>• 1. What is the term for bias in AI judgments caused by biased training data?</a:t>
            </a:r>
          </a:p>
          <a:p>
            <a:pPr>
              <a:spcAft>
                <a:spcPts val="800"/>
              </a:spcAft>
              <a:defRPr sz="1750">
                <a:solidFill>
                  <a:srgbClr val="26303A"/>
                </a:solidFill>
                <a:latin typeface="Aptos"/>
              </a:defRPr>
            </a:pPr>
            <a:r>
              <a:t>• 2. What technology helps humans understand why an AI made a judgment? Give its 3-letter abbreviation.</a:t>
            </a:r>
          </a:p>
          <a:p>
            <a:pPr>
              <a:spcAft>
                <a:spcPts val="800"/>
              </a:spcAft>
              <a:defRPr sz="1750">
                <a:solidFill>
                  <a:srgbClr val="26303A"/>
                </a:solidFill>
                <a:latin typeface="Aptos"/>
              </a:defRPr>
            </a:pPr>
            <a:r>
              <a:t>• 3. Which principle means not unjustly discriminating against a person or group?</a:t>
            </a:r>
          </a:p>
          <a:p>
            <a:pPr>
              <a:spcAft>
                <a:spcPts val="800"/>
              </a:spcAft>
              <a:defRPr sz="1750">
                <a:solidFill>
                  <a:srgbClr val="26303A"/>
                </a:solidFill>
                <a:latin typeface="Aptos"/>
              </a:defRPr>
            </a:pPr>
            <a:r>
              <a:t>• 4. Which principle means handling personal information appropriately?</a:t>
            </a:r>
          </a:p>
        </p:txBody>
      </p:sp>
      <p:sp>
        <p:nvSpPr>
          <p:cNvPr id="10" name="TextBox 9"/>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Answers: ethics vocabulary</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1-4 • TRY</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46</a:t>
            </a:r>
          </a:p>
        </p:txBody>
      </p:sp>
      <p:sp>
        <p:nvSpPr>
          <p:cNvPr id="7" name="Rounded Rectangle 6"/>
          <p:cNvSpPr/>
          <p:nvPr/>
        </p:nvSpPr>
        <p:spPr>
          <a:xfrm>
            <a:off x="640080" y="1097280"/>
            <a:ext cx="5212080" cy="1005840"/>
          </a:xfrm>
          <a:prstGeom prst="roundRect">
            <a:avLst/>
          </a:prstGeom>
          <a:solidFill>
            <a:srgbClr val="FAEBEB"/>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097280"/>
            <a:ext cx="73152" cy="1005840"/>
          </a:xfrm>
          <a:prstGeom prst="rect">
            <a:avLst/>
          </a:prstGeom>
          <a:solidFill>
            <a:srgbClr val="BE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234439"/>
            <a:ext cx="4846320" cy="320040"/>
          </a:xfrm>
          <a:prstGeom prst="rect">
            <a:avLst/>
          </a:prstGeom>
          <a:noFill/>
        </p:spPr>
        <p:txBody>
          <a:bodyPr wrap="square" lIns="27432" tIns="27432" rIns="27432" bIns="27432" anchor="t">
            <a:spAutoFit/>
          </a:bodyPr>
          <a:lstStyle/>
          <a:p>
            <a:pPr algn="l"/>
            <a:r>
              <a:rPr sz="1700" b="1">
                <a:solidFill>
                  <a:srgbClr val="122A42"/>
                </a:solidFill>
                <a:latin typeface="Aptos"/>
              </a:rPr>
              <a:t>1</a:t>
            </a:r>
          </a:p>
        </p:txBody>
      </p:sp>
      <p:sp>
        <p:nvSpPr>
          <p:cNvPr id="10" name="TextBox 9"/>
          <p:cNvSpPr txBox="1"/>
          <p:nvPr/>
        </p:nvSpPr>
        <p:spPr>
          <a:xfrm>
            <a:off x="841247" y="1627631"/>
            <a:ext cx="4846320" cy="347472"/>
          </a:xfrm>
          <a:prstGeom prst="rect">
            <a:avLst/>
          </a:prstGeom>
          <a:noFill/>
        </p:spPr>
        <p:txBody>
          <a:bodyPr wrap="square" lIns="27432" tIns="27432" rIns="27432" bIns="27432" anchor="t">
            <a:spAutoFit/>
          </a:bodyPr>
          <a:lstStyle/>
          <a:p>
            <a:pPr algn="l"/>
            <a:r>
              <a:rPr sz="1600" b="0">
                <a:solidFill>
                  <a:srgbClr val="26303A"/>
                </a:solidFill>
                <a:latin typeface="Aptos"/>
              </a:rPr>
              <a:t>Algorithmic bias</a:t>
            </a:r>
          </a:p>
        </p:txBody>
      </p:sp>
      <p:sp>
        <p:nvSpPr>
          <p:cNvPr id="11" name="Rounded Rectangle 10"/>
          <p:cNvSpPr/>
          <p:nvPr/>
        </p:nvSpPr>
        <p:spPr>
          <a:xfrm>
            <a:off x="6217920" y="1097280"/>
            <a:ext cx="5212080" cy="100584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097280"/>
            <a:ext cx="73152" cy="100584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19088" y="1234439"/>
            <a:ext cx="4846320" cy="320040"/>
          </a:xfrm>
          <a:prstGeom prst="rect">
            <a:avLst/>
          </a:prstGeom>
          <a:noFill/>
        </p:spPr>
        <p:txBody>
          <a:bodyPr wrap="square" lIns="27432" tIns="27432" rIns="27432" bIns="27432" anchor="t">
            <a:spAutoFit/>
          </a:bodyPr>
          <a:lstStyle/>
          <a:p>
            <a:pPr algn="l"/>
            <a:r>
              <a:rPr sz="1700" b="1">
                <a:solidFill>
                  <a:srgbClr val="122A42"/>
                </a:solidFill>
                <a:latin typeface="Aptos"/>
              </a:rPr>
              <a:t>2</a:t>
            </a:r>
          </a:p>
        </p:txBody>
      </p:sp>
      <p:sp>
        <p:nvSpPr>
          <p:cNvPr id="14" name="TextBox 13"/>
          <p:cNvSpPr txBox="1"/>
          <p:nvPr/>
        </p:nvSpPr>
        <p:spPr>
          <a:xfrm>
            <a:off x="6419088" y="1627631"/>
            <a:ext cx="4846320" cy="347472"/>
          </a:xfrm>
          <a:prstGeom prst="rect">
            <a:avLst/>
          </a:prstGeom>
          <a:noFill/>
        </p:spPr>
        <p:txBody>
          <a:bodyPr wrap="square" lIns="27432" tIns="27432" rIns="27432" bIns="27432" anchor="t">
            <a:spAutoFit/>
          </a:bodyPr>
          <a:lstStyle/>
          <a:p>
            <a:pPr algn="l"/>
            <a:r>
              <a:rPr sz="1600" b="0">
                <a:solidFill>
                  <a:srgbClr val="26303A"/>
                </a:solidFill>
                <a:latin typeface="Aptos"/>
              </a:rPr>
              <a:t>Explainable AI (XAI)</a:t>
            </a:r>
          </a:p>
        </p:txBody>
      </p:sp>
      <p:sp>
        <p:nvSpPr>
          <p:cNvPr id="15" name="Rounded Rectangle 14"/>
          <p:cNvSpPr/>
          <p:nvPr/>
        </p:nvSpPr>
        <p:spPr>
          <a:xfrm>
            <a:off x="640080" y="2423160"/>
            <a:ext cx="5212080" cy="1005840"/>
          </a:xfrm>
          <a:prstGeom prst="roundRect">
            <a:avLst/>
          </a:prstGeom>
          <a:solidFill>
            <a:srgbClr val="E7F1F8"/>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2423160"/>
            <a:ext cx="73152" cy="1005840"/>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2560320"/>
            <a:ext cx="4846320" cy="320040"/>
          </a:xfrm>
          <a:prstGeom prst="rect">
            <a:avLst/>
          </a:prstGeom>
          <a:noFill/>
        </p:spPr>
        <p:txBody>
          <a:bodyPr wrap="square" lIns="27432" tIns="27432" rIns="27432" bIns="27432" anchor="t">
            <a:spAutoFit/>
          </a:bodyPr>
          <a:lstStyle/>
          <a:p>
            <a:pPr algn="l"/>
            <a:r>
              <a:rPr sz="1700" b="1">
                <a:solidFill>
                  <a:srgbClr val="122A42"/>
                </a:solidFill>
                <a:latin typeface="Aptos"/>
              </a:rPr>
              <a:t>3</a:t>
            </a:r>
          </a:p>
        </p:txBody>
      </p:sp>
      <p:sp>
        <p:nvSpPr>
          <p:cNvPr id="18" name="TextBox 17"/>
          <p:cNvSpPr txBox="1"/>
          <p:nvPr/>
        </p:nvSpPr>
        <p:spPr>
          <a:xfrm>
            <a:off x="841247" y="2953512"/>
            <a:ext cx="4846320" cy="347472"/>
          </a:xfrm>
          <a:prstGeom prst="rect">
            <a:avLst/>
          </a:prstGeom>
          <a:noFill/>
        </p:spPr>
        <p:txBody>
          <a:bodyPr wrap="square" lIns="27432" tIns="27432" rIns="27432" bIns="27432" anchor="t">
            <a:spAutoFit/>
          </a:bodyPr>
          <a:lstStyle/>
          <a:p>
            <a:pPr algn="l"/>
            <a:r>
              <a:rPr sz="1600" b="0">
                <a:solidFill>
                  <a:srgbClr val="26303A"/>
                </a:solidFill>
                <a:latin typeface="Aptos"/>
              </a:rPr>
              <a:t>Fairness</a:t>
            </a:r>
          </a:p>
        </p:txBody>
      </p:sp>
      <p:sp>
        <p:nvSpPr>
          <p:cNvPr id="19" name="Rounded Rectangle 18"/>
          <p:cNvSpPr/>
          <p:nvPr/>
        </p:nvSpPr>
        <p:spPr>
          <a:xfrm>
            <a:off x="6217920" y="2423160"/>
            <a:ext cx="5212080" cy="1005840"/>
          </a:xfrm>
          <a:prstGeom prst="roundRect">
            <a:avLst/>
          </a:prstGeom>
          <a:solidFill>
            <a:srgbClr val="F1EDF9"/>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2423160"/>
            <a:ext cx="73152" cy="1005840"/>
          </a:xfrm>
          <a:prstGeom prst="rect">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19088" y="2560320"/>
            <a:ext cx="4846320" cy="320040"/>
          </a:xfrm>
          <a:prstGeom prst="rect">
            <a:avLst/>
          </a:prstGeom>
          <a:noFill/>
        </p:spPr>
        <p:txBody>
          <a:bodyPr wrap="square" lIns="27432" tIns="27432" rIns="27432" bIns="27432" anchor="t">
            <a:spAutoFit/>
          </a:bodyPr>
          <a:lstStyle/>
          <a:p>
            <a:pPr algn="l"/>
            <a:r>
              <a:rPr sz="1700" b="1">
                <a:solidFill>
                  <a:srgbClr val="122A42"/>
                </a:solidFill>
                <a:latin typeface="Aptos"/>
              </a:rPr>
              <a:t>4</a:t>
            </a:r>
          </a:p>
        </p:txBody>
      </p:sp>
      <p:sp>
        <p:nvSpPr>
          <p:cNvPr id="22" name="TextBox 21"/>
          <p:cNvSpPr txBox="1"/>
          <p:nvPr/>
        </p:nvSpPr>
        <p:spPr>
          <a:xfrm>
            <a:off x="6419088" y="2953512"/>
            <a:ext cx="4846320" cy="347472"/>
          </a:xfrm>
          <a:prstGeom prst="rect">
            <a:avLst/>
          </a:prstGeom>
          <a:noFill/>
        </p:spPr>
        <p:txBody>
          <a:bodyPr wrap="square" lIns="27432" tIns="27432" rIns="27432" bIns="27432" anchor="t">
            <a:spAutoFit/>
          </a:bodyPr>
          <a:lstStyle/>
          <a:p>
            <a:pPr algn="l"/>
            <a:r>
              <a:rPr sz="1600" b="0">
                <a:solidFill>
                  <a:srgbClr val="26303A"/>
                </a:solidFill>
                <a:latin typeface="Aptos"/>
              </a:rPr>
              <a:t>Privacy protection</a:t>
            </a:r>
          </a:p>
        </p:txBody>
      </p:sp>
      <p:sp>
        <p:nvSpPr>
          <p:cNvPr id="23" name="TextBox 22"/>
          <p:cNvSpPr txBox="1"/>
          <p:nvPr/>
        </p:nvSpPr>
        <p:spPr>
          <a:xfrm>
            <a:off x="685800" y="3977639"/>
            <a:ext cx="10607040" cy="685800"/>
          </a:xfrm>
          <a:prstGeom prst="rect">
            <a:avLst/>
          </a:prstGeom>
          <a:noFill/>
        </p:spPr>
        <p:txBody>
          <a:bodyPr wrap="square" lIns="27432" tIns="27432" rIns="27432" bIns="27432" anchor="t">
            <a:spAutoFit/>
          </a:bodyPr>
          <a:lstStyle/>
          <a:p>
            <a:pPr algn="ctr"/>
            <a:r>
              <a:rPr sz="1700" b="1">
                <a:solidFill>
                  <a:srgbClr val="122A42"/>
                </a:solidFill>
                <a:latin typeface="Aptos"/>
              </a:rPr>
              <a:t>Question clue → principle: “not discrimination” = fairness; “personal information” = privacy protection.</a:t>
            </a:r>
          </a:p>
        </p:txBody>
      </p:sp>
      <p:sp>
        <p:nvSpPr>
          <p:cNvPr id="24" name="TextBox 23"/>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Think as an Engineer: make hiring AI fairer</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1-4 • INVESTIGATE &amp; DECIDE</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47</a:t>
            </a:r>
          </a:p>
        </p:txBody>
      </p:sp>
      <p:sp>
        <p:nvSpPr>
          <p:cNvPr id="7" name="Rounded Rectangle 6"/>
          <p:cNvSpPr/>
          <p:nvPr/>
        </p:nvSpPr>
        <p:spPr>
          <a:xfrm>
            <a:off x="640080" y="1097280"/>
            <a:ext cx="3429000" cy="2057400"/>
          </a:xfrm>
          <a:prstGeom prst="roundRect">
            <a:avLst/>
          </a:prstGeom>
          <a:solidFill>
            <a:srgbClr val="FAEBEB"/>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097280"/>
            <a:ext cx="73152" cy="2057400"/>
          </a:xfrm>
          <a:prstGeom prst="rect">
            <a:avLst/>
          </a:prstGeom>
          <a:solidFill>
            <a:srgbClr val="BE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234439"/>
            <a:ext cx="3063240" cy="320040"/>
          </a:xfrm>
          <a:prstGeom prst="rect">
            <a:avLst/>
          </a:prstGeom>
          <a:noFill/>
        </p:spPr>
        <p:txBody>
          <a:bodyPr wrap="square" lIns="27432" tIns="27432" rIns="27432" bIns="27432" anchor="t">
            <a:spAutoFit/>
          </a:bodyPr>
          <a:lstStyle/>
          <a:p>
            <a:pPr algn="l"/>
            <a:r>
              <a:rPr sz="1700" b="1">
                <a:solidFill>
                  <a:srgbClr val="122A42"/>
                </a:solidFill>
                <a:latin typeface="Aptos"/>
              </a:rPr>
              <a:t>Investigate</a:t>
            </a:r>
          </a:p>
        </p:txBody>
      </p:sp>
      <p:sp>
        <p:nvSpPr>
          <p:cNvPr id="10" name="TextBox 9"/>
          <p:cNvSpPr txBox="1"/>
          <p:nvPr/>
        </p:nvSpPr>
        <p:spPr>
          <a:xfrm>
            <a:off x="841247" y="1627631"/>
            <a:ext cx="3063240" cy="1399032"/>
          </a:xfrm>
          <a:prstGeom prst="rect">
            <a:avLst/>
          </a:prstGeom>
          <a:noFill/>
        </p:spPr>
        <p:txBody>
          <a:bodyPr wrap="square" lIns="27432" tIns="27432" rIns="27432" bIns="27432" anchor="t">
            <a:spAutoFit/>
          </a:bodyPr>
          <a:lstStyle/>
          <a:p>
            <a:pPr algn="l"/>
            <a:r>
              <a:rPr sz="1400" b="0">
                <a:solidFill>
                  <a:srgbClr val="26303A"/>
                </a:solidFill>
                <a:latin typeface="Aptos"/>
              </a:rPr>
              <a:t>Find a documented case where an AI system was accused of being unfair or biased. Record the source.</a:t>
            </a:r>
          </a:p>
        </p:txBody>
      </p:sp>
      <p:sp>
        <p:nvSpPr>
          <p:cNvPr id="11" name="Rounded Rectangle 10"/>
          <p:cNvSpPr/>
          <p:nvPr/>
        </p:nvSpPr>
        <p:spPr>
          <a:xfrm>
            <a:off x="4389120" y="1097280"/>
            <a:ext cx="3429000" cy="2057400"/>
          </a:xfrm>
          <a:prstGeom prst="roundRect">
            <a:avLst/>
          </a:prstGeom>
          <a:solidFill>
            <a:srgbClr val="F1EDF9"/>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097280"/>
            <a:ext cx="73152" cy="2057400"/>
          </a:xfrm>
          <a:prstGeom prst="rect">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0288" y="1234439"/>
            <a:ext cx="3063240" cy="320040"/>
          </a:xfrm>
          <a:prstGeom prst="rect">
            <a:avLst/>
          </a:prstGeom>
          <a:noFill/>
        </p:spPr>
        <p:txBody>
          <a:bodyPr wrap="square" lIns="27432" tIns="27432" rIns="27432" bIns="27432" anchor="t">
            <a:spAutoFit/>
          </a:bodyPr>
          <a:lstStyle/>
          <a:p>
            <a:pPr algn="l"/>
            <a:r>
              <a:rPr sz="1700" b="1">
                <a:solidFill>
                  <a:srgbClr val="122A42"/>
                </a:solidFill>
                <a:latin typeface="Aptos"/>
              </a:rPr>
              <a:t>Consider responsibility</a:t>
            </a:r>
          </a:p>
        </p:txBody>
      </p:sp>
      <p:sp>
        <p:nvSpPr>
          <p:cNvPr id="14" name="TextBox 13"/>
          <p:cNvSpPr txBox="1"/>
          <p:nvPr/>
        </p:nvSpPr>
        <p:spPr>
          <a:xfrm>
            <a:off x="4590288" y="1627631"/>
            <a:ext cx="3063240" cy="1399032"/>
          </a:xfrm>
          <a:prstGeom prst="rect">
            <a:avLst/>
          </a:prstGeom>
          <a:noFill/>
        </p:spPr>
        <p:txBody>
          <a:bodyPr wrap="square" lIns="27432" tIns="27432" rIns="27432" bIns="27432" anchor="t">
            <a:spAutoFit/>
          </a:bodyPr>
          <a:lstStyle/>
          <a:p>
            <a:pPr algn="l"/>
            <a:r>
              <a:rPr sz="1400" b="0">
                <a:solidFill>
                  <a:srgbClr val="26303A"/>
                </a:solidFill>
                <a:latin typeface="Aptos"/>
              </a:rPr>
              <a:t>Who is responsible: developer, company, or operator? Note the responsibility each holds.</a:t>
            </a:r>
          </a:p>
        </p:txBody>
      </p:sp>
      <p:sp>
        <p:nvSpPr>
          <p:cNvPr id="15" name="Rounded Rectangle 14"/>
          <p:cNvSpPr/>
          <p:nvPr/>
        </p:nvSpPr>
        <p:spPr>
          <a:xfrm>
            <a:off x="8138160" y="1097280"/>
            <a:ext cx="3429000" cy="205740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097280"/>
            <a:ext cx="73152" cy="205740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8" y="1234439"/>
            <a:ext cx="3063240" cy="320040"/>
          </a:xfrm>
          <a:prstGeom prst="rect">
            <a:avLst/>
          </a:prstGeom>
          <a:noFill/>
        </p:spPr>
        <p:txBody>
          <a:bodyPr wrap="square" lIns="27432" tIns="27432" rIns="27432" bIns="27432" anchor="t">
            <a:spAutoFit/>
          </a:bodyPr>
          <a:lstStyle/>
          <a:p>
            <a:pPr algn="l"/>
            <a:r>
              <a:rPr sz="1700" b="1">
                <a:solidFill>
                  <a:srgbClr val="122A42"/>
                </a:solidFill>
                <a:latin typeface="Aptos"/>
              </a:rPr>
              <a:t>Decide</a:t>
            </a:r>
          </a:p>
        </p:txBody>
      </p:sp>
      <p:sp>
        <p:nvSpPr>
          <p:cNvPr id="18" name="TextBox 17"/>
          <p:cNvSpPr txBox="1"/>
          <p:nvPr/>
        </p:nvSpPr>
        <p:spPr>
          <a:xfrm>
            <a:off x="8339328" y="1627631"/>
            <a:ext cx="3063240" cy="1399032"/>
          </a:xfrm>
          <a:prstGeom prst="rect">
            <a:avLst/>
          </a:prstGeom>
          <a:noFill/>
        </p:spPr>
        <p:txBody>
          <a:bodyPr wrap="square" lIns="27432" tIns="27432" rIns="27432" bIns="27432" anchor="t">
            <a:spAutoFit/>
          </a:bodyPr>
          <a:lstStyle/>
          <a:p>
            <a:pPr algn="l"/>
            <a:r>
              <a:rPr sz="1400" b="0">
                <a:solidFill>
                  <a:srgbClr val="26303A"/>
                </a:solidFill>
                <a:latin typeface="Aptos"/>
              </a:rPr>
              <a:t>Propose one rule before using hiring AI. Justify it using fairness + transparency.</a:t>
            </a:r>
          </a:p>
        </p:txBody>
      </p:sp>
      <p:sp>
        <p:nvSpPr>
          <p:cNvPr id="19" name="TextBox 18"/>
          <p:cNvSpPr txBox="1"/>
          <p:nvPr/>
        </p:nvSpPr>
        <p:spPr>
          <a:xfrm>
            <a:off x="685800" y="3703320"/>
            <a:ext cx="10607040" cy="411480"/>
          </a:xfrm>
          <a:prstGeom prst="rect">
            <a:avLst/>
          </a:prstGeom>
          <a:noFill/>
        </p:spPr>
        <p:txBody>
          <a:bodyPr wrap="square" lIns="27432" tIns="27432" rIns="27432" bIns="27432" anchor="t">
            <a:spAutoFit/>
          </a:bodyPr>
          <a:lstStyle/>
          <a:p>
            <a:pPr algn="l"/>
            <a:r>
              <a:rPr sz="1700" b="1">
                <a:solidFill>
                  <a:srgbClr val="122A42"/>
                </a:solidFill>
                <a:latin typeface="Aptos"/>
              </a:rPr>
              <a:t>New context question</a:t>
            </a:r>
          </a:p>
        </p:txBody>
      </p:sp>
      <p:sp>
        <p:nvSpPr>
          <p:cNvPr id="20" name="TextBox 19"/>
          <p:cNvSpPr txBox="1"/>
          <p:nvPr/>
        </p:nvSpPr>
        <p:spPr>
          <a:xfrm>
            <a:off x="685800" y="4160520"/>
            <a:ext cx="10424160" cy="1234440"/>
          </a:xfrm>
          <a:prstGeom prst="rect">
            <a:avLst/>
          </a:prstGeom>
          <a:noFill/>
        </p:spPr>
        <p:txBody>
          <a:bodyPr wrap="square" lIns="27432" tIns="27432" rIns="27432" bIns="27432" anchor="t">
            <a:spAutoFit/>
          </a:bodyPr>
          <a:lstStyle/>
          <a:p>
            <a:pPr algn="l"/>
            <a:r>
              <a:rPr sz="1900" b="0">
                <a:solidFill>
                  <a:srgbClr val="26303A"/>
                </a:solidFill>
                <a:latin typeface="Aptos"/>
              </a:rPr>
              <a:t>A school uses face-recognition cameras for attendance. Give one benefit, one privacy concern, and say who should be responsible if a student is misidentified.</a:t>
            </a:r>
          </a:p>
        </p:txBody>
      </p:sp>
      <p:sp>
        <p:nvSpPr>
          <p:cNvPr id="21" name="Rounded Rectangle 20"/>
          <p:cNvSpPr/>
          <p:nvPr/>
        </p:nvSpPr>
        <p:spPr>
          <a:xfrm>
            <a:off x="731520" y="5715000"/>
            <a:ext cx="2834640" cy="347472"/>
          </a:xfrm>
          <a:prstGeom prst="roundRect">
            <a:avLst/>
          </a:prstGeom>
          <a:solidFill>
            <a:srgbClr val="FDF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672" y="5751576"/>
            <a:ext cx="2688336" cy="237744"/>
          </a:xfrm>
          <a:prstGeom prst="rect">
            <a:avLst/>
          </a:prstGeom>
          <a:noFill/>
        </p:spPr>
        <p:txBody>
          <a:bodyPr wrap="square" lIns="27432" tIns="27432" rIns="27432" bIns="27432" anchor="ctr">
            <a:spAutoFit/>
          </a:bodyPr>
          <a:lstStyle/>
          <a:p>
            <a:pPr algn="ctr"/>
            <a:r>
              <a:rPr sz="1000" b="1">
                <a:solidFill>
                  <a:srgbClr val="EE8C2A"/>
                </a:solidFill>
                <a:latin typeface="Aptos"/>
              </a:rPr>
              <a:t>NO SINGLE “MAGIC” ANSWER</a:t>
            </a:r>
          </a:p>
        </p:txBody>
      </p:sp>
      <p:sp>
        <p:nvSpPr>
          <p:cNvPr id="23" name="TextBox 22"/>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241280" cy="502920"/>
          </a:xfrm>
          <a:prstGeom prst="rect">
            <a:avLst/>
          </a:prstGeom>
          <a:noFill/>
        </p:spPr>
        <p:txBody>
          <a:bodyPr wrap="none">
            <a:spAutoFit/>
          </a:bodyPr>
          <a:lstStyle/>
          <a:p>
            <a:r>
              <a:rPr sz="2600" b="1">
                <a:solidFill>
                  <a:srgbClr val="122A42"/>
                </a:solidFill>
                <a:latin typeface="Aptos Display"/>
              </a:rPr>
              <a:t>Chapter 1: what students should remember</a:t>
            </a:r>
          </a:p>
        </p:txBody>
      </p:sp>
      <p:sp>
        <p:nvSpPr>
          <p:cNvPr id="5" name="TextBox 4"/>
          <p:cNvSpPr txBox="1"/>
          <p:nvPr/>
        </p:nvSpPr>
        <p:spPr>
          <a:xfrm>
            <a:off x="521207" y="758952"/>
            <a:ext cx="9144000" cy="228600"/>
          </a:xfrm>
          <a:prstGeom prst="rect">
            <a:avLst/>
          </a:prstGeom>
          <a:noFill/>
        </p:spPr>
        <p:txBody>
          <a:bodyPr wrap="none">
            <a:spAutoFit/>
          </a:bodyPr>
          <a:lstStyle/>
          <a:p>
            <a:r>
              <a:rPr sz="900" b="1">
                <a:solidFill>
                  <a:srgbClr val="122A42"/>
                </a:solidFill>
                <a:latin typeface="Aptos"/>
              </a:rPr>
              <a:t>FINAL REVIEW</a:t>
            </a:r>
          </a:p>
        </p:txBody>
      </p:sp>
      <p:sp>
        <p:nvSpPr>
          <p:cNvPr id="6" name="TextBox 5"/>
          <p:cNvSpPr txBox="1"/>
          <p:nvPr/>
        </p:nvSpPr>
        <p:spPr>
          <a:xfrm>
            <a:off x="11201400" y="6428232"/>
            <a:ext cx="502920" cy="228600"/>
          </a:xfrm>
          <a:prstGeom prst="rect">
            <a:avLst/>
          </a:prstGeom>
          <a:noFill/>
        </p:spPr>
        <p:txBody>
          <a:bodyPr wrap="none">
            <a:spAutoFit/>
          </a:bodyPr>
          <a:lstStyle/>
          <a:p>
            <a:pPr algn="r"/>
            <a:r>
              <a:rPr sz="900">
                <a:solidFill>
                  <a:srgbClr val="66737E"/>
                </a:solidFill>
                <a:latin typeface="Aptos"/>
              </a:rPr>
              <a:t>48</a:t>
            </a:r>
          </a:p>
        </p:txBody>
      </p:sp>
      <p:sp>
        <p:nvSpPr>
          <p:cNvPr id="7" name="Rounded Rectangle 6"/>
          <p:cNvSpPr/>
          <p:nvPr/>
        </p:nvSpPr>
        <p:spPr>
          <a:xfrm>
            <a:off x="640080" y="1005840"/>
            <a:ext cx="5212080" cy="1417320"/>
          </a:xfrm>
          <a:prstGeom prst="roundRect">
            <a:avLst/>
          </a:prstGeom>
          <a:solidFill>
            <a:srgbClr val="E7F1F8"/>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005840"/>
            <a:ext cx="73152" cy="1417320"/>
          </a:xfrm>
          <a:prstGeom prst="rect">
            <a:avLst/>
          </a:prstGeom>
          <a:solidFill>
            <a:srgbClr val="1B5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143000"/>
            <a:ext cx="4846320" cy="320040"/>
          </a:xfrm>
          <a:prstGeom prst="rect">
            <a:avLst/>
          </a:prstGeom>
          <a:noFill/>
        </p:spPr>
        <p:txBody>
          <a:bodyPr wrap="square" lIns="27432" tIns="27432" rIns="27432" bIns="27432" anchor="t">
            <a:spAutoFit/>
          </a:bodyPr>
          <a:lstStyle/>
          <a:p>
            <a:pPr algn="l"/>
            <a:r>
              <a:rPr sz="1700" b="1">
                <a:solidFill>
                  <a:srgbClr val="122A42"/>
                </a:solidFill>
                <a:latin typeface="Aptos"/>
              </a:rPr>
              <a:t>1-1 • IT changes society</a:t>
            </a:r>
          </a:p>
        </p:txBody>
      </p:sp>
      <p:sp>
        <p:nvSpPr>
          <p:cNvPr id="10" name="TextBox 9"/>
          <p:cNvSpPr txBox="1"/>
          <p:nvPr/>
        </p:nvSpPr>
        <p:spPr>
          <a:xfrm>
            <a:off x="841247" y="1536192"/>
            <a:ext cx="4846320" cy="758952"/>
          </a:xfrm>
          <a:prstGeom prst="rect">
            <a:avLst/>
          </a:prstGeom>
          <a:noFill/>
        </p:spPr>
        <p:txBody>
          <a:bodyPr wrap="square" lIns="27432" tIns="27432" rIns="27432" bIns="27432" anchor="t">
            <a:spAutoFit/>
          </a:bodyPr>
          <a:lstStyle/>
          <a:p>
            <a:pPr algn="l"/>
            <a:r>
              <a:rPr sz="1400" b="0">
                <a:solidFill>
                  <a:srgbClr val="26303A"/>
                </a:solidFill>
                <a:latin typeface="Aptos"/>
              </a:rPr>
              <a:t>Computers → Internet → smartphones → cloud. IT changes communication, work, learning and payments.</a:t>
            </a:r>
          </a:p>
        </p:txBody>
      </p:sp>
      <p:sp>
        <p:nvSpPr>
          <p:cNvPr id="11" name="Rounded Rectangle 10"/>
          <p:cNvSpPr/>
          <p:nvPr/>
        </p:nvSpPr>
        <p:spPr>
          <a:xfrm>
            <a:off x="6217920" y="1005840"/>
            <a:ext cx="5212080" cy="1417320"/>
          </a:xfrm>
          <a:prstGeom prst="roundRect">
            <a:avLst/>
          </a:prstGeom>
          <a:solidFill>
            <a:srgbClr val="E5F5F4"/>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005840"/>
            <a:ext cx="73152" cy="1417320"/>
          </a:xfrm>
          <a:prstGeom prst="rect">
            <a:avLst/>
          </a:prstGeom>
          <a:solidFill>
            <a:srgbClr val="008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19088" y="1143000"/>
            <a:ext cx="4846320" cy="320040"/>
          </a:xfrm>
          <a:prstGeom prst="rect">
            <a:avLst/>
          </a:prstGeom>
          <a:noFill/>
        </p:spPr>
        <p:txBody>
          <a:bodyPr wrap="square" lIns="27432" tIns="27432" rIns="27432" bIns="27432" anchor="t">
            <a:spAutoFit/>
          </a:bodyPr>
          <a:lstStyle/>
          <a:p>
            <a:pPr algn="l"/>
            <a:r>
              <a:rPr sz="1700" b="1">
                <a:solidFill>
                  <a:srgbClr val="122A42"/>
                </a:solidFill>
                <a:latin typeface="Aptos"/>
              </a:rPr>
              <a:t>1-2 • AI is nested</a:t>
            </a:r>
          </a:p>
        </p:txBody>
      </p:sp>
      <p:sp>
        <p:nvSpPr>
          <p:cNvPr id="14" name="TextBox 13"/>
          <p:cNvSpPr txBox="1"/>
          <p:nvPr/>
        </p:nvSpPr>
        <p:spPr>
          <a:xfrm>
            <a:off x="6419088" y="1536192"/>
            <a:ext cx="4846320" cy="758952"/>
          </a:xfrm>
          <a:prstGeom prst="rect">
            <a:avLst/>
          </a:prstGeom>
          <a:noFill/>
        </p:spPr>
        <p:txBody>
          <a:bodyPr wrap="square" lIns="27432" tIns="27432" rIns="27432" bIns="27432" anchor="t">
            <a:spAutoFit/>
          </a:bodyPr>
          <a:lstStyle/>
          <a:p>
            <a:pPr algn="l"/>
            <a:r>
              <a:rPr sz="1400" b="0">
                <a:solidFill>
                  <a:srgbClr val="26303A"/>
                </a:solidFill>
                <a:latin typeface="Aptos"/>
              </a:rPr>
              <a:t>AI → machine learning → deep learning → generative AI.</a:t>
            </a:r>
          </a:p>
        </p:txBody>
      </p:sp>
      <p:sp>
        <p:nvSpPr>
          <p:cNvPr id="15" name="Rounded Rectangle 14"/>
          <p:cNvSpPr/>
          <p:nvPr/>
        </p:nvSpPr>
        <p:spPr>
          <a:xfrm>
            <a:off x="640080" y="2743200"/>
            <a:ext cx="5212080" cy="1417320"/>
          </a:xfrm>
          <a:prstGeom prst="roundRect">
            <a:avLst/>
          </a:prstGeom>
          <a:solidFill>
            <a:srgbClr val="FDF1E1"/>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2743200"/>
            <a:ext cx="73152" cy="1417320"/>
          </a:xfrm>
          <a:prstGeom prst="rect">
            <a:avLst/>
          </a:prstGeom>
          <a:solidFill>
            <a:srgbClr val="EE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7" y="2880360"/>
            <a:ext cx="4846320" cy="320040"/>
          </a:xfrm>
          <a:prstGeom prst="rect">
            <a:avLst/>
          </a:prstGeom>
          <a:noFill/>
        </p:spPr>
        <p:txBody>
          <a:bodyPr wrap="square" lIns="27432" tIns="27432" rIns="27432" bIns="27432" anchor="t">
            <a:spAutoFit/>
          </a:bodyPr>
          <a:lstStyle/>
          <a:p>
            <a:pPr algn="l"/>
            <a:r>
              <a:rPr sz="1700" b="1">
                <a:solidFill>
                  <a:srgbClr val="122A42"/>
                </a:solidFill>
                <a:latin typeface="Aptos"/>
              </a:rPr>
              <a:t>1-3 • AI has strengths + limits</a:t>
            </a:r>
          </a:p>
        </p:txBody>
      </p:sp>
      <p:sp>
        <p:nvSpPr>
          <p:cNvPr id="18" name="TextBox 17"/>
          <p:cNvSpPr txBox="1"/>
          <p:nvPr/>
        </p:nvSpPr>
        <p:spPr>
          <a:xfrm>
            <a:off x="841247" y="3273552"/>
            <a:ext cx="4846320" cy="758952"/>
          </a:xfrm>
          <a:prstGeom prst="rect">
            <a:avLst/>
          </a:prstGeom>
          <a:noFill/>
        </p:spPr>
        <p:txBody>
          <a:bodyPr wrap="square" lIns="27432" tIns="27432" rIns="27432" bIns="27432" anchor="t">
            <a:spAutoFit/>
          </a:bodyPr>
          <a:lstStyle/>
          <a:p>
            <a:pPr algn="l"/>
            <a:r>
              <a:rPr sz="1400" b="0">
                <a:solidFill>
                  <a:srgbClr val="26303A"/>
                </a:solidFill>
                <a:latin typeface="Aptos"/>
              </a:rPr>
              <a:t>Great at patterns, recognition and prediction; humans are needed for ethics, privacy and responsibility.</a:t>
            </a:r>
          </a:p>
        </p:txBody>
      </p:sp>
      <p:sp>
        <p:nvSpPr>
          <p:cNvPr id="19" name="Rounded Rectangle 18"/>
          <p:cNvSpPr/>
          <p:nvPr/>
        </p:nvSpPr>
        <p:spPr>
          <a:xfrm>
            <a:off x="6217920" y="2743200"/>
            <a:ext cx="5212080" cy="1417320"/>
          </a:xfrm>
          <a:prstGeom prst="roundRect">
            <a:avLst/>
          </a:prstGeom>
          <a:solidFill>
            <a:srgbClr val="F1EDF9"/>
          </a:solidFill>
          <a:ln w="12700">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2743200"/>
            <a:ext cx="73152" cy="1417320"/>
          </a:xfrm>
          <a:prstGeom prst="rect">
            <a:avLst/>
          </a:prstGeom>
          <a:solidFill>
            <a:srgbClr val="6F57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19088" y="2880360"/>
            <a:ext cx="4846320" cy="320040"/>
          </a:xfrm>
          <a:prstGeom prst="rect">
            <a:avLst/>
          </a:prstGeom>
          <a:noFill/>
        </p:spPr>
        <p:txBody>
          <a:bodyPr wrap="square" lIns="27432" tIns="27432" rIns="27432" bIns="27432" anchor="t">
            <a:spAutoFit/>
          </a:bodyPr>
          <a:lstStyle/>
          <a:p>
            <a:pPr algn="l"/>
            <a:r>
              <a:rPr sz="1700" b="1">
                <a:solidFill>
                  <a:srgbClr val="122A42"/>
                </a:solidFill>
                <a:latin typeface="Aptos"/>
              </a:rPr>
              <a:t>1-4 • Responsible AI</a:t>
            </a:r>
          </a:p>
        </p:txBody>
      </p:sp>
      <p:sp>
        <p:nvSpPr>
          <p:cNvPr id="22" name="TextBox 21"/>
          <p:cNvSpPr txBox="1"/>
          <p:nvPr/>
        </p:nvSpPr>
        <p:spPr>
          <a:xfrm>
            <a:off x="6419088" y="3273552"/>
            <a:ext cx="4846320" cy="758952"/>
          </a:xfrm>
          <a:prstGeom prst="rect">
            <a:avLst/>
          </a:prstGeom>
          <a:noFill/>
        </p:spPr>
        <p:txBody>
          <a:bodyPr wrap="square" lIns="27432" tIns="27432" rIns="27432" bIns="27432" anchor="t">
            <a:spAutoFit/>
          </a:bodyPr>
          <a:lstStyle/>
          <a:p>
            <a:pPr algn="l"/>
            <a:r>
              <a:rPr sz="1400" b="0">
                <a:solidFill>
                  <a:srgbClr val="26303A"/>
                </a:solidFill>
                <a:latin typeface="Aptos"/>
              </a:rPr>
              <a:t>Watch for bias and privacy. Aim for fairness, transparency, privacy protection and accountability.</a:t>
            </a:r>
          </a:p>
        </p:txBody>
      </p:sp>
      <p:sp>
        <p:nvSpPr>
          <p:cNvPr id="23" name="TextBox 22"/>
          <p:cNvSpPr txBox="1"/>
          <p:nvPr/>
        </p:nvSpPr>
        <p:spPr>
          <a:xfrm>
            <a:off x="685800" y="4754880"/>
            <a:ext cx="10607040" cy="457200"/>
          </a:xfrm>
          <a:prstGeom prst="rect">
            <a:avLst/>
          </a:prstGeom>
          <a:noFill/>
        </p:spPr>
        <p:txBody>
          <a:bodyPr wrap="square" lIns="27432" tIns="27432" rIns="27432" bIns="27432" anchor="t">
            <a:spAutoFit/>
          </a:bodyPr>
          <a:lstStyle/>
          <a:p>
            <a:pPr algn="l"/>
            <a:r>
              <a:rPr sz="1800" b="1">
                <a:solidFill>
                  <a:srgbClr val="122A42"/>
                </a:solidFill>
                <a:latin typeface="Aptos"/>
              </a:rPr>
              <a:t>Final challenge</a:t>
            </a:r>
          </a:p>
        </p:txBody>
      </p:sp>
      <p:sp>
        <p:nvSpPr>
          <p:cNvPr id="24" name="TextBox 23"/>
          <p:cNvSpPr txBox="1"/>
          <p:nvPr/>
        </p:nvSpPr>
        <p:spPr>
          <a:xfrm>
            <a:off x="685800" y="5257800"/>
            <a:ext cx="10424160" cy="777240"/>
          </a:xfrm>
          <a:prstGeom prst="rect">
            <a:avLst/>
          </a:prstGeom>
          <a:noFill/>
        </p:spPr>
        <p:txBody>
          <a:bodyPr wrap="square" lIns="27432" tIns="27432" rIns="27432" bIns="27432" anchor="t">
            <a:spAutoFit/>
          </a:bodyPr>
          <a:lstStyle/>
          <a:p>
            <a:pPr algn="ctr"/>
            <a:r>
              <a:rPr sz="2000" b="1">
                <a:solidFill>
                  <a:srgbClr val="26303A"/>
                </a:solidFill>
                <a:latin typeface="Aptos"/>
              </a:rPr>
              <a:t>Choose one technology from Chapter 1. Explain one benefit, one risk, and one rule that would make its use safer.</a:t>
            </a:r>
          </a:p>
        </p:txBody>
      </p:sp>
      <p:sp>
        <p:nvSpPr>
          <p:cNvPr id="25" name="Rounded Rectangle 24"/>
          <p:cNvSpPr/>
          <p:nvPr/>
        </p:nvSpPr>
        <p:spPr>
          <a:xfrm>
            <a:off x="4160520" y="6126480"/>
            <a:ext cx="3840480" cy="347472"/>
          </a:xfrm>
          <a:prstGeom prst="round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33672" y="6163056"/>
            <a:ext cx="3694176" cy="237744"/>
          </a:xfrm>
          <a:prstGeom prst="rect">
            <a:avLst/>
          </a:prstGeom>
          <a:noFill/>
        </p:spPr>
        <p:txBody>
          <a:bodyPr wrap="square" lIns="27432" tIns="27432" rIns="27432" bIns="27432" anchor="ctr">
            <a:spAutoFit/>
          </a:bodyPr>
          <a:lstStyle/>
          <a:p>
            <a:pPr algn="ctr"/>
            <a:r>
              <a:rPr sz="1000" b="1">
                <a:solidFill>
                  <a:srgbClr val="FFFFFF"/>
                </a:solidFill>
                <a:latin typeface="Aptos"/>
              </a:rPr>
              <a:t>YOU ARE READY FOR THE EXAM QUESTIONS</a:t>
            </a:r>
          </a:p>
        </p:txBody>
      </p:sp>
      <p:sp>
        <p:nvSpPr>
          <p:cNvPr id="27" name="TextBox 26"/>
          <p:cNvSpPr txBox="1"/>
          <p:nvPr/>
        </p:nvSpPr>
        <p:spPr>
          <a:xfrm>
            <a:off x="502920" y="6428232"/>
            <a:ext cx="6400800" cy="228600"/>
          </a:xfrm>
          <a:prstGeom prst="rect">
            <a:avLst/>
          </a:prstGeom>
          <a:noFill/>
        </p:spPr>
        <p:txBody>
          <a:bodyPr wrap="none">
            <a:spAutoFit/>
          </a:bodyPr>
          <a:lstStyle/>
          <a:p>
            <a:r>
              <a:rPr sz="850">
                <a:solidFill>
                  <a:srgbClr val="66737E"/>
                </a:solidFill>
                <a:latin typeface="Aptos"/>
              </a:rPr>
              <a:t>Chapter 1 • Information Technology and Society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50</TotalTime>
  <Words>3751</Words>
  <Application>Microsoft Office PowerPoint</Application>
  <PresentationFormat>Widescreen</PresentationFormat>
  <Paragraphs>528</Paragraphs>
  <Slides>48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Abdulrahman Samir</cp:lastModifiedBy>
  <cp:revision>2</cp:revision>
  <dcterms:created xsi:type="dcterms:W3CDTF">2013-01-27T09:14:16Z</dcterms:created>
  <dcterms:modified xsi:type="dcterms:W3CDTF">2026-09-26T13:42:47Z</dcterms:modified>
  <cp:category/>
</cp:coreProperties>
</file>