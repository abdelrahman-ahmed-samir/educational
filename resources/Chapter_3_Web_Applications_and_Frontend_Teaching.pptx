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0"/>
            <a:ext cx="3200400" cy="100584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005840"/>
            <a:ext cx="2194560" cy="100584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5394960"/>
            <a:ext cx="3566160" cy="146304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3657600" cy="91440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79552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8961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Web Applications</a:t>
            </a:r>
            <a:br/>
            <a:r>
              <a:t>&amp; Frontend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CE6F2"/>
                </a:solidFill>
                <a:latin typeface="Aptos"/>
              </a:defRPr>
            </a:pPr>
            <a:r>
              <a:t>Simple teaching presentation • Egyptian Baccalaureate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Chapter 3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3"/>
                </a:solidFill>
                <a:latin typeface="Aptos"/>
              </a:defRPr>
            </a:pPr>
            <a:r>
              <a:t>Three lessons that explain how modern web applications are built and communicate.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347472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" cy="34747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3-1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154679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The Overall Structure of Web Applications</a:t>
            </a:r>
            <a:br/>
            <a:br/>
            <a:r>
              <a:t>Frontend + Backend + Database</a:t>
            </a:r>
            <a:br/>
            <a:br/>
            <a:r>
              <a:t>How the three tiers cooperate.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74720" cy="347472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63040"/>
            <a:ext cx="73152" cy="347472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00200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3-2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57400"/>
            <a:ext cx="3154679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Web Application Communication Methods</a:t>
            </a:r>
            <a:br/>
            <a:br/>
            <a:r>
              <a:t>Client + Server</a:t>
            </a:r>
            <a:br/>
            <a:r>
              <a:t>HTTP / HTTPS</a:t>
            </a:r>
            <a:br/>
            <a:r>
              <a:t>GET / POST</a:t>
            </a:r>
            <a:br/>
            <a:r>
              <a:t>Status codes • API •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463040"/>
            <a:ext cx="3474720" cy="347472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463040"/>
            <a:ext cx="73152" cy="347472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600200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3-3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57400"/>
            <a:ext cx="3154679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Fundamentals of Frontend Technology</a:t>
            </a:r>
            <a:br/>
            <a:br/>
            <a:r>
              <a:t>HTML • CSS • JavaScript</a:t>
            </a:r>
            <a:br/>
            <a:r>
              <a:t>Semantic HTML</a:t>
            </a:r>
            <a:br/>
            <a:r>
              <a:t>Responsive design</a:t>
            </a:r>
            <a:br/>
            <a:r>
              <a:t>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Explain what a web application is and describe the roles of frontend, backend, and database.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Trace how the three tiers cooperate to turn a user's action into a result.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Explain the client–server model and the difference between HTTP and HTTPS.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Describe HTTP requests/responses, GET and POST, status codes, APIs, and JSON.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Explain the roles of HTML, CSS, and JavaScript.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Describe semantic HTML, responsive design, mobile-first thinking, and frontend frameworks.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Warm-up: What Happens When You Open a Website?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828800" cy="91440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084832"/>
            <a:ext cx="16824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You</a:t>
            </a:r>
            <a:br/>
            <a:r>
              <a:t>click / type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468880"/>
            <a:ext cx="82296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0" y="2011680"/>
            <a:ext cx="1920240" cy="91440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2084832"/>
            <a:ext cx="177393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Browser</a:t>
            </a:r>
            <a:br/>
            <a:r>
              <a:t>requests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0" y="2468880"/>
            <a:ext cx="91440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0" y="2011680"/>
            <a:ext cx="1920240" cy="91440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084832"/>
            <a:ext cx="177393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Server</a:t>
            </a:r>
            <a:br/>
            <a:r>
              <a:t>processes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0" y="2468880"/>
            <a:ext cx="91440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61120" y="2011680"/>
            <a:ext cx="1920240" cy="914400"/>
          </a:xfrm>
          <a:prstGeom prst="roundRect">
            <a:avLst/>
          </a:prstGeom>
          <a:solidFill>
            <a:srgbClr val="F3EEFA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084832"/>
            <a:ext cx="177393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Data</a:t>
            </a:r>
            <a:br/>
            <a:r>
              <a:t>is retrieved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005840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Question: Which part displays the page?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Question: Which part makes decisions?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Question: Where is information stored?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Keep these questions in mind throughout the chapter.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Lesson 3-1 — The Overall Structure of Web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3"/>
                </a:solidFill>
                <a:latin typeface="Aptos"/>
              </a:defRPr>
            </a:pPr>
            <a:r>
              <a:t>Learning focus: understand the three-tier architecture.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114300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114300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What is a web application?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95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t>An application used through a web browser, without needing dedicated software to install. Examples in the textbook include YouTube, Amazon, Gmail, and Google 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71800"/>
            <a:ext cx="1554480" cy="384048"/>
          </a:xfrm>
          <a:prstGeom prst="round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463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Guiding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9875520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2000" b="0">
                <a:solidFill>
                  <a:srgbClr val="232830"/>
                </a:solidFill>
                <a:latin typeface="Aptos"/>
              </a:defRPr>
            </a:pPr>
            <a:r>
              <a:t>How is a web application structured?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000" b="0">
                <a:solidFill>
                  <a:srgbClr val="232830"/>
                </a:solidFill>
                <a:latin typeface="Aptos"/>
              </a:defRPr>
            </a:pPr>
            <a:r>
              <a:t>How do its three tiers work together to respond to what a user does?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The Three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383280" cy="283464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27632"/>
            <a:ext cx="3236976" cy="2688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2830"/>
                </a:solidFill>
                <a:latin typeface="Aptos"/>
              </a:defRPr>
            </a:pPr>
            <a:r>
              <a:t>FRONTEND</a:t>
            </a:r>
            <a:br/>
            <a:r>
              <a:t>What the user sees</a:t>
            </a:r>
            <a:br/>
            <a:r>
              <a:t>and interacts with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554480"/>
            <a:ext cx="3383280" cy="283464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27632"/>
            <a:ext cx="3236976" cy="2688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2830"/>
                </a:solidFill>
                <a:latin typeface="Aptos"/>
              </a:defRPr>
            </a:pPr>
            <a:r>
              <a:t>BACKEND</a:t>
            </a:r>
            <a:br/>
            <a:r>
              <a:t>Hidden server-side</a:t>
            </a:r>
            <a:br/>
            <a:r>
              <a:t>processing &amp;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83280" cy="2834640"/>
          </a:xfrm>
          <a:prstGeom prst="roundRect">
            <a:avLst/>
          </a:prstGeom>
          <a:solidFill>
            <a:srgbClr val="F3EEFA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27632"/>
            <a:ext cx="3236976" cy="2688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2830"/>
                </a:solidFill>
                <a:latin typeface="Aptos"/>
              </a:defRPr>
            </a:pPr>
            <a:r>
              <a:t>DATABASE</a:t>
            </a:r>
            <a:br/>
            <a:r>
              <a:t>Stores, organizes,</a:t>
            </a:r>
            <a:br/>
            <a:r>
              <a:t>and manages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24128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Memory trick: Frontend = shows &amp; collects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Backend = decides &amp; processes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Database = stores &amp; retrieves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Frontend — The Part You See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920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The screen component users see directly.</a:t>
            </a:r>
            <a:br/>
            <a:br/>
            <a:r>
              <a:t>• Runs in the browser</a:t>
            </a:r>
            <a:br/>
            <a:r>
              <a:t>• Accepts user input</a:t>
            </a:r>
            <a:br/>
            <a:r>
              <a:t>• Displays results</a:t>
            </a:r>
            <a:br/>
            <a:r>
              <a:t>• Examples: search screens, product listings, input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29200" cy="35661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3566160"/>
          </a:xfrm>
          <a:prstGeom prst="rect">
            <a:avLst/>
          </a:prstGeom>
          <a:solidFill>
            <a:srgbClr val="5F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709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F6773"/>
                </a:solidFill>
                <a:latin typeface="Aptos Display"/>
              </a:defRPr>
            </a:pPr>
            <a:r>
              <a:t>Simple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7091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Think of the frontend as the visible counter of a shop.</a:t>
            </a:r>
            <a:br/>
            <a:br/>
            <a:r>
              <a:t>You can see it and interact with it, but it does not contain all the hidden business processing or stored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Backend — The Hidden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920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Server-side processing that users do not see.</a:t>
            </a:r>
            <a:br/>
            <a:br/>
            <a:r>
              <a:t>• Processes data</a:t>
            </a:r>
            <a:br/>
            <a:r>
              <a:t>• Makes decisions</a:t>
            </a:r>
            <a:br/>
            <a:r>
              <a:t>• Checks login authentication</a:t>
            </a:r>
            <a:br/>
            <a:r>
              <a:t>• Searches for matching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29200" cy="35661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3566160"/>
          </a:xfrm>
          <a:prstGeom prst="rect">
            <a:avLst/>
          </a:prstGeom>
          <a:solidFill>
            <a:srgbClr val="5F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709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F6773"/>
                </a:solidFill>
                <a:latin typeface="Aptos Display"/>
              </a:defRPr>
            </a:pPr>
            <a:r>
              <a:t>Think of it as…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7091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The worker behind the counter.</a:t>
            </a:r>
            <a:br/>
            <a:br/>
            <a:r>
              <a:t>It receives the request, decides what needs to happen, and sends the organized result 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Database — Where Data Is Managed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920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A system that organizes, stores, and manages data.</a:t>
            </a:r>
            <a:br/>
            <a:br/>
            <a:r>
              <a:t>• Retrieves data when needed</a:t>
            </a:r>
            <a:br/>
            <a:r>
              <a:t>• Records new data</a:t>
            </a:r>
            <a:br/>
            <a:r>
              <a:t>• Can store product information</a:t>
            </a:r>
            <a:br/>
            <a:r>
              <a:t>• Can store user information and order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29200" cy="35661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3566160"/>
          </a:xfrm>
          <a:prstGeom prst="rect">
            <a:avLst/>
          </a:prstGeom>
          <a:solidFill>
            <a:srgbClr val="5F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709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F6773"/>
                </a:solidFill>
                <a:latin typeface="Aptos Display"/>
              </a:defRPr>
            </a:pPr>
            <a:r>
              <a:t>Important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7091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The database is not the page the user sees.</a:t>
            </a:r>
            <a:br/>
            <a:br/>
            <a:r>
              <a:t>It is the data tier that supports the application's processing.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How the Three Tiers Cooperate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3"/>
                </a:solidFill>
                <a:latin typeface="Aptos"/>
              </a:defRPr>
            </a:pPr>
            <a:r>
              <a:t>Example from the textbook: searching for a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337560" cy="13258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90472"/>
            <a:ext cx="3191256" cy="11795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1</a:t>
            </a:r>
            <a:br/>
            <a:r>
              <a:t>Frontend receives</a:t>
            </a:r>
            <a:br/>
            <a:r>
              <a:t>the search keywords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37560" cy="13258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490472"/>
            <a:ext cx="3191256" cy="11795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2</a:t>
            </a:r>
            <a:br/>
            <a:r>
              <a:t>Frontend sends the</a:t>
            </a:r>
            <a:br/>
            <a:r>
              <a:t>keywords to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337560" cy="13258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490472"/>
            <a:ext cx="3191256" cy="11795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3</a:t>
            </a:r>
            <a:br/>
            <a:r>
              <a:t>Backend searches the</a:t>
            </a:r>
            <a:br/>
            <a: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3337560" cy="13258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639312"/>
            <a:ext cx="3191256" cy="11795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4</a:t>
            </a:r>
            <a:br/>
            <a:r>
              <a:t>Database returns</a:t>
            </a:r>
            <a:br/>
            <a:r>
              <a:t>matching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566160"/>
            <a:ext cx="3337560" cy="13258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639312"/>
            <a:ext cx="3191256" cy="11795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5</a:t>
            </a:r>
            <a:br/>
            <a:r>
              <a:t>Backend organizes</a:t>
            </a:r>
            <a:br/>
            <a:r>
              <a:t>the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566160"/>
            <a:ext cx="3337560" cy="13258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3639312"/>
            <a:ext cx="3191256" cy="11795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6</a:t>
            </a:r>
            <a:br/>
            <a:r>
              <a:t>Frontend displays</a:t>
            </a:r>
            <a:br/>
            <a:r>
              <a:t>the results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2075688"/>
            <a:ext cx="45720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26679" y="2075688"/>
            <a:ext cx="45720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29800" y="2743200"/>
            <a:ext cx="0" cy="68580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269480" y="4224528"/>
            <a:ext cx="457199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383280" y="4224528"/>
            <a:ext cx="45720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Three-Tier Architecture in Familiar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406908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406908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Video-sharing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3200400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Frontend</a:t>
            </a:r>
            <a:br/>
            <a:r>
              <a:t>• video playback/search</a:t>
            </a:r>
            <a:br/>
            <a:br/>
            <a:r>
              <a:t>Backend</a:t>
            </a:r>
            <a:br/>
            <a:r>
              <a:t>• recommendations</a:t>
            </a:r>
            <a:br/>
            <a:r>
              <a:t>• view-count processing</a:t>
            </a:r>
            <a:br/>
            <a:br/>
            <a:r>
              <a:t>Database</a:t>
            </a:r>
            <a:br/>
            <a:r>
              <a:t>• videos</a:t>
            </a:r>
            <a:br/>
            <a:r>
              <a:t>• users</a:t>
            </a:r>
            <a:br/>
            <a:r>
              <a:t>• viewing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406908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406908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087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Social network (SNS)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3200400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Frontend</a:t>
            </a:r>
            <a:br/>
            <a:r>
              <a:t>• timeline/post screens</a:t>
            </a:r>
            <a:br/>
            <a:br/>
            <a:r>
              <a:t>Backend</a:t>
            </a:r>
            <a:br/>
            <a:r>
              <a:t>• audience decisions</a:t>
            </a:r>
            <a:br/>
            <a:r>
              <a:t>• notifications</a:t>
            </a:r>
            <a:br/>
            <a:br/>
            <a:r>
              <a:t>Database</a:t>
            </a:r>
            <a:br/>
            <a:r>
              <a:t>• posts</a:t>
            </a:r>
            <a:br/>
            <a:r>
              <a:t>• follows</a:t>
            </a:r>
            <a:br/>
            <a:r>
              <a:t>• 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520440" cy="406908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406908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087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E-commerce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200400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Frontend</a:t>
            </a:r>
            <a:br/>
            <a:r>
              <a:t>• products/cart</a:t>
            </a:r>
            <a:br/>
            <a:br/>
            <a:r>
              <a:t>Backend</a:t>
            </a:r>
            <a:br/>
            <a:r>
              <a:t>• stock checking</a:t>
            </a:r>
            <a:br/>
            <a:r>
              <a:t>• payment processing</a:t>
            </a:r>
            <a:br/>
            <a:br/>
            <a:r>
              <a:t>Database</a:t>
            </a:r>
            <a:br/>
            <a:r>
              <a:t>• products</a:t>
            </a:r>
            <a:br/>
            <a:r>
              <a:t>• orders</a:t>
            </a:r>
            <a:br/>
            <a:r>
              <a:t>•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Worked Example — True / False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965960" cy="384048"/>
          </a:xfrm>
          <a:prstGeom prst="roundRect">
            <a:avLst/>
          </a:prstGeom>
          <a:solidFill>
            <a:srgbClr val="D9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745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Book-style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2830"/>
                </a:solidFill>
                <a:latin typeface="Aptos"/>
              </a:defRPr>
            </a:pPr>
            <a:r>
              <a:t>Mark each statement ○ if true or × if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The frontend is the screen component that users see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The backend is the part that runs on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A database organizes, stores, and manages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A web application operates with the frontend alone.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806440"/>
            <a:ext cx="10515600" cy="566928"/>
          </a:xfrm>
          <a:prstGeom prst="roundRect">
            <a:avLst/>
          </a:prstGeom>
          <a:solidFill>
            <a:srgbClr val="EBF7EE"/>
          </a:solidFill>
          <a:ln>
            <a:solidFill>
              <a:srgbClr val="45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9161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75B"/>
                </a:solidFill>
                <a:latin typeface="Aptos"/>
              </a:defRPr>
            </a:pPr>
            <a:r>
              <a:t>Answer: ○, ×, ○, 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Worked Example —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965960" cy="384048"/>
          </a:xfrm>
          <a:prstGeom prst="roundRect">
            <a:avLst/>
          </a:prstGeom>
          <a:solidFill>
            <a:srgbClr val="D9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745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2830"/>
                </a:solidFill>
                <a:latin typeface="Aptos"/>
              </a:defRPr>
            </a:pPr>
            <a:r>
              <a:t>Match each description with the correct 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a. Server-side processing users do not see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b. Screen component users interact with directly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c. System that organizes, stores, and manages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806440"/>
            <a:ext cx="10515600" cy="566928"/>
          </a:xfrm>
          <a:prstGeom prst="roundRect">
            <a:avLst/>
          </a:prstGeom>
          <a:solidFill>
            <a:srgbClr val="EBF7EE"/>
          </a:solidFill>
          <a:ln>
            <a:solidFill>
              <a:srgbClr val="45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9161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75B"/>
                </a:solidFill>
                <a:latin typeface="Aptos"/>
              </a:defRPr>
            </a:pPr>
            <a:r>
              <a:t>Answer: a → Backend (B) • b → Frontend (A) • c → Database (C)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Think as an Engineer — Clinic Web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A clinic wants a web app where patients can book appointments, check free time slots, and see past visits.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1. Assign each feature to frontend, backend, or database — and explain why.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2. The booking page opens, but no free slots appear. Which tier is clearly working, and which one probably failed?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3. Would you separate the app into three tiers? Give two reasons.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257800"/>
            <a:ext cx="10149840" cy="73152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257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9829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2980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Frontend shows/collects • Backend decides/processes • Database stores/retrieves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Lesson 3-1 — Key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00400" cy="137160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3054096" cy="12252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32830"/>
                </a:solidFill>
                <a:latin typeface="Aptos"/>
              </a:defRPr>
            </a:pPr>
            <a:r>
              <a:t>FRONTEND</a:t>
            </a:r>
            <a:br/>
            <a:r>
              <a:t>shows &amp; collects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920240"/>
            <a:ext cx="3200400" cy="137160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993392"/>
            <a:ext cx="3054096" cy="12252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32830"/>
                </a:solidFill>
                <a:latin typeface="Aptos"/>
              </a:defRPr>
            </a:pPr>
            <a:r>
              <a:t>BACKEND</a:t>
            </a:r>
            <a:br/>
            <a:r>
              <a:t>decides &amp; processes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920240"/>
            <a:ext cx="3200400" cy="1371600"/>
          </a:xfrm>
          <a:prstGeom prst="roundRect">
            <a:avLst/>
          </a:prstGeom>
          <a:solidFill>
            <a:srgbClr val="F3EEFA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993392"/>
            <a:ext cx="3054096" cy="12252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32830"/>
                </a:solidFill>
                <a:latin typeface="Aptos"/>
              </a:defRPr>
            </a:pPr>
            <a:r>
              <a:t>DATABASE</a:t>
            </a:r>
            <a:br/>
            <a:r>
              <a:t>stores &amp; retrieves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24128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A web application works because these three tiers cooperate.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A user action becomes a result through a flow of requests, processing, data retrieval, and display.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Lesson 3-2 — Web Application Communication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3"/>
                </a:solidFill>
                <a:latin typeface="Aptos"/>
              </a:defRPr>
            </a:pPr>
            <a:r>
              <a:t>Learning focus: client/server, HTTP/HTTPS, requests, responses, APIs, and JSON.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109728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109728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Key 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955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t>A client sends requests; a server returns responses, using HTTP/HTTPS and often APIs that exchange data in formats such as 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80360"/>
            <a:ext cx="1325880" cy="384048"/>
          </a:xfrm>
          <a:prstGeom prst="round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79"/>
            <a:ext cx="1234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Key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987552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Client / server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HTTP / HTTPS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HTTP methods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Status codes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API /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Client and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840480" cy="182880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3694176" cy="1682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2830"/>
                </a:solidFill>
                <a:latin typeface="Aptos"/>
              </a:defRPr>
            </a:pPr>
            <a:r>
              <a:t>CLIENT</a:t>
            </a:r>
            <a:br/>
            <a:r>
              <a:t>Browser or app</a:t>
            </a:r>
            <a:br/>
            <a:r>
              <a:t>requests data/processing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2331720"/>
            <a:ext cx="164592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92240" y="1828800"/>
            <a:ext cx="3840480" cy="182880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901952"/>
            <a:ext cx="3694176" cy="1682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2830"/>
                </a:solidFill>
                <a:latin typeface="Aptos"/>
              </a:defRPr>
            </a:pPr>
            <a:r>
              <a:t>SERVER</a:t>
            </a:r>
            <a:br/>
            <a:r>
              <a:t>Receives request</a:t>
            </a:r>
            <a:br/>
            <a:r>
              <a:t>processes it</a:t>
            </a:r>
            <a:br/>
            <a:r>
              <a:t>returns response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754880" y="3154680"/>
            <a:ext cx="164592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4343400"/>
            <a:ext cx="6675120" cy="9144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4343400"/>
            <a:ext cx="73152" cy="914400"/>
          </a:xfrm>
          <a:prstGeom prst="rect">
            <a:avLst/>
          </a:prstGeom>
          <a:solidFill>
            <a:srgbClr val="5F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4480560"/>
            <a:ext cx="6355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F6773"/>
                </a:solidFill>
                <a:latin typeface="Aptos Display"/>
              </a:defRPr>
            </a:pPr>
            <a:r>
              <a:t>Remember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937760"/>
            <a:ext cx="63550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t>Many clients can request; the server processes and responds.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HTTP and HTTPS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5661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356616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920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HyperText Transfer Protocol</a:t>
            </a:r>
            <a:br/>
            <a:br/>
            <a:r>
              <a:t>A communication protocol for exchanging data between clients and servers.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356616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73152" cy="356616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8920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HTTP Secure</a:t>
            </a:r>
            <a:br/>
            <a:br/>
            <a:r>
              <a:t>A protocol that adds SSL/TLS encryption to HTTP.</a:t>
            </a:r>
            <a:br/>
            <a:br/>
            <a:r>
              <a:t>Encryption reduces the risk of communication content being read by third parties.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5394960"/>
            <a:ext cx="4114800" cy="384048"/>
          </a:xfrm>
          <a:prstGeom prst="round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544068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Login pages should use HTTPS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HTTP Request → HTTP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384048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84048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98348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Sent from client to server.</a:t>
            </a:r>
            <a:br/>
            <a:br/>
            <a:r>
              <a:t>It includes an HTTP method that indicates what kind of operation is wanted.</a:t>
            </a:r>
            <a:br/>
            <a:br/>
            <a:r>
              <a:t>Examples in this lesson: GET and POST.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384048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384048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98348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Returned from server to client.</a:t>
            </a:r>
            <a:br/>
            <a:br/>
            <a:r>
              <a:t>It includes a status code that reports the result of processing.</a:t>
            </a:r>
            <a:br/>
            <a:br/>
            <a:r>
              <a:t>Examples: 200, 404, 500.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HTTP Methods: GET vs POST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983480" cy="347472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73152" cy="34747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19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66344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Role: retrieve data from the server.</a:t>
            </a:r>
            <a:br/>
            <a:br/>
            <a:r>
              <a:t>Examples:</a:t>
            </a:r>
            <a:br/>
            <a:r>
              <a:t>• Displaying a web page</a:t>
            </a:r>
            <a:br/>
            <a:r>
              <a:t>• Retrieving search results</a:t>
            </a:r>
            <a:br/>
            <a:r>
              <a:t>• Loading grade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4983480" cy="347472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508760"/>
            <a:ext cx="73152" cy="347472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19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66344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Role: send data to the server.</a:t>
            </a:r>
            <a:br/>
            <a:br/>
            <a:r>
              <a:t>Examples:</a:t>
            </a:r>
            <a:br/>
            <a:r>
              <a:t>• Sending login information</a:t>
            </a:r>
            <a:br/>
            <a:r>
              <a:t>• Submitting a form</a:t>
            </a:r>
            <a:br/>
            <a:r>
              <a:t>• Sending contact-form contents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5303520"/>
            <a:ext cx="6217920" cy="384048"/>
          </a:xfrm>
          <a:prstGeom prst="roundRect">
            <a:avLst/>
          </a:prstGeom>
          <a:solidFill>
            <a:srgbClr val="D9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39" y="5349240"/>
            <a:ext cx="6126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Memory trick: GET = get/retrieve • POST = send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Common HTTP Status 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3246120" cy="1828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45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01952"/>
            <a:ext cx="3099815" cy="1682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200</a:t>
            </a:r>
            <a:br/>
            <a:r>
              <a:t>Success — request processed successfully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79" y="1828800"/>
            <a:ext cx="3246120" cy="1828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9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8031" y="1901952"/>
            <a:ext cx="3099815" cy="1682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404</a:t>
            </a:r>
            <a:br/>
            <a:r>
              <a:t>Page not found — URL does not exist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19" y="1828800"/>
            <a:ext cx="3246120" cy="1828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B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1901952"/>
            <a:ext cx="3099815" cy="1682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500</a:t>
            </a:r>
            <a:br/>
            <a:r>
              <a:t>Server error — problem on the server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987552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A status code tells the client what happened with the request.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If you see 404, think: the requested page/resource was not found.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If you see 500, think: the problem occurred on the server 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API — A Way for Software to Exchange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356616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356616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337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3375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Application Programming Interface</a:t>
            </a:r>
            <a:br/>
            <a:br/>
            <a:r>
              <a:t>A system for exchanging data between different pieces of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011680"/>
            <a:ext cx="1920240" cy="109728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2084832"/>
            <a:ext cx="177393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2830"/>
                </a:solidFill>
                <a:latin typeface="Aptos"/>
              </a:defRPr>
            </a:pPr>
            <a:r>
              <a:t>Frontend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2560320"/>
            <a:ext cx="82296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43800" y="2011680"/>
            <a:ext cx="1463040" cy="1097280"/>
          </a:xfrm>
          <a:prstGeom prst="roundRect">
            <a:avLst/>
          </a:prstGeom>
          <a:solidFill>
            <a:srgbClr val="F3EEFA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2084832"/>
            <a:ext cx="131673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2830"/>
                </a:solidFill>
                <a:latin typeface="Aptos"/>
              </a:defRPr>
            </a:pPr>
            <a:r>
              <a:t>API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2560" y="2560320"/>
            <a:ext cx="73152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84080" y="2011680"/>
            <a:ext cx="1554480" cy="109728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7232" y="2084832"/>
            <a:ext cx="140817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2830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886200"/>
            <a:ext cx="6583680" cy="9144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3886200"/>
            <a:ext cx="73152" cy="914400"/>
          </a:xfrm>
          <a:prstGeom prst="rect">
            <a:avLst/>
          </a:prstGeom>
          <a:solidFill>
            <a:srgbClr val="5F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6263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F6773"/>
                </a:solidFill>
                <a:latin typeface="Aptos Display"/>
              </a:defRPr>
            </a:pPr>
            <a:r>
              <a:t>In web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480560"/>
            <a:ext cx="62636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830"/>
                </a:solidFill>
                <a:latin typeface="Aptos"/>
              </a:defRPr>
            </a:pPr>
            <a:r>
              <a:t>The frontend often sends requests to the backend through an API and receives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JSON — A Common Data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29200" cy="38404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84048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09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What is JSON?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09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JavaScript Object Notation.</a:t>
            </a:r>
            <a:br/>
            <a:br/>
            <a:r>
              <a:t>The textbook describes it as a data format that is easy for humans to read and for computers to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212080" cy="3474720"/>
          </a:xfrm>
          <a:prstGeom prst="roundRect">
            <a:avLst/>
          </a:prstGeom>
          <a:solidFill>
            <a:srgbClr val="232830"/>
          </a:solidFill>
          <a:ln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"city": "Cairo",</a:t>
            </a:r>
            <a:br/>
            <a:r>
              <a:t>  "temperature": 30,</a:t>
            </a:r>
            <a:br/>
            <a:r>
              <a:t>  "unit": "C"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257800"/>
            <a:ext cx="4937760" cy="384048"/>
          </a:xfrm>
          <a:prstGeom prst="round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530352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API response data can be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Worked Example — HTTP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965960" cy="384048"/>
          </a:xfrm>
          <a:prstGeom prst="roundRect">
            <a:avLst/>
          </a:prstGeom>
          <a:solidFill>
            <a:srgbClr val="D9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745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Book-style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2830"/>
                </a:solidFill>
                <a:latin typeface="Aptos"/>
              </a:defRPr>
            </a:pPr>
            <a:r>
              <a:t>Mark each statement ○ if true or × if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The client requests data or processing from the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HTTPS adds encryption to HTTP.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GET is used for sending data to the 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404 means the page was not found.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806440"/>
            <a:ext cx="10515600" cy="566928"/>
          </a:xfrm>
          <a:prstGeom prst="roundRect">
            <a:avLst/>
          </a:prstGeom>
          <a:solidFill>
            <a:srgbClr val="EBF7EE"/>
          </a:solidFill>
          <a:ln>
            <a:solidFill>
              <a:srgbClr val="45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9161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75B"/>
                </a:solidFill>
                <a:latin typeface="Aptos"/>
              </a:defRPr>
            </a:pPr>
            <a:r>
              <a:t>Answer: ○, ○, ×,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Worked Example — Matching Communication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965960" cy="384048"/>
          </a:xfrm>
          <a:prstGeom prst="roundRect">
            <a:avLst/>
          </a:prstGeom>
          <a:solidFill>
            <a:srgbClr val="D9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745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2830"/>
                </a:solidFill>
                <a:latin typeface="Aptos"/>
              </a:defRPr>
            </a:pPr>
            <a:r>
              <a:t>Match each description with the correct term.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a. Protocol for exchanging data between browsers and servers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b. System for exchanging data between different pieces of 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c. HTTP with added encryption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806440"/>
            <a:ext cx="10515600" cy="566928"/>
          </a:xfrm>
          <a:prstGeom prst="roundRect">
            <a:avLst/>
          </a:prstGeom>
          <a:solidFill>
            <a:srgbClr val="EBF7EE"/>
          </a:solidFill>
          <a:ln>
            <a:solidFill>
              <a:srgbClr val="45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9161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75B"/>
                </a:solidFill>
                <a:latin typeface="Aptos"/>
              </a:defRPr>
            </a:pPr>
            <a:r>
              <a:t>Answer: a → HTTP (A) • b → API (B) • c → HTTPS (C)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Think as an Engineer — School Web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3931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A school web app lets students log in, view their timetable, and download a PDF.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1. Choose GET or POST for: loading grade history; submitting the login form; requesting today's schedule from another school system.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2. Should login use HTTP or HTTPS? Why?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3. Recommend the communication design and give two reasons.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03520"/>
            <a:ext cx="10058400" cy="68580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303520"/>
            <a:ext cx="73152" cy="68580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440680"/>
            <a:ext cx="9738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97880"/>
            <a:ext cx="973836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GET retrieves • POST sends data • HTTPS encrypts communication • APIs exchange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Lesson 3-2 — Key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011680" cy="118872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039112"/>
            <a:ext cx="1865376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CLIENT</a:t>
            </a:r>
            <a:br/>
            <a:r>
              <a:t>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560320"/>
            <a:ext cx="50292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54680" y="1965960"/>
            <a:ext cx="2194560" cy="118872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2039112"/>
            <a:ext cx="2048255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HTTP / HTTPS</a:t>
            </a:r>
            <a:br/>
            <a:r>
              <a:t>protocol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2560320"/>
            <a:ext cx="50292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97880" y="1965960"/>
            <a:ext cx="2057400" cy="118872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9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2" y="2039112"/>
            <a:ext cx="1911095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GET / POST</a:t>
            </a:r>
            <a:br/>
            <a:r>
              <a:t>method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0" y="2560320"/>
            <a:ext cx="50292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03920" y="1965960"/>
            <a:ext cx="2286000" cy="11887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039112"/>
            <a:ext cx="2139696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SERVER</a:t>
            </a:r>
            <a:br/>
            <a:r>
              <a:t>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24128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Response includes a status code such as 200, 404, or 500.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An API often carries data between software components, commonly using JSON.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Lesson 3-3 — Fundamentals of Frontend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3"/>
                </a:solidFill>
                <a:latin typeface="Aptos"/>
              </a:defRPr>
            </a:pPr>
            <a:r>
              <a:t>Learning focus: HTML, CSS, JavaScript, semantic HTML, responsive design, and frameworks.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109728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109728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Key 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955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t>HTML = structure • CSS = appearance • JavaScript = behavior. Modern frontends add semantic HTML, responsive design, and frameworks.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80360"/>
            <a:ext cx="1554480" cy="384048"/>
          </a:xfrm>
          <a:prstGeom prst="round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79"/>
            <a:ext cx="1463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Guiding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9875520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2000" b="0">
                <a:solidFill>
                  <a:srgbClr val="232830"/>
                </a:solidFill>
                <a:latin typeface="Aptos"/>
              </a:defRPr>
            </a:pPr>
            <a:r>
              <a:t>How do HTML, CSS, and JavaScript work together?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000" b="0">
                <a:solidFill>
                  <a:srgbClr val="232830"/>
                </a:solidFill>
                <a:latin typeface="Aptos"/>
              </a:defRPr>
            </a:pPr>
            <a:r>
              <a:t>What makes a modern frontend meaningful, adaptable, and efficient to build?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HTML + CSS +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379476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379476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200400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STRUCTURE</a:t>
            </a:r>
            <a:br/>
            <a:br/>
            <a:r>
              <a:t>Headings, paragraphs, images, links.</a:t>
            </a:r>
            <a:br/>
            <a:br/>
            <a:r>
              <a:t>Think: the skeleton/frame of a building.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379476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379476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200400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APPEARANCE</a:t>
            </a:r>
            <a:br/>
            <a:br/>
            <a:r>
              <a:t>Colors, layout, size, fonts.</a:t>
            </a:r>
            <a:br/>
            <a:br/>
            <a:r>
              <a:t>Think: the interior/exterior of a building.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20440" cy="379476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379476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55448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011680"/>
            <a:ext cx="3200400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BEHAVIOR</a:t>
            </a:r>
            <a:br/>
            <a:br/>
            <a:r>
              <a:t>Buttons respond, counters update, parts of the screen change.</a:t>
            </a:r>
            <a:br/>
            <a:br/>
            <a:r>
              <a:t>Think: the systems that make the building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Why the Three Frontend Technologies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108960" cy="146304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2962656" cy="1316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2830"/>
                </a:solidFill>
                <a:latin typeface="Aptos"/>
              </a:defRPr>
            </a:pPr>
            <a:r>
              <a:t>HTML</a:t>
            </a:r>
            <a:br/>
            <a:r>
              <a:t>What exists?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560320"/>
            <a:ext cx="548641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26280" y="1828800"/>
            <a:ext cx="3108960" cy="146304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901952"/>
            <a:ext cx="2962656" cy="1316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2830"/>
                </a:solidFill>
                <a:latin typeface="Aptos"/>
              </a:defRPr>
            </a:pPr>
            <a:r>
              <a:t>CSS</a:t>
            </a:r>
            <a:br/>
            <a:r>
              <a:t>How does it look?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2560320"/>
            <a:ext cx="54864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0" y="1828800"/>
            <a:ext cx="3108960" cy="1463040"/>
          </a:xfrm>
          <a:prstGeom prst="roundRect">
            <a:avLst/>
          </a:prstGeom>
          <a:solidFill>
            <a:srgbClr val="F3EEFA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01952"/>
            <a:ext cx="2962656" cy="1316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2830"/>
                </a:solidFill>
                <a:latin typeface="Aptos"/>
              </a:defRPr>
            </a:pPr>
            <a:r>
              <a:t>JavaScript</a:t>
            </a:r>
            <a:br/>
            <a:r>
              <a:t>How does it react?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114800"/>
            <a:ext cx="8138160" cy="9144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114800"/>
            <a:ext cx="73152" cy="914400"/>
          </a:xfrm>
          <a:prstGeom prst="rect">
            <a:avLst/>
          </a:prstGeom>
          <a:solidFill>
            <a:srgbClr val="5F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251960"/>
            <a:ext cx="7818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F6773"/>
                </a:solidFill>
                <a:latin typeface="Aptos Display"/>
              </a:defRPr>
            </a:pPr>
            <a:r>
              <a:t>Example: a library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709160"/>
            <a:ext cx="78181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t>HTML lists books • CSS styles the page • JavaScript filters results as the user types.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Semantic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749039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749039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What does “semantic”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92040" cy="3035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Use HTML element names that indicate the meaning of each part of the page.</a:t>
            </a:r>
            <a:br/>
            <a:br/>
            <a:r>
              <a:t>Examples:</a:t>
            </a:r>
            <a:br/>
            <a:r>
              <a:t>&lt;header&gt; • &lt;nav&gt; • &lt;main&gt; • &lt;footer&gt;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20640" cy="3749039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3749039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Why is it useful?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00600" cy="3035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Accessibility: screen readers can better understand the structure.</a:t>
            </a:r>
            <a:br/>
            <a:br/>
            <a:r>
              <a:t>SEO: search engines can more easily understand the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Semantic HTML: Accessibility &amp; SEO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1280160"/>
          </a:xfrm>
          <a:prstGeom prst="roundRect">
            <a:avLst/>
          </a:prstGeom>
          <a:solidFill>
            <a:srgbClr val="F3EEFA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01952"/>
            <a:ext cx="2596896" cy="11338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Meaningful HTML tags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2468880"/>
            <a:ext cx="68580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60" y="1828800"/>
            <a:ext cx="2743200" cy="128016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901952"/>
            <a:ext cx="2596896" cy="11338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Better page</a:t>
            </a:r>
            <a:br/>
            <a:r>
              <a:t>structure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86600" y="2468880"/>
            <a:ext cx="68580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0" y="1828800"/>
            <a:ext cx="3200400" cy="128016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1901952"/>
            <a:ext cx="3054096" cy="11338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Screen readers</a:t>
            </a:r>
            <a:br/>
            <a:r>
              <a:t>&amp; search engines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0584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Accessibility = usable by people with impairments.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SEO = helping search engines understand and find the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Responsive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65760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65760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9204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A design concept in which the layout automatically adjusts according to different screen sizes such as PCs, smartphones, and tablets.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31089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A68A6"/>
                </a:solidFill>
              </a:defRPr>
            </a:pPr>
            <a:r>
              <a:t>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468880"/>
            <a:ext cx="21031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657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A68A6"/>
                </a:solidFill>
              </a:defRPr>
            </a:pPr>
            <a:r>
              <a:t>Tablet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103120"/>
            <a:ext cx="123444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3657600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A68A6"/>
                </a:solidFill>
              </a:defRPr>
            </a:pPr>
            <a:r>
              <a:t>Phone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440680"/>
            <a:ext cx="4480560" cy="384048"/>
          </a:xfrm>
          <a:prstGeom prst="round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5486400"/>
            <a:ext cx="4389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Same page • different screen sizes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Mobile-First Thinking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29200" cy="356616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356616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09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7091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Start by prioritizing smaller screens such as smartphones when designing the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166360" cy="35661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73152" cy="3566160"/>
          </a:xfrm>
          <a:prstGeom prst="rect">
            <a:avLst/>
          </a:prstGeom>
          <a:solidFill>
            <a:srgbClr val="5F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F6773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484632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830"/>
                </a:solidFill>
                <a:latin typeface="Aptos"/>
              </a:defRPr>
            </a:pPr>
            <a:r>
              <a:t>The textbook notes that websites are frequently accessed from smartphones and responsive support is widely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5303520"/>
            <a:ext cx="5486400" cy="384048"/>
          </a:xfrm>
          <a:prstGeom prst="round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534924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Design small → adapt to larger screens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Frontend Frameworks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38862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388620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What is a framework?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320040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A structure that provides commonly used functions and components in advance, making web application development more efficient.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2286000" cy="388620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388620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196596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Developed by Meta.</a:t>
            </a:r>
            <a:br/>
            <a:br/>
            <a:r>
              <a:t>Efficiently updates part of the screen.</a:t>
            </a:r>
            <a:br/>
            <a:br/>
            <a:r>
              <a:t>Suited to large-scale web 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417320"/>
            <a:ext cx="2286000" cy="388620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1417320"/>
            <a:ext cx="73152" cy="388620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55448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Vue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011680"/>
            <a:ext cx="196596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Simple structure.</a:t>
            </a:r>
            <a:br/>
            <a:br/>
            <a:r>
              <a:t>Allows web applications to be built incrementally from small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417320"/>
            <a:ext cx="2286000" cy="388620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73152" cy="388620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55448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Next.js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011680"/>
            <a:ext cx="196596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Adds mechanisms to speed up page display in addition to React's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Why Use a Framework?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3657600" cy="13716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01952"/>
            <a:ext cx="3511296" cy="12252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Without framework</a:t>
            </a:r>
            <a:br/>
            <a:r>
              <a:t>write more from scratch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514600"/>
            <a:ext cx="91440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0" y="1828800"/>
            <a:ext cx="3657600" cy="1371600"/>
          </a:xfrm>
          <a:prstGeom prst="roundRect">
            <a:avLst/>
          </a:prstGeom>
          <a:solidFill>
            <a:srgbClr val="F3EEFA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2" y="1901952"/>
            <a:ext cx="3511296" cy="12252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2830"/>
                </a:solidFill>
                <a:latin typeface="Aptos"/>
              </a:defRPr>
            </a:pPr>
            <a:r>
              <a:t>Framework</a:t>
            </a:r>
            <a:br/>
            <a:r>
              <a:t>ready-made functions</a:t>
            </a:r>
            <a:br/>
            <a:r>
              <a:t>&amp; components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89720" y="2514600"/>
            <a:ext cx="54864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38360" y="1828800"/>
            <a:ext cx="1645920" cy="137160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11512" y="1901952"/>
            <a:ext cx="1499616" cy="12252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Efficient</a:t>
            </a:r>
            <a:br/>
            <a: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24128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The textbook emphasizes that frameworks reduce the need to write all code from scratch.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Frameworks are tools for efficient development, not replacements for HTML/CSS/JavaScript concepts.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Worked Example — Frontend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965960" cy="384048"/>
          </a:xfrm>
          <a:prstGeom prst="roundRect">
            <a:avLst/>
          </a:prstGeom>
          <a:solidFill>
            <a:srgbClr val="D9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745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Book-style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2830"/>
                </a:solidFill>
                <a:latin typeface="Aptos"/>
              </a:defRPr>
            </a:pPr>
            <a:r>
              <a:t>Mark each statement ○ if true or × if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HTML defines the structure of a web page.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CSS adds behavior to a web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Responsive design adjusts the layout for different screen sizes.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Using a framework can make development more efficient.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806440"/>
            <a:ext cx="10515600" cy="566928"/>
          </a:xfrm>
          <a:prstGeom prst="roundRect">
            <a:avLst/>
          </a:prstGeom>
          <a:solidFill>
            <a:srgbClr val="EBF7EE"/>
          </a:solidFill>
          <a:ln>
            <a:solidFill>
              <a:srgbClr val="45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9161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75B"/>
                </a:solidFill>
                <a:latin typeface="Aptos"/>
              </a:defRPr>
            </a:pPr>
            <a:r>
              <a:t>Answer: ○, ×, ○,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Worked Example — Match the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965960" cy="384048"/>
          </a:xfrm>
          <a:prstGeom prst="roundRect">
            <a:avLst/>
          </a:prstGeom>
          <a:solidFill>
            <a:srgbClr val="D9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745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2830"/>
                </a:solidFill>
                <a:latin typeface="Aptos"/>
              </a:defRPr>
            </a:pPr>
            <a:r>
              <a:t>Match each role with the most appropriate technology.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a. Defines the structure of a web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b. Specifies the appearance of a web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c. Adds behavior and interactivity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806440"/>
            <a:ext cx="10515600" cy="566928"/>
          </a:xfrm>
          <a:prstGeom prst="roundRect">
            <a:avLst/>
          </a:prstGeom>
          <a:solidFill>
            <a:srgbClr val="EBF7EE"/>
          </a:solidFill>
          <a:ln>
            <a:solidFill>
              <a:srgbClr val="45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9161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75B"/>
                </a:solidFill>
                <a:latin typeface="Aptos"/>
              </a:defRPr>
            </a:pPr>
            <a:r>
              <a:t>Answer: a → HTML (A) • b → CSS (B) • c → JavaScript (C)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Practice — Semantic HTML &amp; Frameworks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965960" cy="384048"/>
          </a:xfrm>
          <a:prstGeom prst="roundRect">
            <a:avLst/>
          </a:prstGeom>
          <a:solidFill>
            <a:srgbClr val="D9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745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2830"/>
                </a:solidFill>
                <a:latin typeface="Aptos"/>
              </a:defRPr>
            </a:pPr>
            <a:r>
              <a:t>Which is NOT an appropriate benefit of semantic HTML?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Screen readers can better understand page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9718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Search engines can more easily understand the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The display speed of a web page necessarily becomes faster.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886200"/>
            <a:ext cx="5074920" cy="7315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886200"/>
            <a:ext cx="73152" cy="7315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0233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80560"/>
            <a:ext cx="475488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30"/>
                </a:solidFill>
                <a:latin typeface="Aptos"/>
              </a:defRPr>
            </a:pPr>
            <a:r>
              <a:t>Information can be easier to convey to users with visual impairments.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806440"/>
            <a:ext cx="10515600" cy="566928"/>
          </a:xfrm>
          <a:prstGeom prst="roundRect">
            <a:avLst/>
          </a:prstGeom>
          <a:solidFill>
            <a:srgbClr val="EBF7EE"/>
          </a:solidFill>
          <a:ln>
            <a:solidFill>
              <a:srgbClr val="45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9161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75B"/>
                </a:solidFill>
                <a:latin typeface="Aptos"/>
              </a:defRPr>
            </a:pPr>
            <a:r>
              <a:t>Answer: 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892040"/>
            <a:ext cx="10149840" cy="82296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892040"/>
            <a:ext cx="73152" cy="82296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029200"/>
            <a:ext cx="9829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Second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486400"/>
            <a:ext cx="9829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What best describes a framework? → A structure that makes web application development more efficient.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Think as an Engineer — Student Club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A student club wants a page that lists events, uses the club's colors, and has a live sign-up counter.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1. Which technology handles each feature: HTML, CSS, or JavaScript? Explain.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2. Name one change that would make the page easier to read on a phone.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3. Give one semantic-HTML choice that would help a screen reader.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4. Should the club separate HTML, CSS, and JavaScript? Give two reasons.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440680"/>
            <a:ext cx="10058400" cy="59436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440680"/>
            <a:ext cx="73152" cy="59436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9738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35040"/>
            <a:ext cx="973836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HTML = content/structure • CSS = style • JavaScript = reaction/update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Lesson 3-3 — Key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194560" cy="123444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810512"/>
            <a:ext cx="2048255" cy="10881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2830"/>
                </a:solidFill>
                <a:latin typeface="Aptos"/>
              </a:defRPr>
            </a:pPr>
            <a:r>
              <a:t>HTML</a:t>
            </a:r>
            <a:br/>
            <a:r>
              <a:t>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737360"/>
            <a:ext cx="2194560" cy="123444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1810512"/>
            <a:ext cx="2048255" cy="10881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2830"/>
                </a:solidFill>
                <a:latin typeface="Aptos"/>
              </a:defRPr>
            </a:pPr>
            <a:r>
              <a:t>CSS</a:t>
            </a:r>
            <a:br/>
            <a:r>
              <a:t>APPEARANCE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737360"/>
            <a:ext cx="2194560" cy="1234440"/>
          </a:xfrm>
          <a:prstGeom prst="roundRect">
            <a:avLst/>
          </a:prstGeom>
          <a:solidFill>
            <a:srgbClr val="F3EEFA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68112" y="1810512"/>
            <a:ext cx="2048255" cy="10881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2830"/>
                </a:solidFill>
                <a:latin typeface="Aptos"/>
              </a:defRPr>
            </a:pPr>
            <a:r>
              <a:t>JavaScript</a:t>
            </a:r>
            <a:br/>
            <a:r>
              <a:t>BEHAVIOR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3566160" cy="1234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1810512"/>
            <a:ext cx="3419856" cy="10881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Semantic HTML</a:t>
            </a:r>
            <a:br/>
            <a:r>
              <a:t>meaning + accessibility + SEO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24128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Responsive design makes layouts adapt to different screens.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Frameworks provide ready-made functions/components for efficient development.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Chapter 3 — Put Everything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371600" cy="8229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5F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07592"/>
            <a:ext cx="122529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2830"/>
                </a:solidFill>
                <a:latin typeface="Aptos"/>
              </a:defRPr>
            </a:pPr>
            <a:r>
              <a:t>USER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1645920"/>
            <a:ext cx="64008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43200" y="1234440"/>
            <a:ext cx="2468880" cy="822960"/>
          </a:xfrm>
          <a:prstGeom prst="roundRect">
            <a:avLst/>
          </a:prstGeom>
          <a:solidFill>
            <a:srgbClr val="E0EFFA"/>
          </a:solidFill>
          <a:ln w="1905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307592"/>
            <a:ext cx="232257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FRONTEND</a:t>
            </a:r>
            <a:br/>
            <a:r>
              <a:t>HTML + CSS + JS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57800" y="1645920"/>
            <a:ext cx="64008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97880" y="1234440"/>
            <a:ext cx="2286000" cy="8229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2" y="1307592"/>
            <a:ext cx="213969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API / HTTP(S)</a:t>
            </a:r>
            <a:br/>
            <a:r>
              <a:t>GET / POST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1645920"/>
            <a:ext cx="64008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69680" y="1234440"/>
            <a:ext cx="2011680" cy="82296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1307592"/>
            <a:ext cx="186537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2830"/>
                </a:solidFill>
                <a:latin typeface="Aptos"/>
              </a:defRPr>
            </a:pPr>
            <a:r>
              <a:t>BACKEND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2103120"/>
            <a:ext cx="0" cy="73152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9680" y="2834640"/>
            <a:ext cx="2011680" cy="822960"/>
          </a:xfrm>
          <a:prstGeom prst="roundRect">
            <a:avLst/>
          </a:prstGeom>
          <a:solidFill>
            <a:srgbClr val="F3EEFA"/>
          </a:solidFill>
          <a:ln w="1905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2907792"/>
            <a:ext cx="186537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2830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138160" y="3246120"/>
            <a:ext cx="731520" cy="0"/>
          </a:xfrm>
          <a:prstGeom prst="line">
            <a:avLst/>
          </a:prstGeom>
          <a:ln w="31750">
            <a:solidFill>
              <a:srgbClr val="5F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0" y="2834640"/>
            <a:ext cx="2468880" cy="8229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9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2907792"/>
            <a:ext cx="232257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2830"/>
                </a:solidFill>
                <a:latin typeface="Aptos"/>
              </a:defRPr>
            </a:pPr>
            <a:r>
              <a:t>RESPONSE</a:t>
            </a:r>
            <a:br/>
            <a:r>
              <a:t>status code +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24128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Frontend displays the result.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Backend processes the request.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Database stores and retrieves data.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HTTP/HTTPS carries communication.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 b="0">
                <a:solidFill>
                  <a:srgbClr val="232830"/>
                </a:solidFill>
                <a:latin typeface="Aptos"/>
              </a:defRPr>
            </a:pPr>
            <a:r>
              <a:t>APIs can exchange data, often as JSON.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Exam-Style Review — Fill in the Blanks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27432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274320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287000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A web application is composed of three tiers. The screen component users see directly is the (a). Server-side processing users do not see is the (b). A system that stores and manages data is the (c).</a:t>
            </a:r>
            <a:br/>
            <a:br/>
            <a:r>
              <a:t>Communication uses a protocol called (d). The protocol that adds SSL/TLS encryption to (d) is called (e).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07040" cy="1097280"/>
          </a:xfrm>
          <a:prstGeom prst="roundRect">
            <a:avLst/>
          </a:prstGeom>
          <a:solidFill>
            <a:srgbClr val="EBF7EE"/>
          </a:solidFill>
          <a:ln w="15240">
            <a:solidFill>
              <a:srgbClr val="45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343400"/>
            <a:ext cx="73152" cy="1097280"/>
          </a:xfrm>
          <a:prstGeom prst="rect">
            <a:avLst/>
          </a:prstGeom>
          <a:solidFill>
            <a:srgbClr val="45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5875B"/>
                </a:solidFill>
                <a:latin typeface="Aptos Display"/>
              </a:defRPr>
            </a:pPr>
            <a:r>
              <a:t>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287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t>(a) Frontend • (b) Backend • (c) Database • (d) HTTP • (e) 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Exam-Style Review — Match &amp; Choose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429768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429768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507492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Match:</a:t>
            </a:r>
            <a:br/>
            <a:br/>
            <a:r>
              <a:t>1. Retrieve data → ?</a:t>
            </a:r>
            <a:br/>
            <a:r>
              <a:t>2. Send form/login data → ?</a:t>
            </a:r>
            <a:br/>
            <a:r>
              <a:t>3. Page not found → ?</a:t>
            </a:r>
            <a:br/>
            <a:r>
              <a:t>4. Server-side problem → ?</a:t>
            </a:r>
            <a:br/>
            <a:r>
              <a:t>5. Software-to-software data exchange → ?</a:t>
            </a:r>
            <a:br/>
            <a:br/>
            <a:r>
              <a:t>Choices: GET • POST • 404 • 500 •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303520" cy="429768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73152" cy="429768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98348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830"/>
                </a:solidFill>
                <a:latin typeface="Aptos"/>
              </a:defRPr>
            </a:pPr>
            <a:r>
              <a:t>1 → GET</a:t>
            </a:r>
            <a:br/>
            <a:r>
              <a:t>2 → POST</a:t>
            </a:r>
            <a:br/>
            <a:r>
              <a:t>3 → 404</a:t>
            </a:r>
            <a:br/>
            <a:r>
              <a:t>4 → 500</a:t>
            </a:r>
            <a:br/>
            <a:r>
              <a:t>5 → API</a:t>
            </a:r>
            <a:br/>
            <a:br/>
            <a:r>
              <a:t>Remember:</a:t>
            </a:r>
            <a:br/>
            <a:r>
              <a:t>HTTPS = HTTP + SSL/TLS encryption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Final Challenge — Design a Small Web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Imagine you are designing a school timetable web app.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1. Identify one frontend job.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2. Identify one backend job.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3. Identify one database item to store.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4. Choose GET or POST for viewing the timetable and explain why.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5. Explain why HTTPS is important for login.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6. Name one HTML role, one CSS role, and one JavaScript role.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 b="0">
                <a:solidFill>
                  <a:srgbClr val="232830"/>
                </a:solidFill>
                <a:latin typeface="Aptos"/>
              </a:defRPr>
            </a:pPr>
            <a:r>
              <a:t>7. Give one responsive-design improvement and one semantic-HTML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Chapter 3 — Final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66160" cy="4389120"/>
          </a:xfrm>
          <a:prstGeom prst="roundRect">
            <a:avLst/>
          </a:prstGeom>
          <a:solidFill>
            <a:srgbClr val="E0EFFA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4389120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68A6"/>
                </a:solidFill>
                <a:latin typeface="Aptos Display"/>
              </a:defRPr>
            </a:pPr>
            <a:r>
              <a:t>3-1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32461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t>Web application</a:t>
            </a:r>
            <a:br/>
            <a:r>
              <a:t>→ Frontend</a:t>
            </a:r>
            <a:br/>
            <a:r>
              <a:t>→ Backend</a:t>
            </a:r>
            <a:br/>
            <a:r>
              <a:t>→ Database</a:t>
            </a:r>
            <a:br/>
            <a:br/>
            <a:r>
              <a:t>Frontend shows/collects.</a:t>
            </a:r>
            <a:br/>
            <a:r>
              <a:t>Backend decides/processes.</a:t>
            </a:r>
            <a:br/>
            <a:r>
              <a:t>Database stores/retrieves.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66160" cy="4389120"/>
          </a:xfrm>
          <a:prstGeom prst="roundRect">
            <a:avLst/>
          </a:prstGeom>
          <a:solidFill>
            <a:srgbClr val="EBF6F4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4389120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E8C"/>
                </a:solidFill>
                <a:latin typeface="Aptos Display"/>
              </a:defRPr>
            </a:pPr>
            <a:r>
              <a:t>3-2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2461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t>Client requests.</a:t>
            </a:r>
            <a:br/>
            <a:r>
              <a:t>Server responds.</a:t>
            </a:r>
            <a:br/>
            <a:br/>
            <a:r>
              <a:t>HTTP / HTTPS</a:t>
            </a:r>
            <a:br/>
            <a:r>
              <a:t>GET / POST</a:t>
            </a:r>
            <a:br/>
            <a:r>
              <a:t>200 / 404 / 500</a:t>
            </a:r>
            <a:br/>
            <a:r>
              <a:t>API / 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66160" cy="438912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438912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3-3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24612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t>HTML = structure</a:t>
            </a:r>
            <a:br/>
            <a:r>
              <a:t>CSS = appearance</a:t>
            </a:r>
            <a:br/>
            <a:r>
              <a:t>JavaScript = behavior</a:t>
            </a:r>
            <a:br/>
            <a:br/>
            <a:r>
              <a:t>Semantic HTML</a:t>
            </a:r>
            <a:br/>
            <a:r>
              <a:t>Responsive design</a:t>
            </a:r>
            <a:br/>
            <a:r>
              <a:t>Frameworks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Quick Quiz — Can You Answer These?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66360" cy="987552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987552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What are the three tiers of a web application?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166360" cy="987552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73152" cy="987552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7E8C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Which tier makes server-side decisions?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5166360" cy="987552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73152" cy="987552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97479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546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Which HTTP method retrieves data?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60320"/>
            <a:ext cx="5166360" cy="987552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560320"/>
            <a:ext cx="73152" cy="987552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79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7E8C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What does 404 mean?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86200"/>
            <a:ext cx="5166360" cy="987552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86200"/>
            <a:ext cx="73152" cy="987552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What does API allow software to do?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86200"/>
            <a:ext cx="5166360" cy="987552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F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886200"/>
            <a:ext cx="73152" cy="987552"/>
          </a:xfrm>
          <a:prstGeom prst="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7E8C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What does HTML define?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79"/>
            <a:ext cx="5166360" cy="987552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A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212079"/>
            <a:ext cx="73152" cy="987552"/>
          </a:xfrm>
          <a:prstGeom prst="rect">
            <a:avLst/>
          </a:prstGeom>
          <a:solidFill>
            <a:srgbClr val="2A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68A6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What is responsive design?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  <a:latin typeface="Aptos Display"/>
              </a:defRPr>
            </a:pPr>
            <a:r>
              <a:t>Quick Quiz — Answer Key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63397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Programming &amp; Artificial Intelligence •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24128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1. Frontend, backend, database.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2. Backend.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3. GET.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4. Page/resource not found.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5. Exchange data between different pieces of software.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6. The structure of a web page.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900" b="0">
                <a:solidFill>
                  <a:srgbClr val="232830"/>
                </a:solidFill>
                <a:latin typeface="Aptos"/>
              </a:defRPr>
            </a:pPr>
            <a:r>
              <a:t>7. A design approach that adapts layout to different screen sizes.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03520"/>
            <a:ext cx="10149840" cy="64008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7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303520"/>
            <a:ext cx="73152" cy="640080"/>
          </a:xfrm>
          <a:prstGeom prst="rect">
            <a:avLst/>
          </a:prstGeom>
          <a:solidFill>
            <a:srgbClr val="67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440680"/>
            <a:ext cx="9829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4F91"/>
                </a:solidFill>
                <a:latin typeface="Aptos Display"/>
              </a:defRPr>
            </a:pPr>
            <a:r>
              <a:t>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97880"/>
            <a:ext cx="98298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  <a:latin typeface="Aptos"/>
              </a:defRPr>
            </a:pPr>
            <a:r>
              <a:t>The goal is not memorizing isolated terms — understand how the parts cooperate.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633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Chapter 3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5146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E1EBF5"/>
                </a:solidFill>
                <a:latin typeface="Aptos"/>
              </a:defRPr>
            </a:pPr>
            <a:r>
              <a:t>Web applications are built from cooperating layers,</a:t>
            </a:r>
            <a:br/>
            <a:r>
              <a:t>communicate through organized requests and responses,</a:t>
            </a:r>
            <a:br/>
            <a:r>
              <a:t>and use frontend technologies to create useful experiences.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03320" y="4389120"/>
            <a:ext cx="4846320" cy="384048"/>
          </a:xfrm>
          <a:prstGeom prst="roundRect">
            <a:avLst/>
          </a:prstGeom>
          <a:solidFill>
            <a:srgbClr val="2F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39" y="4434840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Structure • Communication •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235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ECDDC"/>
                </a:solidFill>
                <a:latin typeface="Aptos"/>
              </a:defRPr>
            </a:pPr>
            <a:r>
              <a:t>Based on Chapter 3 of Programming and Artificial Intelligence, Part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