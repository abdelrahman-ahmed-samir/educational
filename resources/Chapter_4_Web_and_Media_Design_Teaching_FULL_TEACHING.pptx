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919E"/>
                </a:solidFill>
                <a:latin typeface="Aptos"/>
              </a:rPr>
              <a:t>EGYPTIAN BACCALAUREATE • YEAR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498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Web and Media
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DDAE5"/>
                </a:solidFill>
                <a:latin typeface="Aptos"/>
              </a:rPr>
              <a:t>Chapter 4 teaching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33756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6ADBF"/>
                </a:solidFill>
                <a:latin typeface="Aptos"/>
              </a:rPr>
              <a:t>Teaching-first • simple explanations • worked examples • textbook questions • exam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8920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FOR AGE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6ADBF"/>
                </a:solidFill>
                <a:latin typeface="Aptos"/>
              </a:rPr>
              <a:t>Based on Programming and Artificial Intelligence • Part One</a:t>
            </a:r>
          </a:p>
        </p:txBody>
      </p:sp>
      <p:sp>
        <p:nvSpPr>
          <p:cNvPr id="8" name="Oval 7"/>
          <p:cNvSpPr/>
          <p:nvPr/>
        </p:nvSpPr>
        <p:spPr>
          <a:xfrm>
            <a:off x="9784080" y="914400"/>
            <a:ext cx="1097280" cy="1097280"/>
          </a:xfrm>
          <a:prstGeom prst="ellipse">
            <a:avLst/>
          </a:prstGeom>
          <a:solidFill>
            <a:srgbClr val="009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1508760"/>
            <a:ext cx="731520" cy="731520"/>
          </a:xfrm>
          <a:prstGeom prst="ellipse">
            <a:avLst/>
          </a:prstGeom>
          <a:solidFill>
            <a:srgbClr val="F6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0" y="2560320"/>
            <a:ext cx="1508760" cy="1508760"/>
          </a:xfrm>
          <a:prstGeom prst="ellipse">
            <a:avLst/>
          </a:prstGeom>
          <a:solidFill>
            <a:srgbClr val="27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will we learn?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CHAPTER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512064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20240"/>
            <a:ext cx="64008" cy="1325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066544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4-1  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487168"/>
            <a:ext cx="473659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Compare TV, radio, newspaper, website and SNS. Choose a medium based on purpose and target audience.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12064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64008" cy="132588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66544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4-2 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87168"/>
            <a:ext cx="473659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Start from the user: persona → wireframe → CRAP principles → user-centered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520440"/>
            <a:ext cx="512064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520440"/>
            <a:ext cx="64008" cy="132588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666744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4-3 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087368"/>
            <a:ext cx="473659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Use qualitative methods to understand why, and quantitative methods to understand how much.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40"/>
            <a:ext cx="512064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20440"/>
            <a:ext cx="64008" cy="1325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666744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4-4  IMPROVE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087368"/>
            <a:ext cx="473659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Improve websites repeatedly with PDCA, design thinking and A/B testing.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257800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Core mindset: choose → design → evaluate → improve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57400"/>
            <a:ext cx="82296" cy="2468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9601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Types and Characteristics of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80360"/>
            <a:ext cx="9144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DDAE5"/>
                </a:solidFill>
                <a:latin typeface="Aptos"/>
              </a:rPr>
              <a:t>Match the medium to the purpose and target audience.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886200"/>
            <a:ext cx="4937760" cy="6858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09651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19E"/>
                </a:solidFill>
                <a:latin typeface="Aptos"/>
              </a:rPr>
              <a:t>TEACH  •  DISCUSS  •  PRACTISE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8FAFC"/>
                </a:solidFill>
                <a:latin typeface="Aptos"/>
              </a:defRPr>
            </a:pPr>
            <a:r>
              <a:t>• Compare the characteristics of different media.</a:t>
            </a:r>
          </a:p>
          <a:p>
            <a:pPr>
              <a:spcAft>
                <a:spcPts val="800"/>
              </a:spcAft>
              <a:defRPr sz="2200">
                <a:solidFill>
                  <a:srgbClr val="F8FAFC"/>
                </a:solidFill>
                <a:latin typeface="Aptos"/>
              </a:defRPr>
            </a:pPr>
            <a:r>
              <a:t>• Explain the strengths and constraints of websites.</a:t>
            </a:r>
          </a:p>
          <a:p>
            <a:pPr>
              <a:spcAft>
                <a:spcPts val="800"/>
              </a:spcAft>
              <a:defRPr sz="2200">
                <a:solidFill>
                  <a:srgbClr val="F8FAFC"/>
                </a:solidFill>
                <a:latin typeface="Aptos"/>
              </a:defRPr>
            </a:pPr>
            <a:r>
              <a:t>• Choose a suitable medium for a purpose and audience, and justify the choice.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First idea: every medium has strengths AND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5029200" cy="19202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74519"/>
            <a:ext cx="64008" cy="19202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0208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441448"/>
            <a:ext cx="46451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What the medium does especially well. Example: TV can reach many people simultaneously with video and audio.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029200" cy="19202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74519"/>
            <a:ext cx="64008" cy="192024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41448"/>
            <a:ext cx="46451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A limitation or condition. Example: a website normally needs an Internet connection, and users must actively access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6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CDDAE5"/>
                </a:solidFill>
                <a:latin typeface="Aptos"/>
              </a:rPr>
              <a:t>Teacher question: “Before choosing a website, ask: why a website at all?”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One-way vs two-way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502920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74519"/>
            <a:ext cx="64008" cy="21488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0208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ONE-WAY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441448"/>
            <a:ext cx="464515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Aptos"/>
              </a:rPr>
              <a:t>Information moves from sender → receiver only.
Example in the textbook: TV.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02920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74519"/>
            <a:ext cx="64008" cy="214884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TWO-WAY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41448"/>
            <a:ext cx="464515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Aptos"/>
              </a:rPr>
              <a:t>Users can respond and share.
Example in the textbook: SNS.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A website is basically one-way, but forms and comments can enable two-way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Compare the five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1828800" cy="621792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4767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TV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83080"/>
            <a:ext cx="2057400" cy="621792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911095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Video +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783080"/>
            <a:ext cx="5943600" cy="621792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90195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Reaches many simultaneously; sight + hearing; one-way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624328"/>
            <a:ext cx="1828800" cy="621792"/>
          </a:xfrm>
          <a:prstGeom prst="round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78892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Radio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624328"/>
            <a:ext cx="2057400" cy="621792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2" y="2752344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Audio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624328"/>
            <a:ext cx="5943600" cy="621792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743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Can be received almost anywhere and alongside other tasks; one-way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465576"/>
            <a:ext cx="1828800" cy="621792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630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Newspaper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465576"/>
            <a:ext cx="2057400" cy="621792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3593592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Text + images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60" y="3465576"/>
            <a:ext cx="5943600" cy="621792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35844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Printed; can be read without Internet; one-way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306824"/>
            <a:ext cx="1828800" cy="621792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4714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Website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4306824"/>
            <a:ext cx="2057400" cy="621792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9232" y="4434840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Text + images + video + audio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4306824"/>
            <a:ext cx="5943600" cy="621792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442569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Diverse; updatable; basically one-way, possible two-way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148072"/>
            <a:ext cx="1828800" cy="621792"/>
          </a:xfrm>
          <a:prstGeom prst="round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31266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5148072"/>
            <a:ext cx="2057400" cy="621792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9232" y="527608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Text + images + video + audio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5148072"/>
            <a:ext cx="5943600" cy="621792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526694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Rapid spreading; users post/share; two-way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Website strengths — why use a website?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Combine diverse information such as text, images and video.</a:t>
            </a:r>
          </a:p>
          <a:p>
            <a:pPr>
              <a:spcAft>
                <a:spcPts val="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Update information at any time.</a:t>
            </a:r>
          </a:p>
          <a:p>
            <a:pPr>
              <a:spcAft>
                <a:spcPts val="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Access it from almost anywhere in the world.</a:t>
            </a:r>
          </a:p>
          <a:p>
            <a:pPr>
              <a:spcAft>
                <a:spcPts val="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Allow two-way interaction through forms, comments, etc.</a:t>
            </a:r>
          </a:p>
          <a:p>
            <a:pPr>
              <a:spcAft>
                <a:spcPts val="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Use it with just a browser; no dedicated app installation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Website constraints — what should we remember?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A website normally requires an Internet connection (unless the page is cached).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Information does not reach users unless they actively access it.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Display and loading speed may differ depending on the user's device and network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920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68E23"/>
                </a:solidFill>
                <a:latin typeface="Aptos"/>
              </a:rPr>
              <a:t>So: a website is powerful, but it is not automatically the best medium for every audience.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Choosing media according to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64008" cy="12344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Wide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5000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Inform many people at once → TV or SNS 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64008" cy="123444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Detailed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5000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Provide lots of detail that can be viewed any time → Website.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4612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246120"/>
            <a:ext cx="64008" cy="123444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3924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Direct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81304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Send information directly to specific people → Email or direct messages.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4612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64008" cy="12344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924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Word of mouth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81304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Let users voluntarily share and spread information → SNS.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Key question: What is the goal — reach, detail, direct delivery, or spreading?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Real-world example: combine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4-1 • TYPES &amp;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200400" cy="21031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3200400" cy="13716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919E"/>
                </a:solidFill>
                <a:latin typeface="Aptos"/>
              </a:rPr>
              <a:t>1  TV commercial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8FAFC"/>
                </a:solidFill>
                <a:latin typeface="Aptos"/>
              </a:rPr>
              <a:t>Reach many people at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965960"/>
            <a:ext cx="3200400" cy="21031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965960"/>
            <a:ext cx="3200400" cy="13716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68E23"/>
                </a:solidFill>
                <a:latin typeface="Aptos"/>
              </a:rPr>
              <a:t>2 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8FAFC"/>
                </a:solidFill>
                <a:latin typeface="Aptos"/>
              </a:rPr>
              <a:t>Give detailed information available at any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65960"/>
            <a:ext cx="3200400" cy="21031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3200400" cy="13716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76999"/>
                </a:solidFill>
                <a:latin typeface="Aptos"/>
              </a:rPr>
              <a:t>3  SNS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718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8FAFC"/>
                </a:solidFill>
                <a:latin typeface="Aptos"/>
              </a:rPr>
              <a:t>Encourage people to spread the information.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Lesson message: no single medium is best for everything.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A website can present diverse information such as text, images and video.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True.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TV is a two-way medium.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False — TV is one-way in the textbook.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SNS is highly effective at spreading information rapidly.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True.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A website normally can be viewed without an Internet connection.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False — it normally requires Internet.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Match: detailed information at any time; word-of-mouth spreading; inform many people with video → Website; SNS; TV.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Website; SNS; TV.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Name two strengths of websites.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Any two: diverse content; updatable; global access; two-way interaction; browser use without dedicated app.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Name two constraints of websites.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Any two: normally needs Internet; users must actively access it; loading/display varies by device/network.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Which is NOT an appropriate website characteristic? A update anytime / B automatically reaches users / C combine text-images-video / D forms/comments enable interaction.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Choose the best medium: detailed product specifications; word-of-mouth; video to many people; direct campaign to customers.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Website; SNS; TV; Email.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Explain why an organization might use website, TV and SNS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They provide different strengths: wide reach, detailed information, and rapid sharing/word of mouth.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444752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INVESTIGATE &amp;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Think as an Engineer: A public library wants to promote a free reading program.
Survey people about where they notice local announcements; compare a family with no home Internet, a student, and the librarian; then recommend a media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Use evidence from the survey. Start with the audience hardest to reach and choose media that already reach them.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NEW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New Context: A hospital wants to announce new opening hours and let patients ask questions.
Name one medium for reaching many people quickly and one that allows two-way interaction.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Example: TV/SNS for rapid reach; website with forms/comments or SNS for interaction.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39446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481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REFLECT •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Reflect: Which medium do you trust most for important news, and why?
Challenge: Plan a school-event media mix on a budget that rules out TV, and name one audience your mix might still 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Justify choices using purpose, audience, strengths and constraints.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57400"/>
            <a:ext cx="82296" cy="2468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9601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Information Design and User Experience for Websites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80360"/>
            <a:ext cx="9144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DDAE5"/>
                </a:solidFill>
                <a:latin typeface="Aptos"/>
              </a:rPr>
              <a:t>Start from the user: persona → wireframe → CRAP → UCD.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886200"/>
            <a:ext cx="4937760" cy="6858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09651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19E"/>
                </a:solidFill>
                <a:latin typeface="Aptos"/>
              </a:rPr>
              <a:t>TEACH  •  DISCUSS  •  PRACTISE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4-2 • INFORMATION DESIGN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Explain how personas and wireframes plan a website before its appearance is designed.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Apply contrast, repetition, alignment and proximity.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Explain user-centered design (UCD).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start from the user?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4-2 • INFORMATION DESIGN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5029200" cy="21031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64008" cy="210312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7510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Designer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95728"/>
            <a:ext cx="4645152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“I like this layout.” This can lead to choices based on the creator's personal preferences.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029200" cy="21031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210312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7510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User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95728"/>
            <a:ext cx="4645152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“What does this person need, and in what situation will they use the site?” This is the starting point of UCD.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A site can make sense to its designer and still confuse its visitors.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Persona: who are we designing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4-2 • INFORMATION DESIGN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657600" cy="19202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64008" cy="19202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75104"/>
            <a:ext cx="3273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95728"/>
            <a:ext cx="32735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8FAFC"/>
                </a:solidFill>
                <a:latin typeface="Aptos"/>
              </a:rPr>
              <a:t>A typical user image set up as a concrete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28800"/>
            <a:ext cx="2926080" cy="19202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1828800"/>
            <a:ext cx="64008" cy="192024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975104"/>
            <a:ext cx="2542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Useful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2395728"/>
            <a:ext cx="254203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8FAFC"/>
                </a:solidFill>
                <a:latin typeface="Aptos"/>
              </a:rPr>
              <a:t>Age • occupation • purpose • challenges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828800"/>
            <a:ext cx="3383280" cy="19202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1828800"/>
            <a:ext cx="64008" cy="192024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975104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Why it helps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395728"/>
            <a:ext cx="299923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Keeps the team focused on “what this user needs” and reduces design drift.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CDDAE5"/>
                </a:solidFill>
                <a:latin typeface="Aptos"/>
              </a:rPr>
              <a:t>Example from the textbook: an office worker in their 30s compares products on a smartphone during a commute and needs information quickly.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Wireframe: where does information 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4-2 • INFORMATION DESIGN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6400800" cy="39319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057400"/>
            <a:ext cx="5852160" cy="502920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194560"/>
            <a:ext cx="5577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6ADBF"/>
                </a:solidFill>
                <a:latin typeface="Aptos"/>
              </a:rPr>
              <a:t>LOGO / MENU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743200"/>
            <a:ext cx="2743200" cy="914400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MAIN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743200"/>
            <a:ext cx="2880360" cy="914400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06324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IMPORTANT INFO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886200"/>
            <a:ext cx="5852160" cy="777240"/>
          </a:xfrm>
          <a:prstGeom prst="roundRect">
            <a:avLst/>
          </a:prstGeom>
          <a:solidFill>
            <a:srgbClr val="204662"/>
          </a:solidFill>
          <a:ln w="12700">
            <a:solidFill>
              <a:srgbClr val="20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16052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DETAILS / NEXT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828800"/>
            <a:ext cx="3566160" cy="16002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828800"/>
            <a:ext cx="64008" cy="160020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1975104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395728"/>
            <a:ext cx="318211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A rough blueprint showing placement and priority of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611880"/>
            <a:ext cx="3566160" cy="18288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3611880"/>
            <a:ext cx="64008" cy="182880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3758184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Important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4178808"/>
            <a:ext cx="318211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Make structure decisions before colors and decoration. This keeps discussion focused and helps stakeholders agree.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CRAP: four principles that make a page clearer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4-2 • INFORMATION DESIGN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150876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2029968"/>
            <a:ext cx="731520" cy="731520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8483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E"/>
                </a:solidFill>
                <a:latin typeface="Aptos"/>
              </a:rPr>
              <a:t>Contrast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487168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Highlight priority; make important elements stand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4983480" cy="150876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0528" y="2029968"/>
            <a:ext cx="731520" cy="731520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2128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08483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8E23"/>
                </a:solidFill>
                <a:latin typeface="Aptos"/>
              </a:rPr>
              <a:t>Repetition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487168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Repeat characteristics to create consistency.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4983480" cy="150876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3904487"/>
            <a:ext cx="731520" cy="731520"/>
          </a:xfrm>
          <a:prstGeom prst="round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08736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9593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6999"/>
                </a:solidFill>
                <a:latin typeface="Aptos"/>
              </a:rPr>
              <a:t>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361688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Align elements to create order.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03320"/>
            <a:ext cx="4983480" cy="150876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10528" y="3904487"/>
            <a:ext cx="731520" cy="731520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408736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9593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E"/>
                </a:solidFill>
                <a:latin typeface="Aptos"/>
              </a:rPr>
              <a:t>Proximity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361688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Keep related information close together.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CRAP in real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4-2 • INFORMATION DESIGN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502920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64008" cy="1325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Contrast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50008"/>
            <a:ext cx="464515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Large/bold headings; accent color for important buttons such as “purchase”.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02920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64008" cy="132588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Repetition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50008"/>
            <a:ext cx="464515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Standardize heading color, size and font; keep bullet icons consistent.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37560"/>
            <a:ext cx="502920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337560"/>
            <a:ext cx="64008" cy="132588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48386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904487"/>
            <a:ext cx="464515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Align text and image edges precisely; use a consistent left/center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37560"/>
            <a:ext cx="5029200" cy="1325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337560"/>
            <a:ext cx="64008" cy="1325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48386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Proximity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904487"/>
            <a:ext cx="464515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Group a product image, name and price; use spacing to separate unrelated items.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Memory trick: C = highlight • R = unify • A = order • P = group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User-Centered Design (UCD)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4-2 • INFORMATION DESIGN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UCD designs websites and services from the user's perspective, not the creator's convenience.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Start from what the user needs and in what situation the site will be used.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A persona is one specific way to practise UCD.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Important goals include usability and accessibility.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Usability means how easily users can use the site; accessibility means usable by a wide range of people.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A persona is a typical user image set up as a concrete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True.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A wireframe is a final design including colors and decoration.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False — it is a rough blueprint before decoration.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Proximity means grouping related information close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True.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UCD prioritizes the convenience of the creator.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False — it starts from the user's perspective.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is a persona? What is a wireframe?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Persona = concrete typical user; wireframe = layout blueprint for placement and priority.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are the four CRAP principles?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Contrast, Repetition, Alignment, Proximity.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does UCD stand for and what does it mean?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User-Centered Design; design from the user's perspective.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Which is NOT appropriate persona information? A age/occupation / B purpose / C server performance / D user challenges.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Match: large bold headings; group name/price/photo; align left edges; standardize heading style.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Contrast; Proximity; Alignment; Repetition.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Explain why a designer creates a persona and wireframe before choosing colors and fonts.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To focus on user needs, decide structure and priority first, and make stakeholder agreement easier instead of arguing about appearance.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444752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INVESTIGATE &amp;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Think as an Engineer: A community clinic wants a simple site for opening hours, services and directions.
Survey classmates, include a user such as an elderly person with low vision or someone using a library computer, prioritize homepage blocks from the data, then apply one CRAP principle.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Start from the users and evidence, not personal taste. Choose the CRAP principle that fixes the weakest point for the user.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NEW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New Context: A school wants to redesign a cluttered results page so parents can find their child's grades quickly.
Name a persona, one wireframe decision and one CRAP principle.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Example: parent persona; put grades near the top; use contrast to make the grades stand out.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39446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481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REFLECT •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Reflect: On a confusing website, which CRAP principle seems most broken?
Challenge: If you can fund only one accessibility improvement, choose one CRAP principle and say what decoration/feature you would give 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Choose based on the user's difficulty and explain the trade-off from the user's perspective.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57400"/>
            <a:ext cx="82296" cy="2468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9601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Methods for Evaluating Websites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80360"/>
            <a:ext cx="9144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DDAE5"/>
                </a:solidFill>
                <a:latin typeface="Aptos"/>
              </a:rPr>
              <a:t>Use numbers to see how much; use people to understand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886200"/>
            <a:ext cx="4937760" cy="6858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09651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19E"/>
                </a:solidFill>
                <a:latin typeface="Aptos"/>
              </a:rPr>
              <a:t>TEACH  •  DISCUSS  •  PRACTISE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4-3 • WEBSITE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149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Distinguish qualitative from quantitative evaluation.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Explain major web-analytics indicators: PV, bounce rate and CVR.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Explain heuristic evaluation and why combining methods gives a clearer picture.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The big distinction: WHY vs HOW MUCH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4-3 • WEBSITE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5029200" cy="28346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64008" cy="28346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QUALITATIVE =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50008"/>
            <a:ext cx="464515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Watch users, hear their voices and explore reasons behind behavior.
Techniques: usability testing, interviews, heuristic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029200" cy="28346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64008" cy="283464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QUANTITATIVE = HOW MUCH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50008"/>
            <a:ext cx="464515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Use numerical data to understand the current state objectively.
Techniques: web analytics, A/B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Example: “Many people leave the page.” = number. “Why do they leave?” = user evidence.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Qualitative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4-3 • WEBSITE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24612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64008" cy="21488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75104"/>
            <a:ext cx="2862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Usability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95728"/>
            <a:ext cx="286207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Observe actual users operating the site to find points that are hard to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4612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64008" cy="214884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975104"/>
            <a:ext cx="2862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95728"/>
            <a:ext cx="286207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Hear users' direct voices to understand needs and dissatisfaction.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10896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28800"/>
            <a:ext cx="64008" cy="214884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75104"/>
            <a:ext cx="2724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Heuristic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95728"/>
            <a:ext cx="272491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Experts identify UI problems using rules of thumb.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DDAE5"/>
                </a:solidFill>
                <a:latin typeface="Aptos"/>
              </a:rPr>
              <a:t>Qualitative evaluation explores reasons that cannot be expressed only as numbers.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Quantitative evaluation &amp; web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4-3 • WEBSITE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3246120" cy="242316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64008" cy="242316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883664"/>
            <a:ext cx="2862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PV — Page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04288"/>
            <a:ext cx="2862072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Total number of times a page has been viewed. Helps show exposure and how widely the site is seen.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246120" cy="242316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64008" cy="242316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83664"/>
            <a:ext cx="2862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Bounce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04288"/>
            <a:ext cx="2862072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Share of visits that ended after viewing only the first page. It can indicate whether the content matched expectations or prompted further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108960" cy="242316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64008" cy="242316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883664"/>
            <a:ext cx="2724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CVR — Conversion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2724912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Share of visits that achieved a target action, such as a purchase or registration.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Web analytics = analyzing how a website is accessed using numerical values.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Heuristic evaluation: expert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4-3 • WEBSITE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Experts inspect the website UI using rules of thumb (heuristics).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Consistency: are design and operations unified across the site?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Error prevention: does the design make user mistakes less likely?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Visibility of system status: can users clearly see what the system is doing, such as processing indicators or input-error messages?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It is a qualitative method and can be combined with usability testing and other methods.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combine methods?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4-3 • WEBSITE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108960" cy="22860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68E23"/>
                </a:solidFill>
                <a:latin typeface="Aptos"/>
              </a:rPr>
              <a:t>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8FAFC"/>
                </a:solidFill>
                <a:latin typeface="Aptos"/>
              </a:rPr>
              <a:t>PV / bounce / CVR
show WHAT is happening.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22860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919E"/>
                </a:solidFill>
                <a:latin typeface="Aptos"/>
              </a:rPr>
              <a:t>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432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8FAFC"/>
                </a:solidFill>
                <a:latin typeface="Aptos"/>
              </a:rPr>
              <a:t>Tests / interviews
show WHY it is happening.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108960" cy="22860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76999"/>
                </a:solidFill>
                <a:latin typeface="Aptos"/>
              </a:rPr>
              <a:t>EXPERTS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8FAFC"/>
                </a:solidFill>
                <a:latin typeface="Aptos"/>
              </a:rPr>
              <a:t>Heuristics
find UI problems against rules.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Best picture = combine quantitative evidence, user voices and expert checks.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Qualitative evaluation is mainly numerical.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False — qualitative explores user voices and behavior.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does PV mean?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Page View — total number of times a page has been viewed.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is bounce rate?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The share of visits that ended after viewing only the first page.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is CVR?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Conversion rate — the share of visits that achieved a target action.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is heuristic evaluation?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Experts identify UI problems using rules of thumb.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is the difference between qualitative and quantitative evaluation?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Qualitative explains why; quantitative measures how much.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Which are quantitative methods: usability testing, web analytics, interviews, A/B testing?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Web analytics and A/B testing.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Match: page views; left after first page; achieved target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PV; bounce rate; CVR.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Which method would help explain why a high-bounce page is confusing?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A qualitative method such as usability testing or interviews.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Explain why a website team should use both qualitative and quantitative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Numbers show how much is happening; users' voices and behavior explain why; together they give a clearer picture.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444752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INVESTIGATE &amp;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Think as an Engineer: An online bookstore has high PV but very low CVR.
What might this mean? Which evaluation method should help explain why? What user might raw PV hide?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Many people arrive but few take the target action. Use qualitative testing/interviews to investigate the cause; consider users such as small-screen or first-time visitors.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NEW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New Context: A school website gets many visits, but most people leave after the first page.
Name one quantitative indicator, one qualitative method, and one likely fix.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Bounce rate; usability testing or interviews; then change the page based on the observed cause.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39446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481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REFLECT •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Reflect: If you could see only one metric, would you choose PV, bounce rate or CVR?
Challenge: Design a short qualitative test for a page with high bounce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Choose according to the goal; the test should reveal why users leave and what should change first.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57400"/>
            <a:ext cx="82296" cy="24688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9601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The Iterative Improvement Process for Websites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80360"/>
            <a:ext cx="9144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DDAE5"/>
                </a:solidFill>
                <a:latin typeface="Aptos"/>
              </a:rPr>
              <a:t>Plan → build → measure → learn → repeat.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886200"/>
            <a:ext cx="4937760" cy="6858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09651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19E"/>
                </a:solidFill>
                <a:latin typeface="Aptos"/>
              </a:rPr>
              <a:t>TEACH  •  DISCUSS  •  PRACTISE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4-4 • ITERATIVE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149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Explain PDCA and design thinking as ways to improve a website.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Describe A/B testing with real data.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Explain why improvement is repeated in cycles.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isn't the first version the final version?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4-4 • ITERATIVE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The first version is a best guess, not a perfect final answer.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Real users reveal what works and what does not.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Teams plan, make, measure, learn and repeat.</a:t>
            </a:r>
          </a:p>
          <a:p>
            <a:pPr>
              <a:spcAft>
                <a:spcPts val="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Small, repeated improvements are better than waiting for one perfect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919E"/>
                </a:solidFill>
                <a:latin typeface="Aptos"/>
              </a:rPr>
              <a:t>Iterative = improve by repeating a loop.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PDCA — the four-step improvement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4-4 • ITERATIVE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233172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90472" y="2176272"/>
            <a:ext cx="914400" cy="685800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23774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919E"/>
                </a:solidFill>
                <a:latin typeface="Aptos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Set goals and create a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920240"/>
            <a:ext cx="233172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9392" y="2176272"/>
            <a:ext cx="914400" cy="685800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3774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06324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68E23"/>
                </a:solidFill>
                <a:latin typeface="Aptos"/>
              </a:rPr>
              <a:t>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9300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Execute according to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1920240"/>
            <a:ext cx="233172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68312" y="2176272"/>
            <a:ext cx="914400" cy="685800"/>
          </a:xfrm>
          <a:prstGeom prst="round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23774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06324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76999"/>
                </a:solidFill>
                <a:latin typeface="Aptos"/>
              </a:rP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49300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Measure results and evaluate goal achievement.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3999" y="1920240"/>
            <a:ext cx="2331720" cy="21488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57231" y="2176272"/>
            <a:ext cx="914400" cy="685800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1" y="23774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306324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919E"/>
                </a:solidFill>
                <a:latin typeface="Aptos"/>
              </a:rP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349300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Decide the next improvement from the evaluation.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70916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Then repeat the cycle.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PDCA example: reduce bounce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4-4 • ITERATIVE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5029200" cy="11430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64008" cy="114300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50008"/>
            <a:ext cx="464515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Goal: reduce bounce rate by 10%. Plan a homepage redesign.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029200" cy="114300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64008" cy="114300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50008"/>
            <a:ext cx="464515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Change the homepage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15468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154680"/>
            <a:ext cx="64008" cy="123444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3009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2160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Measure the bounce rate after the change and evaluate the goal.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5468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154680"/>
            <a:ext cx="64008" cy="12344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009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72160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If the effect is enough, continue. If not, revise headings, image placement or another element.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The important point is repetition — not completion after one round.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Design thinking — solve from the user's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4-4 • ITERATIVE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011680" cy="25603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4440" y="2057400"/>
            <a:ext cx="731520" cy="502920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1284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919E"/>
                </a:solidFill>
                <a:latin typeface="Aptos"/>
              </a:rPr>
              <a:t>Empathize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Understand the user's challenges and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828800"/>
            <a:ext cx="2011680" cy="25603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2057400"/>
            <a:ext cx="731520" cy="502920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1284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743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68E23"/>
                </a:solidFill>
                <a:latin typeface="Aptos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33756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Clarify the problem to be solved.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1828800"/>
            <a:ext cx="2011680" cy="25603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43016" y="2057400"/>
            <a:ext cx="731520" cy="502920"/>
          </a:xfrm>
          <a:prstGeom prst="round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3016" y="221284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743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76999"/>
                </a:solidFill>
                <a:latin typeface="Aptos"/>
              </a:rPr>
              <a:t>Ideate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333756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Generate many ideas.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1828800"/>
            <a:ext cx="2011680" cy="25603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47304" y="2057400"/>
            <a:ext cx="731520" cy="502920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304" y="221284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2743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919E"/>
                </a:solidFill>
                <a:latin typeface="Aptos"/>
              </a:rPr>
              <a:t>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333756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Quickly create a testable prototype.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1512" y="1828800"/>
            <a:ext cx="2011680" cy="25603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51592" y="2057400"/>
            <a:ext cx="731520" cy="502920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51592" y="221284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2743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68E23"/>
                </a:solidFill>
                <a:latin typeface="Aptos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333756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Let users try it and collect feedback.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92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DDAE5"/>
                </a:solidFill>
                <a:latin typeface="Aptos"/>
              </a:rPr>
              <a:t>After testing, the team may go back to Empathize or Define — the process can move back and forth.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A/B testing — compare two choices with real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4-4 • ITERATIVE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4389120" cy="2468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919E"/>
                </a:solidFill>
                <a:latin typeface="Aptos"/>
              </a:rPr>
              <a:t>OPTION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743200"/>
            <a:ext cx="2560320" cy="685800"/>
          </a:xfrm>
          <a:prstGeom prst="round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9443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Aptos"/>
              </a:rPr>
              <a:t>Show to real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4389120" cy="246888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68E23"/>
                </a:solidFill>
                <a:latin typeface="Aptos"/>
              </a:rPr>
              <a:t>OPTION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743200"/>
            <a:ext cx="2560320" cy="685800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9443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Aptos"/>
              </a:rPr>
              <a:t>Show to real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Compare real data to determine which option is more effective.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8523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DDAE5"/>
                </a:solidFill>
                <a:latin typeface="Aptos"/>
              </a:rPr>
              <a:t>Important: change only ONE element at a time, and collect sufficient data before deciding.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PDCA repeats Plan → Do → Check → 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True.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Design thinking solves problems from the developer's perspective.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False — it works from the user's perspective.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A/B testing should change only one element at a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True.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True or false: PDCA is complete after one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False — it is meaningful when repeated.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is PDCA?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Plan → Do → Check → Act, repeated.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Name the five design-thinking steps in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Empathize → Define → Ideate → Prototype → Test.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What is A/B testing?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Prepare two options, show them to actual users, and compare data to see which is more effective.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Which PDCA step measures the bounce rate after a change?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Check.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Which is NOT appropriate A/B testing? A two patterns / B change multiple elements at once / C enough data / D actual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B.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PRACTISE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Why should a website team improve through repeated PDCA cycles?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The first version is a best guess; measuring results and acting on evidence allows gradual improvement.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444752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INVESTIGATE &amp;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Think as an Engineer: Your school club has a web page for its yearly event, but few students sign up.
Run one measured PDCA loop: collect a starting number, plan one change, do it, check again, and decide the next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Start with a measurable obstacle and fix one major problem. Use the result to decide the next cycle.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4300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9966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NEW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New Context: An online shop finds that its “buy” button is rarely clicked.
Describe one A/B test and one PDCA loop, and name the number that would tell you the change worked.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Change only one element in the A/B test; use a target-action measure such as conversion/click result to judge the effect.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Let's check your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TEXTBOOK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394460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2481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REFLECT •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10332720" cy="347472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94560"/>
            <a:ext cx="96926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Reflect: Think of a website you use often. What one small change might help most, and how would you measure whether it worked?
Challenge: Choose one element for an A/B test and predict which option will win.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19" y="4663440"/>
            <a:ext cx="9692640" cy="47548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10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764024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DDAE5"/>
                </a:solidFill>
                <a:latin typeface="Aptos"/>
              </a:rPr>
              <a:t>Answer / expected idea: Choose a measurable change and state the number that would support or reject your prediction.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The whole chapter in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CHAPTER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64008" cy="12344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4-1  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5000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Purpose + audience → choose the medium. No medium is best for everything.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64008" cy="1234440"/>
          </a:xfrm>
          <a:prstGeom prst="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938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8E23"/>
                </a:solidFill>
                <a:latin typeface="Aptos"/>
              </a:rPr>
              <a:t>4-2 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5000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User → persona → wireframe → CRAP → UCD.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4612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246120"/>
            <a:ext cx="64008" cy="1234440"/>
          </a:xfrm>
          <a:prstGeom prst="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3924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6999"/>
                </a:solidFill>
                <a:latin typeface="Aptos"/>
              </a:rPr>
              <a:t>4-3 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81304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Quantitative = how much. Qualitative = why. Combine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46120"/>
            <a:ext cx="5029200" cy="1234440"/>
          </a:xfrm>
          <a:prstGeom prst="roundRect">
            <a:avLst/>
          </a:prstGeom>
          <a:solidFill>
            <a:srgbClr val="1B3D57"/>
          </a:solidFill>
          <a:ln w="1270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64008" cy="123444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92424"/>
            <a:ext cx="4645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E"/>
                </a:solidFill>
                <a:latin typeface="Aptos"/>
              </a:rPr>
              <a:t>4-4  IMPROVE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813048"/>
            <a:ext cx="46451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PDCA + design thinking + A/B testing → repeated improvement.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8FAFC"/>
                </a:solidFill>
                <a:latin typeface="Aptos"/>
              </a:rPr>
              <a:t>Choose → Design → Evaluate → Improve → repeat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Design a better school event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FINAL CLASSROOM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93292" cy="384048"/>
          </a:xfrm>
          <a:prstGeom prst="roundRect">
            <a:avLst/>
          </a:prstGeom>
          <a:solidFill>
            <a:srgbClr val="F68E23"/>
          </a:solidFill>
          <a:ln w="12700">
            <a:solidFill>
              <a:srgbClr val="F6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04698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CLASS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1. Choose the best media mix for announcing the event and explain why.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2. Create one persona for a student or parent.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3. Sketch a simple wireframe and label the priority information.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4. Apply at least two CRAP principles.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5. Choose one quantitative indicator and one qualitative method.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6. Propose one PDCA improvement and one A/B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919E"/>
                </a:solidFill>
                <a:latin typeface="Aptos"/>
              </a:rPr>
              <a:t>Goal: show the complete workflow — choose → design → evaluate → improve.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E"/>
                </a:solidFill>
                <a:latin typeface="Aptos"/>
              </a:rPr>
              <a:t>CHAPTER 4 • WEB &amp; MEDIA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How to teach each lesson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" cy="4526280"/>
          </a:xfrm>
          <a:prstGeom prst="rect">
            <a:avLst/>
          </a:prstGeom>
          <a:solidFill>
            <a:srgbClr val="00919E"/>
          </a:solidFill>
          <a:ln w="12700">
            <a:solidFill>
              <a:srgbClr val="0091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6ADBF"/>
                </a:solidFill>
                <a:latin typeface="Aptos"/>
              </a:rPr>
              <a:t>TEACHER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08176"/>
            <a:ext cx="1193292" cy="384048"/>
          </a:xfrm>
          <a:prstGeom prst="roundRect">
            <a:avLst/>
          </a:prstGeom>
          <a:solidFill>
            <a:srgbClr val="276999"/>
          </a:solidFill>
          <a:ln w="12700">
            <a:solidFill>
              <a:srgbClr val="27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4272" y="1481328"/>
            <a:ext cx="104698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TEACHER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DBF"/>
                </a:solidFill>
                <a:latin typeface="Aptos"/>
              </a:rPr>
              <a:t>Programming and Artificial Intelligence • Part One • Chapter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6ADBF"/>
                </a:solidFill>
                <a:latin typeface="Aptos"/>
              </a:rP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1. Teach the concept slides first — do not start with the questions.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2. Use the “Teacher question” / “Pause &amp; Think” moments for short discussion.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3. Show the worked examples after students understand the definitions.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4. Use the PRACTISE slides to check recall and application.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5. Finish with Think as an Engineer / New Context to apply the idea to a new situation.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6. Use the final revision slide for exam preparation.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The deck is intentionally teaching-first: explanation → example → question →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